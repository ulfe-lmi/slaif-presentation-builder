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22"/>
  </p:notesMasterIdLst>
  <p:sldIdLst>
    <p:sldId id="256" r:id="rId3"/>
    <p:sldId id="257" r:id="rId4"/>
    <p:sldId id="258" r:id="rId5"/>
    <p:sldId id="259" r:id="rId6"/>
    <p:sldId id="260" r:id="rId7"/>
    <p:sldId id="261" r:id="rId8"/>
    <p:sldId id="262" r:id="rId9"/>
    <p:sldId id="272" r:id="rId10"/>
    <p:sldId id="275" r:id="rId11"/>
    <p:sldId id="263" r:id="rId12"/>
    <p:sldId id="264" r:id="rId13"/>
    <p:sldId id="265" r:id="rId14"/>
    <p:sldId id="266" r:id="rId15"/>
    <p:sldId id="267" r:id="rId16"/>
    <p:sldId id="268" r:id="rId17"/>
    <p:sldId id="269" r:id="rId18"/>
    <p:sldId id="270" r:id="rId19"/>
    <p:sldId id="271" r:id="rId20"/>
    <p:sldId id="274" r:id="rId21"/>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95" autoAdjust="0"/>
    <p:restoredTop sz="94694"/>
  </p:normalViewPr>
  <p:slideViewPr>
    <p:cSldViewPr snapToGrid="0">
      <p:cViewPr varScale="1">
        <p:scale>
          <a:sx n="92" d="100"/>
          <a:sy n="92" d="100"/>
        </p:scale>
        <p:origin x="106" y="2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92247521"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98234212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3875E57-3F67-4927-B446-A9C9AC570E84}" type="datetimeFigureOut">
              <a:rPr lang="en-US"/>
              <a:t>4/22/2026</a:t>
            </a:fld>
            <a:endParaRPr lang="en-US"/>
          </a:p>
        </p:txBody>
      </p:sp>
      <p:sp>
        <p:nvSpPr>
          <p:cNvPr id="67312520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12764608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0251524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06582837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A2DE2C83-CD86-4B25-9753-3ED21E3A3781}"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pic>
        <p:nvPicPr>
          <p:cNvPr id="1134914030" name="Picture 8"/>
          <p:cNvPicPr>
            <a:picLocks noChangeAspect="1"/>
          </p:cNvPicPr>
          <p:nvPr userDrawn="1"/>
        </p:nvPicPr>
        <p:blipFill rotWithShape="1">
          <a:blip r:embed="rId2"/>
          <a:srcRect r="6512"/>
          <a:stretch/>
        </p:blipFill>
        <p:spPr bwMode="auto">
          <a:xfrm>
            <a:off x="0" y="106237"/>
            <a:ext cx="12191999" cy="6190866"/>
          </a:xfrm>
          <a:prstGeom prst="rect">
            <a:avLst/>
          </a:prstGeom>
        </p:spPr>
      </p:pic>
      <p:sp>
        <p:nvSpPr>
          <p:cNvPr id="2015908710" name="Rectangle 9"/>
          <p:cNvSpPr/>
          <p:nvPr userDrawn="1"/>
        </p:nvSpPr>
        <p:spPr bwMode="auto">
          <a:xfrm>
            <a:off x="0" y="106237"/>
            <a:ext cx="12191999" cy="6190866"/>
          </a:xfrm>
          <a:prstGeom prst="rect">
            <a:avLst/>
          </a:prstGeom>
          <a:solidFill>
            <a:schemeClr val="bg2">
              <a:lumMod val="1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1464996116" name="Picture 11"/>
          <p:cNvPicPr>
            <a:picLocks noChangeAspect="1"/>
          </p:cNvPicPr>
          <p:nvPr userDrawn="1"/>
        </p:nvPicPr>
        <p:blipFill rotWithShape="1">
          <a:blip r:embed="rId3"/>
          <a:stretch/>
        </p:blipFill>
        <p:spPr bwMode="auto">
          <a:xfrm>
            <a:off x="563490" y="1550992"/>
            <a:ext cx="3718143" cy="2791182"/>
          </a:xfrm>
          <a:prstGeom prst="rect">
            <a:avLst/>
          </a:prstGeom>
        </p:spPr>
      </p:pic>
      <p:pic>
        <p:nvPicPr>
          <p:cNvPr id="2021704838" name="Picture 10"/>
          <p:cNvPicPr>
            <a:picLocks noChangeAspect="1"/>
          </p:cNvPicPr>
          <p:nvPr userDrawn="1"/>
        </p:nvPicPr>
        <p:blipFill rotWithShape="1">
          <a:blip r:embed="rId4"/>
          <a:stretch/>
        </p:blipFill>
        <p:spPr bwMode="auto">
          <a:xfrm>
            <a:off x="0" y="0"/>
            <a:ext cx="12191999" cy="6858000"/>
          </a:xfrm>
          <a:prstGeom prst="rect">
            <a:avLst/>
          </a:prstGeom>
        </p:spPr>
      </p:pic>
      <p:sp>
        <p:nvSpPr>
          <p:cNvPr id="1456029112" name="Title 1"/>
          <p:cNvSpPr>
            <a:spLocks noGrp="1"/>
          </p:cNvSpPr>
          <p:nvPr>
            <p:ph type="ctrTitle"/>
          </p:nvPr>
        </p:nvSpPr>
        <p:spPr bwMode="auto">
          <a:xfrm>
            <a:off x="4845125" y="1752783"/>
            <a:ext cx="6508674" cy="2387599"/>
          </a:xfrm>
        </p:spPr>
        <p:txBody>
          <a:bodyPr anchor="t">
            <a:normAutofit/>
          </a:bodyPr>
          <a:lstStyle>
            <a:lvl1pPr algn="l">
              <a:defRPr sz="4000">
                <a:solidFill>
                  <a:schemeClr val="bg1"/>
                </a:solidFill>
              </a:defRPr>
            </a:lvl1pPr>
          </a:lstStyle>
          <a:p>
            <a:pPr>
              <a:defRPr/>
            </a:pPr>
            <a:r>
              <a:rPr lang="en-US"/>
              <a:t>Click to edit Master title style</a:t>
            </a:r>
            <a:endParaRPr/>
          </a:p>
        </p:txBody>
      </p:sp>
      <p:sp>
        <p:nvSpPr>
          <p:cNvPr id="2046130104" name="Subtitle 2"/>
          <p:cNvSpPr>
            <a:spLocks noGrp="1"/>
          </p:cNvSpPr>
          <p:nvPr>
            <p:ph type="subTitle" idx="1"/>
          </p:nvPr>
        </p:nvSpPr>
        <p:spPr bwMode="auto">
          <a:xfrm>
            <a:off x="4845125" y="3602037"/>
            <a:ext cx="6508674" cy="1655761"/>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17830335" name="Date Placeholder 3"/>
          <p:cNvSpPr>
            <a:spLocks noGrp="1"/>
          </p:cNvSpPr>
          <p:nvPr>
            <p:ph type="dt" sz="half" idx="10"/>
          </p:nvPr>
        </p:nvSpPr>
        <p:spPr bwMode="auto"/>
        <p:txBody>
          <a:bodyPr/>
          <a:lstStyle>
            <a:lvl1pPr>
              <a:defRPr>
                <a:solidFill>
                  <a:schemeClr val="bg1"/>
                </a:solidFill>
              </a:defRPr>
            </a:lvl1pPr>
          </a:lstStyle>
          <a:p>
            <a:pPr>
              <a:defRPr/>
            </a:pPr>
            <a:fld id="{DAE61978-EFBB-0745-49FE-03DC7A0FE9BD}" type="datetime1">
              <a:rPr lang="en-US"/>
              <a:t>4/22/2026</a:t>
            </a:fld>
            <a:endParaRPr lang="en-US"/>
          </a:p>
        </p:txBody>
      </p:sp>
      <p:sp>
        <p:nvSpPr>
          <p:cNvPr id="688372628" name="Footer Placeholder 4"/>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1444256817" name="Slide Number Placeholder 5"/>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Section Header">
    <p:spTree>
      <p:nvGrpSpPr>
        <p:cNvPr id="1" name=""/>
        <p:cNvGrpSpPr/>
        <p:nvPr/>
      </p:nvGrpSpPr>
      <p:grpSpPr bwMode="auto">
        <a:xfrm>
          <a:off x="0" y="0"/>
          <a:ext cx="0" cy="0"/>
          <a:chOff x="0" y="0"/>
          <a:chExt cx="0" cy="0"/>
        </a:xfrm>
      </p:grpSpPr>
      <p:pic>
        <p:nvPicPr>
          <p:cNvPr id="1410415826" name="Picture 6"/>
          <p:cNvPicPr>
            <a:picLocks noChangeAspect="1"/>
          </p:cNvPicPr>
          <p:nvPr userDrawn="1"/>
        </p:nvPicPr>
        <p:blipFill rotWithShape="1">
          <a:blip r:embed="rId2"/>
          <a:stretch/>
        </p:blipFill>
        <p:spPr bwMode="auto">
          <a:xfrm>
            <a:off x="0" y="0"/>
            <a:ext cx="12191999" cy="6858000"/>
          </a:xfrm>
          <a:prstGeom prst="rect">
            <a:avLst/>
          </a:prstGeom>
        </p:spPr>
      </p:pic>
      <p:sp>
        <p:nvSpPr>
          <p:cNvPr id="1676148469" name="Date Placeholder 3"/>
          <p:cNvSpPr>
            <a:spLocks noGrp="1"/>
          </p:cNvSpPr>
          <p:nvPr>
            <p:ph type="dt" sz="half" idx="10"/>
          </p:nvPr>
        </p:nvSpPr>
        <p:spPr bwMode="auto"/>
        <p:txBody>
          <a:bodyPr/>
          <a:lstStyle>
            <a:lvl1pPr>
              <a:defRPr>
                <a:solidFill>
                  <a:schemeClr val="bg1"/>
                </a:solidFill>
              </a:defRPr>
            </a:lvl1pPr>
          </a:lstStyle>
          <a:p>
            <a:pPr>
              <a:defRPr/>
            </a:pPr>
            <a:fld id="{2B2CD58B-392C-4A13-1B6A-D20FE658F366}" type="datetime1">
              <a:rPr lang="en-US"/>
              <a:t>4/22/2026</a:t>
            </a:fld>
            <a:endParaRPr lang="en-US"/>
          </a:p>
        </p:txBody>
      </p:sp>
      <p:sp>
        <p:nvSpPr>
          <p:cNvPr id="381245310" name="Footer Placeholder 4"/>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622724888" name="Slide Number Placeholder 5"/>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sp>
        <p:nvSpPr>
          <p:cNvPr id="357719765" name="Subtitle 2"/>
          <p:cNvSpPr>
            <a:spLocks noGrp="1"/>
          </p:cNvSpPr>
          <p:nvPr>
            <p:ph type="subTitle" idx="13"/>
          </p:nvPr>
        </p:nvSpPr>
        <p:spPr bwMode="auto">
          <a:xfrm>
            <a:off x="4845125" y="3602037"/>
            <a:ext cx="6508674" cy="1655761"/>
          </a:xfrm>
        </p:spPr>
        <p:txBody>
          <a:bodyPr>
            <a:normAutofit/>
          </a:bodyPr>
          <a:lstStyle>
            <a:lvl1pPr marL="0" indent="0" algn="l">
              <a:buNone/>
              <a:defRPr sz="2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pic>
        <p:nvPicPr>
          <p:cNvPr id="926791351" name="Picture 9"/>
          <p:cNvPicPr>
            <a:picLocks noChangeAspect="1"/>
          </p:cNvPicPr>
          <p:nvPr userDrawn="1"/>
        </p:nvPicPr>
        <p:blipFill rotWithShape="1">
          <a:blip r:embed="rId3"/>
          <a:stretch/>
        </p:blipFill>
        <p:spPr bwMode="auto">
          <a:xfrm>
            <a:off x="563491" y="1550991"/>
            <a:ext cx="3718143" cy="2791182"/>
          </a:xfrm>
          <a:prstGeom prst="rect">
            <a:avLst/>
          </a:prstGeom>
        </p:spPr>
      </p:pic>
      <p:sp>
        <p:nvSpPr>
          <p:cNvPr id="936072197" name="Title 1"/>
          <p:cNvSpPr>
            <a:spLocks noGrp="1"/>
          </p:cNvSpPr>
          <p:nvPr>
            <p:ph type="title"/>
          </p:nvPr>
        </p:nvSpPr>
        <p:spPr bwMode="auto">
          <a:xfrm>
            <a:off x="4845125" y="1773237"/>
            <a:ext cx="6508674" cy="1828800"/>
          </a:xfrm>
        </p:spPr>
        <p:txBody>
          <a:bodyPr anchor="t">
            <a:normAutofit/>
          </a:bodyPr>
          <a:lstStyle>
            <a:lvl1pPr>
              <a:defRPr sz="4000"/>
            </a:lvl1pPr>
          </a:lstStyle>
          <a:p>
            <a:pPr>
              <a:defRPr/>
            </a:pPr>
            <a:r>
              <a:rPr lang="en-US"/>
              <a:t>Click to edit Master title style</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Title and Content">
    <p:spTree>
      <p:nvGrpSpPr>
        <p:cNvPr id="1" name=""/>
        <p:cNvGrpSpPr/>
        <p:nvPr/>
      </p:nvGrpSpPr>
      <p:grpSpPr bwMode="auto">
        <a:xfrm>
          <a:off x="0" y="0"/>
          <a:ext cx="0" cy="0"/>
          <a:chOff x="0" y="0"/>
          <a:chExt cx="0" cy="0"/>
        </a:xfrm>
      </p:grpSpPr>
      <p:pic>
        <p:nvPicPr>
          <p:cNvPr id="1370207719" name="Picture 6"/>
          <p:cNvPicPr>
            <a:picLocks noChangeAspect="1"/>
          </p:cNvPicPr>
          <p:nvPr userDrawn="1"/>
        </p:nvPicPr>
        <p:blipFill rotWithShape="1">
          <a:blip r:embed="rId2"/>
          <a:stretch/>
        </p:blipFill>
        <p:spPr bwMode="auto">
          <a:xfrm>
            <a:off x="0" y="0"/>
            <a:ext cx="12191999" cy="6858000"/>
          </a:xfrm>
          <a:prstGeom prst="rect">
            <a:avLst/>
          </a:prstGeom>
        </p:spPr>
      </p:pic>
      <p:sp>
        <p:nvSpPr>
          <p:cNvPr id="748199462" name="Content Placeholder 2"/>
          <p:cNvSpPr>
            <a:spLocks noGrp="1"/>
          </p:cNvSpPr>
          <p:nvPr>
            <p:ph idx="1"/>
          </p:nvPr>
        </p:nvSpPr>
        <p:spPr bwMode="auto">
          <a:xfrm>
            <a:off x="838198" y="1511989"/>
            <a:ext cx="10515600" cy="4351338"/>
          </a:xfrm>
        </p:spPr>
        <p:txBody>
          <a:bodyPr>
            <a:noAutofit/>
          </a:bodyPr>
          <a:lstStyle>
            <a:lvl1pPr>
              <a:buClr>
                <a:schemeClr val="accent1"/>
              </a:buClr>
              <a:defRPr sz="1600"/>
            </a:lvl1pPr>
            <a:lvl2pPr>
              <a:buClr>
                <a:schemeClr val="accent1"/>
              </a:buClr>
              <a:defRPr sz="1600"/>
            </a:lvl2pPr>
            <a:lvl3pPr>
              <a:buClr>
                <a:schemeClr val="accent1"/>
              </a:buClr>
              <a:defRPr sz="1600"/>
            </a:lvl3pPr>
            <a:lvl4pPr>
              <a:buClr>
                <a:schemeClr val="accent1"/>
              </a:buClr>
              <a:defRPr sz="1600"/>
            </a:lvl4pPr>
            <a:lvl5pPr>
              <a:buClr>
                <a:schemeClr val="accent1"/>
              </a:buClr>
              <a:defRPr sz="16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73197065" name="Date Placeholder 3"/>
          <p:cNvSpPr>
            <a:spLocks noGrp="1"/>
          </p:cNvSpPr>
          <p:nvPr>
            <p:ph type="dt" sz="half" idx="10"/>
          </p:nvPr>
        </p:nvSpPr>
        <p:spPr bwMode="auto"/>
        <p:txBody>
          <a:bodyPr/>
          <a:lstStyle>
            <a:lvl1pPr>
              <a:defRPr>
                <a:solidFill>
                  <a:schemeClr val="bg1"/>
                </a:solidFill>
              </a:defRPr>
            </a:lvl1pPr>
          </a:lstStyle>
          <a:p>
            <a:pPr>
              <a:defRPr/>
            </a:pPr>
            <a:fld id="{9C8A5D87-394E-E16E-EF59-03C978850F9A}" type="datetime1">
              <a:rPr lang="en-US"/>
              <a:t>4/22/2026</a:t>
            </a:fld>
            <a:endParaRPr lang="en-US"/>
          </a:p>
        </p:txBody>
      </p:sp>
      <p:sp>
        <p:nvSpPr>
          <p:cNvPr id="1833688582" name="Footer Placeholder 4"/>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153882163" name="Slide Number Placeholder 5"/>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pic>
        <p:nvPicPr>
          <p:cNvPr id="183901765" name="Picture 7"/>
          <p:cNvPicPr>
            <a:picLocks noChangeAspect="1"/>
          </p:cNvPicPr>
          <p:nvPr userDrawn="1"/>
        </p:nvPicPr>
        <p:blipFill rotWithShape="1">
          <a:blip r:embed="rId3"/>
          <a:stretch/>
        </p:blipFill>
        <p:spPr bwMode="auto">
          <a:xfrm>
            <a:off x="11633859" y="225631"/>
            <a:ext cx="473212" cy="654254"/>
          </a:xfrm>
          <a:prstGeom prst="rect">
            <a:avLst/>
          </a:prstGeom>
        </p:spPr>
      </p:pic>
      <p:sp>
        <p:nvSpPr>
          <p:cNvPr id="770859115" name="Title 1"/>
          <p:cNvSpPr>
            <a:spLocks noGrp="1"/>
          </p:cNvSpPr>
          <p:nvPr>
            <p:ph type="title"/>
          </p:nvPr>
        </p:nvSpPr>
        <p:spPr bwMode="auto">
          <a:xfrm>
            <a:off x="838198" y="556963"/>
            <a:ext cx="10515600" cy="756146"/>
          </a:xfrm>
        </p:spPr>
        <p:txBody>
          <a:bodyPr anchor="b">
            <a:normAutofit/>
          </a:bodyPr>
          <a:lstStyle>
            <a:lvl1pPr>
              <a:defRPr sz="3200"/>
            </a:lvl1pPr>
          </a:lstStyle>
          <a:p>
            <a:pPr>
              <a:defRPr/>
            </a:pPr>
            <a:r>
              <a:rPr lang="en-US"/>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pic>
        <p:nvPicPr>
          <p:cNvPr id="402962137" name="Picture 7"/>
          <p:cNvPicPr>
            <a:picLocks noChangeAspect="1"/>
          </p:cNvPicPr>
          <p:nvPr userDrawn="1"/>
        </p:nvPicPr>
        <p:blipFill rotWithShape="1">
          <a:blip r:embed="rId2"/>
          <a:stretch/>
        </p:blipFill>
        <p:spPr bwMode="auto">
          <a:xfrm>
            <a:off x="0" y="0"/>
            <a:ext cx="12191999" cy="6858000"/>
          </a:xfrm>
          <a:prstGeom prst="rect">
            <a:avLst/>
          </a:prstGeom>
        </p:spPr>
      </p:pic>
      <p:sp>
        <p:nvSpPr>
          <p:cNvPr id="1338574570" name="Title 1"/>
          <p:cNvSpPr>
            <a:spLocks noGrp="1"/>
          </p:cNvSpPr>
          <p:nvPr>
            <p:ph type="title"/>
          </p:nvPr>
        </p:nvSpPr>
        <p:spPr bwMode="auto">
          <a:xfrm>
            <a:off x="838198" y="556963"/>
            <a:ext cx="10515600" cy="756146"/>
          </a:xfrm>
        </p:spPr>
        <p:txBody>
          <a:bodyPr anchor="b">
            <a:normAutofit/>
          </a:bodyPr>
          <a:lstStyle>
            <a:lvl1pPr>
              <a:defRPr sz="3200"/>
            </a:lvl1pPr>
          </a:lstStyle>
          <a:p>
            <a:pPr>
              <a:defRPr/>
            </a:pPr>
            <a:r>
              <a:rPr lang="en-US"/>
              <a:t>Click to edit Master title style</a:t>
            </a:r>
            <a:endParaRPr/>
          </a:p>
        </p:txBody>
      </p:sp>
      <p:sp>
        <p:nvSpPr>
          <p:cNvPr id="1066959918" name="Content Placeholder 2"/>
          <p:cNvSpPr>
            <a:spLocks noGrp="1"/>
          </p:cNvSpPr>
          <p:nvPr>
            <p:ph sz="half" idx="1"/>
          </p:nvPr>
        </p:nvSpPr>
        <p:spPr bwMode="auto">
          <a:xfrm>
            <a:off x="838198" y="1448047"/>
            <a:ext cx="5181599" cy="4698975"/>
          </a:xfrm>
        </p:spPr>
        <p:txBody>
          <a:bodyPr>
            <a:normAutofit/>
          </a:bodyPr>
          <a:lstStyle>
            <a:lvl1pPr>
              <a:buClr>
                <a:schemeClr val="accent1"/>
              </a:buClr>
              <a:defRPr sz="1600"/>
            </a:lvl1pPr>
            <a:lvl2pPr>
              <a:buClr>
                <a:schemeClr val="accent1"/>
              </a:buClr>
              <a:defRPr sz="1600"/>
            </a:lvl2pPr>
            <a:lvl3pPr>
              <a:buClr>
                <a:schemeClr val="accent1"/>
              </a:buClr>
              <a:defRPr sz="1600"/>
            </a:lvl3pPr>
            <a:lvl4pPr>
              <a:buClr>
                <a:schemeClr val="accent1"/>
              </a:buClr>
              <a:defRPr sz="1600"/>
            </a:lvl4pPr>
            <a:lvl5pPr>
              <a:buClr>
                <a:schemeClr val="accent1"/>
              </a:buClr>
              <a:defRPr sz="16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8002834" name="Content Placeholder 3"/>
          <p:cNvSpPr>
            <a:spLocks noGrp="1"/>
          </p:cNvSpPr>
          <p:nvPr>
            <p:ph sz="half" idx="2"/>
          </p:nvPr>
        </p:nvSpPr>
        <p:spPr bwMode="auto">
          <a:xfrm>
            <a:off x="6172200" y="1448047"/>
            <a:ext cx="5181599" cy="4698975"/>
          </a:xfrm>
        </p:spPr>
        <p:txBody>
          <a:bodyPr>
            <a:normAutofit/>
          </a:bodyPr>
          <a:lstStyle>
            <a:lvl1pPr>
              <a:buClr>
                <a:schemeClr val="accent1"/>
              </a:buClr>
              <a:defRPr sz="1600"/>
            </a:lvl1pPr>
            <a:lvl2pPr>
              <a:buClr>
                <a:schemeClr val="accent1"/>
              </a:buClr>
              <a:defRPr sz="1600"/>
            </a:lvl2pPr>
            <a:lvl3pPr>
              <a:buClr>
                <a:schemeClr val="accent1"/>
              </a:buClr>
              <a:defRPr sz="1600"/>
            </a:lvl3pPr>
            <a:lvl4pPr>
              <a:buClr>
                <a:schemeClr val="accent1"/>
              </a:buClr>
              <a:defRPr sz="1600"/>
            </a:lvl4pPr>
            <a:lvl5pPr>
              <a:buClr>
                <a:schemeClr val="accent1"/>
              </a:buClr>
              <a:defRPr sz="16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12441027" name="Date Placeholder 4"/>
          <p:cNvSpPr>
            <a:spLocks noGrp="1"/>
          </p:cNvSpPr>
          <p:nvPr>
            <p:ph type="dt" sz="half" idx="10"/>
          </p:nvPr>
        </p:nvSpPr>
        <p:spPr bwMode="auto"/>
        <p:txBody>
          <a:bodyPr/>
          <a:lstStyle>
            <a:lvl1pPr>
              <a:defRPr>
                <a:solidFill>
                  <a:schemeClr val="bg1"/>
                </a:solidFill>
              </a:defRPr>
            </a:lvl1pPr>
          </a:lstStyle>
          <a:p>
            <a:pPr>
              <a:defRPr/>
            </a:pPr>
            <a:fld id="{83114D5A-F34A-7C89-61F9-3E913B98D00B}" type="datetime1">
              <a:rPr lang="en-US"/>
              <a:t>4/22/2026</a:t>
            </a:fld>
            <a:endParaRPr lang="en-US"/>
          </a:p>
        </p:txBody>
      </p:sp>
      <p:sp>
        <p:nvSpPr>
          <p:cNvPr id="545358885" name="Footer Placeholder 5"/>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83898662" name="Slide Number Placeholder 6"/>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pic>
        <p:nvPicPr>
          <p:cNvPr id="893950115" name="Picture 8"/>
          <p:cNvPicPr>
            <a:picLocks noChangeAspect="1"/>
          </p:cNvPicPr>
          <p:nvPr userDrawn="1"/>
        </p:nvPicPr>
        <p:blipFill rotWithShape="1">
          <a:blip r:embed="rId3"/>
          <a:stretch/>
        </p:blipFill>
        <p:spPr bwMode="auto">
          <a:xfrm>
            <a:off x="11633859" y="225631"/>
            <a:ext cx="473212" cy="65425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Comparison">
    <p:spTree>
      <p:nvGrpSpPr>
        <p:cNvPr id="1" name=""/>
        <p:cNvGrpSpPr/>
        <p:nvPr/>
      </p:nvGrpSpPr>
      <p:grpSpPr bwMode="auto">
        <a:xfrm>
          <a:off x="0" y="0"/>
          <a:ext cx="0" cy="0"/>
          <a:chOff x="0" y="0"/>
          <a:chExt cx="0" cy="0"/>
        </a:xfrm>
      </p:grpSpPr>
      <p:pic>
        <p:nvPicPr>
          <p:cNvPr id="696196644" name="Picture 9"/>
          <p:cNvPicPr>
            <a:picLocks noChangeAspect="1"/>
          </p:cNvPicPr>
          <p:nvPr userDrawn="1"/>
        </p:nvPicPr>
        <p:blipFill rotWithShape="1">
          <a:blip r:embed="rId2"/>
          <a:stretch/>
        </p:blipFill>
        <p:spPr bwMode="auto">
          <a:xfrm>
            <a:off x="0" y="0"/>
            <a:ext cx="12191999" cy="6858000"/>
          </a:xfrm>
          <a:prstGeom prst="rect">
            <a:avLst/>
          </a:prstGeom>
        </p:spPr>
      </p:pic>
      <p:sp>
        <p:nvSpPr>
          <p:cNvPr id="1891322827" name="Text Placeholder 2"/>
          <p:cNvSpPr>
            <a:spLocks noGrp="1"/>
          </p:cNvSpPr>
          <p:nvPr>
            <p:ph type="body" idx="1"/>
          </p:nvPr>
        </p:nvSpPr>
        <p:spPr bwMode="auto">
          <a:xfrm>
            <a:off x="839787" y="1448047"/>
            <a:ext cx="5157785" cy="823911"/>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4396965" name="Text Placeholder 4"/>
          <p:cNvSpPr>
            <a:spLocks noGrp="1"/>
          </p:cNvSpPr>
          <p:nvPr>
            <p:ph type="body" sz="quarter" idx="3"/>
          </p:nvPr>
        </p:nvSpPr>
        <p:spPr bwMode="auto">
          <a:xfrm>
            <a:off x="6172200" y="1448047"/>
            <a:ext cx="5183187" cy="823911"/>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858631099" name="Date Placeholder 6"/>
          <p:cNvSpPr>
            <a:spLocks noGrp="1"/>
          </p:cNvSpPr>
          <p:nvPr>
            <p:ph type="dt" sz="half" idx="10"/>
          </p:nvPr>
        </p:nvSpPr>
        <p:spPr bwMode="auto"/>
        <p:txBody>
          <a:bodyPr/>
          <a:lstStyle>
            <a:lvl1pPr>
              <a:defRPr>
                <a:solidFill>
                  <a:schemeClr val="bg1"/>
                </a:solidFill>
              </a:defRPr>
            </a:lvl1pPr>
          </a:lstStyle>
          <a:p>
            <a:pPr>
              <a:defRPr/>
            </a:pPr>
            <a:fld id="{A1493B0D-1639-5500-457E-13ACAD8A98A2}" type="datetime1">
              <a:rPr lang="en-US"/>
              <a:t>4/22/2026</a:t>
            </a:fld>
            <a:endParaRPr lang="en-US"/>
          </a:p>
        </p:txBody>
      </p:sp>
      <p:sp>
        <p:nvSpPr>
          <p:cNvPr id="2071496836" name="Footer Placeholder 7"/>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82236755" name="Slide Number Placeholder 8"/>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pic>
        <p:nvPicPr>
          <p:cNvPr id="1270215093" name="Picture 10"/>
          <p:cNvPicPr>
            <a:picLocks noChangeAspect="1"/>
          </p:cNvPicPr>
          <p:nvPr userDrawn="1"/>
        </p:nvPicPr>
        <p:blipFill rotWithShape="1">
          <a:blip r:embed="rId3"/>
          <a:stretch/>
        </p:blipFill>
        <p:spPr bwMode="auto">
          <a:xfrm>
            <a:off x="11633859" y="225631"/>
            <a:ext cx="473212" cy="654254"/>
          </a:xfrm>
          <a:prstGeom prst="rect">
            <a:avLst/>
          </a:prstGeom>
        </p:spPr>
      </p:pic>
      <p:sp>
        <p:nvSpPr>
          <p:cNvPr id="1603680511" name="Title 1"/>
          <p:cNvSpPr>
            <a:spLocks noGrp="1"/>
          </p:cNvSpPr>
          <p:nvPr>
            <p:ph type="title"/>
          </p:nvPr>
        </p:nvSpPr>
        <p:spPr bwMode="auto">
          <a:xfrm>
            <a:off x="838198" y="556963"/>
            <a:ext cx="10515600" cy="756146"/>
          </a:xfrm>
        </p:spPr>
        <p:txBody>
          <a:bodyPr anchor="b">
            <a:normAutofit/>
          </a:bodyPr>
          <a:lstStyle>
            <a:lvl1pPr>
              <a:defRPr sz="3200"/>
            </a:lvl1pPr>
          </a:lstStyle>
          <a:p>
            <a:pPr>
              <a:defRPr/>
            </a:pPr>
            <a:r>
              <a:rPr lang="en-US"/>
              <a:t>Click to edit Master title style</a:t>
            </a:r>
            <a:endParaRPr/>
          </a:p>
        </p:txBody>
      </p:sp>
      <p:sp>
        <p:nvSpPr>
          <p:cNvPr id="924768295" name="Content Placeholder 2"/>
          <p:cNvSpPr>
            <a:spLocks noGrp="1"/>
          </p:cNvSpPr>
          <p:nvPr>
            <p:ph sz="half" idx="13"/>
          </p:nvPr>
        </p:nvSpPr>
        <p:spPr bwMode="auto">
          <a:xfrm>
            <a:off x="838198" y="2406895"/>
            <a:ext cx="5181599" cy="3740126"/>
          </a:xfrm>
        </p:spPr>
        <p:txBody>
          <a:bodyPr>
            <a:normAutofit/>
          </a:bodyPr>
          <a:lstStyle>
            <a:lvl1pPr>
              <a:buClr>
                <a:schemeClr val="accent1"/>
              </a:buClr>
              <a:defRPr sz="1600"/>
            </a:lvl1pPr>
            <a:lvl2pPr>
              <a:buClr>
                <a:schemeClr val="accent1"/>
              </a:buClr>
              <a:defRPr sz="1600"/>
            </a:lvl2pPr>
            <a:lvl3pPr>
              <a:buClr>
                <a:schemeClr val="accent1"/>
              </a:buClr>
              <a:defRPr sz="1600"/>
            </a:lvl3pPr>
            <a:lvl4pPr>
              <a:buClr>
                <a:schemeClr val="accent1"/>
              </a:buClr>
              <a:defRPr sz="1600"/>
            </a:lvl4pPr>
            <a:lvl5pPr>
              <a:buClr>
                <a:schemeClr val="accent1"/>
              </a:buClr>
              <a:defRPr sz="16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08113795" name="Content Placeholder 3"/>
          <p:cNvSpPr>
            <a:spLocks noGrp="1"/>
          </p:cNvSpPr>
          <p:nvPr>
            <p:ph sz="half" idx="2"/>
          </p:nvPr>
        </p:nvSpPr>
        <p:spPr bwMode="auto">
          <a:xfrm>
            <a:off x="6172200" y="2406895"/>
            <a:ext cx="5181599" cy="3740126"/>
          </a:xfrm>
        </p:spPr>
        <p:txBody>
          <a:bodyPr>
            <a:normAutofit/>
          </a:bodyPr>
          <a:lstStyle>
            <a:lvl1pPr>
              <a:buClr>
                <a:schemeClr val="accent1"/>
              </a:buClr>
              <a:defRPr sz="1600"/>
            </a:lvl1pPr>
            <a:lvl2pPr>
              <a:buClr>
                <a:schemeClr val="accent1"/>
              </a:buClr>
              <a:defRPr sz="1600"/>
            </a:lvl2pPr>
            <a:lvl3pPr>
              <a:buClr>
                <a:schemeClr val="accent1"/>
              </a:buClr>
              <a:defRPr sz="1600"/>
            </a:lvl3pPr>
            <a:lvl4pPr>
              <a:buClr>
                <a:schemeClr val="accent1"/>
              </a:buClr>
              <a:defRPr sz="1600"/>
            </a:lvl4pPr>
            <a:lvl5pPr>
              <a:buClr>
                <a:schemeClr val="accent1"/>
              </a:buClr>
              <a:defRPr sz="16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Title Only">
    <p:spTree>
      <p:nvGrpSpPr>
        <p:cNvPr id="1" name=""/>
        <p:cNvGrpSpPr/>
        <p:nvPr/>
      </p:nvGrpSpPr>
      <p:grpSpPr bwMode="auto">
        <a:xfrm>
          <a:off x="0" y="0"/>
          <a:ext cx="0" cy="0"/>
          <a:chOff x="0" y="0"/>
          <a:chExt cx="0" cy="0"/>
        </a:xfrm>
      </p:grpSpPr>
      <p:pic>
        <p:nvPicPr>
          <p:cNvPr id="860193434" name="Picture 5"/>
          <p:cNvPicPr>
            <a:picLocks noChangeAspect="1"/>
          </p:cNvPicPr>
          <p:nvPr userDrawn="1"/>
        </p:nvPicPr>
        <p:blipFill rotWithShape="1">
          <a:blip r:embed="rId2"/>
          <a:stretch/>
        </p:blipFill>
        <p:spPr bwMode="auto">
          <a:xfrm>
            <a:off x="0" y="0"/>
            <a:ext cx="12191999" cy="6858000"/>
          </a:xfrm>
          <a:prstGeom prst="rect">
            <a:avLst/>
          </a:prstGeom>
        </p:spPr>
      </p:pic>
      <p:sp>
        <p:nvSpPr>
          <p:cNvPr id="1713000851" name="Date Placeholder 2"/>
          <p:cNvSpPr>
            <a:spLocks noGrp="1"/>
          </p:cNvSpPr>
          <p:nvPr>
            <p:ph type="dt" sz="half" idx="10"/>
          </p:nvPr>
        </p:nvSpPr>
        <p:spPr bwMode="auto"/>
        <p:txBody>
          <a:bodyPr/>
          <a:lstStyle>
            <a:lvl1pPr>
              <a:defRPr>
                <a:solidFill>
                  <a:schemeClr val="bg1"/>
                </a:solidFill>
              </a:defRPr>
            </a:lvl1pPr>
          </a:lstStyle>
          <a:p>
            <a:pPr>
              <a:defRPr/>
            </a:pPr>
            <a:fld id="{5698CAB7-57F9-1E3F-B9D7-112D7ACCA952}" type="datetime1">
              <a:rPr lang="en-US"/>
              <a:t>4/22/2026</a:t>
            </a:fld>
            <a:endParaRPr lang="en-US"/>
          </a:p>
        </p:txBody>
      </p:sp>
      <p:sp>
        <p:nvSpPr>
          <p:cNvPr id="743799492" name="Footer Placeholder 3"/>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1107758368" name="Slide Number Placeholder 4"/>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pic>
        <p:nvPicPr>
          <p:cNvPr id="1959883335" name="Picture 6"/>
          <p:cNvPicPr>
            <a:picLocks noChangeAspect="1"/>
          </p:cNvPicPr>
          <p:nvPr userDrawn="1"/>
        </p:nvPicPr>
        <p:blipFill rotWithShape="1">
          <a:blip r:embed="rId3"/>
          <a:stretch/>
        </p:blipFill>
        <p:spPr bwMode="auto">
          <a:xfrm>
            <a:off x="11633859" y="225631"/>
            <a:ext cx="473212" cy="654254"/>
          </a:xfrm>
          <a:prstGeom prst="rect">
            <a:avLst/>
          </a:prstGeom>
        </p:spPr>
      </p:pic>
      <p:sp>
        <p:nvSpPr>
          <p:cNvPr id="427519695" name="Title 1"/>
          <p:cNvSpPr>
            <a:spLocks noGrp="1"/>
          </p:cNvSpPr>
          <p:nvPr>
            <p:ph type="title"/>
          </p:nvPr>
        </p:nvSpPr>
        <p:spPr bwMode="auto">
          <a:xfrm>
            <a:off x="838198" y="556963"/>
            <a:ext cx="10515600" cy="756146"/>
          </a:xfrm>
        </p:spPr>
        <p:txBody>
          <a:bodyPr anchor="b">
            <a:normAutofit/>
          </a:bodyPr>
          <a:lstStyle>
            <a:lvl1pPr>
              <a:defRPr sz="3200"/>
            </a:lvl1pPr>
          </a:lstStyle>
          <a:p>
            <a:pPr>
              <a:defRPr/>
            </a:pPr>
            <a:r>
              <a:rPr lang="en-US"/>
              <a:t>Click to edit Master title style</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1_Title Only">
    <p:spTree>
      <p:nvGrpSpPr>
        <p:cNvPr id="1" name=""/>
        <p:cNvGrpSpPr/>
        <p:nvPr/>
      </p:nvGrpSpPr>
      <p:grpSpPr bwMode="auto">
        <a:xfrm>
          <a:off x="0" y="0"/>
          <a:ext cx="0" cy="0"/>
          <a:chOff x="0" y="0"/>
          <a:chExt cx="0" cy="0"/>
        </a:xfrm>
      </p:grpSpPr>
      <p:pic>
        <p:nvPicPr>
          <p:cNvPr id="849284286" name="Picture 8"/>
          <p:cNvPicPr>
            <a:picLocks noChangeAspect="1"/>
          </p:cNvPicPr>
          <p:nvPr userDrawn="1"/>
        </p:nvPicPr>
        <p:blipFill rotWithShape="1">
          <a:blip r:embed="rId2"/>
          <a:stretch/>
        </p:blipFill>
        <p:spPr bwMode="auto">
          <a:xfrm>
            <a:off x="0" y="0"/>
            <a:ext cx="12191999" cy="6858000"/>
          </a:xfrm>
          <a:prstGeom prst="rect">
            <a:avLst/>
          </a:prstGeom>
        </p:spPr>
      </p:pic>
      <p:sp>
        <p:nvSpPr>
          <p:cNvPr id="2051769488" name="Date Placeholder 2"/>
          <p:cNvSpPr>
            <a:spLocks noGrp="1"/>
          </p:cNvSpPr>
          <p:nvPr>
            <p:ph type="dt" sz="half" idx="10"/>
          </p:nvPr>
        </p:nvSpPr>
        <p:spPr bwMode="auto"/>
        <p:txBody>
          <a:bodyPr/>
          <a:lstStyle>
            <a:lvl1pPr>
              <a:defRPr>
                <a:solidFill>
                  <a:schemeClr val="bg1"/>
                </a:solidFill>
              </a:defRPr>
            </a:lvl1pPr>
          </a:lstStyle>
          <a:p>
            <a:pPr>
              <a:defRPr/>
            </a:pPr>
            <a:fld id="{36FA6840-5A44-B7F0-8A7E-2971D0DF8561}" type="datetime1">
              <a:rPr lang="en-US"/>
              <a:t>4/22/2026</a:t>
            </a:fld>
            <a:endParaRPr lang="en-US"/>
          </a:p>
        </p:txBody>
      </p:sp>
      <p:sp>
        <p:nvSpPr>
          <p:cNvPr id="1034337751" name="Footer Placeholder 3"/>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2074778635" name="Slide Number Placeholder 4"/>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sp>
        <p:nvSpPr>
          <p:cNvPr id="1887256430" name="Title 1"/>
          <p:cNvSpPr>
            <a:spLocks noGrp="1"/>
          </p:cNvSpPr>
          <p:nvPr>
            <p:ph type="title"/>
          </p:nvPr>
        </p:nvSpPr>
        <p:spPr bwMode="auto">
          <a:xfrm>
            <a:off x="838198" y="556963"/>
            <a:ext cx="10515600" cy="756146"/>
          </a:xfrm>
        </p:spPr>
        <p:txBody>
          <a:bodyPr anchor="b">
            <a:normAutofit/>
          </a:bodyPr>
          <a:lstStyle>
            <a:lvl1pPr>
              <a:defRPr sz="3200">
                <a:solidFill>
                  <a:schemeClr val="bg1"/>
                </a:solidFill>
              </a:defRPr>
            </a:lvl1pPr>
          </a:lstStyle>
          <a:p>
            <a:pPr>
              <a:defRPr/>
            </a:pPr>
            <a:r>
              <a:rPr lang="en-US"/>
              <a:t>Click to edit Master title style</a:t>
            </a:r>
            <a:endParaRPr/>
          </a:p>
        </p:txBody>
      </p:sp>
      <p:sp>
        <p:nvSpPr>
          <p:cNvPr id="1907503640" name="Rectangle 9"/>
          <p:cNvSpPr/>
          <p:nvPr userDrawn="1"/>
        </p:nvSpPr>
        <p:spPr bwMode="auto">
          <a:xfrm>
            <a:off x="838198" y="1313110"/>
            <a:ext cx="10515600" cy="69120"/>
          </a:xfrm>
          <a:prstGeom prst="rect">
            <a:avLst/>
          </a:prstGeom>
          <a:solidFill>
            <a:schemeClr val="accent4"/>
          </a:solidFill>
          <a:ln>
            <a:noFill/>
          </a:ln>
        </p:spPr>
        <p:style>
          <a:lnRef idx="0">
            <a:srgbClr val="000000"/>
          </a:lnRef>
          <a:fillRef idx="0">
            <a:srgbClr val="000000"/>
          </a:fillRef>
          <a:effectRef idx="0">
            <a:srgbClr val="000000"/>
          </a:effectRef>
          <a:fontRef idx="minor">
            <a:schemeClr val="lt1"/>
          </a:fontRef>
        </p:style>
        <p:txBody>
          <a:bodyPr rtlCol="0" anchor="ctr"/>
          <a:lstStyle/>
          <a:p>
            <a:pPr algn="ct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2_Title Only">
    <p:spTree>
      <p:nvGrpSpPr>
        <p:cNvPr id="1" name=""/>
        <p:cNvGrpSpPr/>
        <p:nvPr/>
      </p:nvGrpSpPr>
      <p:grpSpPr bwMode="auto">
        <a:xfrm>
          <a:off x="0" y="0"/>
          <a:ext cx="0" cy="0"/>
          <a:chOff x="0" y="0"/>
          <a:chExt cx="0" cy="0"/>
        </a:xfrm>
      </p:grpSpPr>
      <p:sp>
        <p:nvSpPr>
          <p:cNvPr id="858225986" name="Rectangle 1"/>
          <p:cNvSpPr/>
          <p:nvPr userDrawn="1"/>
        </p:nvSpPr>
        <p:spPr bwMode="auto">
          <a:xfrm>
            <a:off x="0" y="0"/>
            <a:ext cx="12191999" cy="6858000"/>
          </a:xfrm>
          <a:prstGeom prst="rect">
            <a:avLst/>
          </a:prstGeom>
          <a:gradFill>
            <a:gsLst>
              <a:gs pos="11000">
                <a:schemeClr val="accent1"/>
              </a:gs>
              <a:gs pos="90000">
                <a:schemeClr val="accent4"/>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59219185" name="Date Placeholder 2"/>
          <p:cNvSpPr>
            <a:spLocks noGrp="1"/>
          </p:cNvSpPr>
          <p:nvPr>
            <p:ph type="dt" sz="half" idx="10"/>
          </p:nvPr>
        </p:nvSpPr>
        <p:spPr bwMode="auto"/>
        <p:txBody>
          <a:bodyPr/>
          <a:lstStyle>
            <a:lvl1pPr>
              <a:defRPr>
                <a:solidFill>
                  <a:schemeClr val="bg1"/>
                </a:solidFill>
              </a:defRPr>
            </a:lvl1pPr>
          </a:lstStyle>
          <a:p>
            <a:pPr>
              <a:defRPr/>
            </a:pPr>
            <a:fld id="{145F3B18-DF53-C74F-D3C8-525A25CC5E11}" type="datetime1">
              <a:rPr lang="en-US"/>
              <a:t>4/22/2026</a:t>
            </a:fld>
            <a:endParaRPr lang="en-US"/>
          </a:p>
        </p:txBody>
      </p:sp>
      <p:sp>
        <p:nvSpPr>
          <p:cNvPr id="115994498" name="Footer Placeholder 3"/>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1408168417" name="Slide Number Placeholder 4"/>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sp>
        <p:nvSpPr>
          <p:cNvPr id="1335978424" name="Title 1"/>
          <p:cNvSpPr>
            <a:spLocks noGrp="1"/>
          </p:cNvSpPr>
          <p:nvPr>
            <p:ph type="title"/>
          </p:nvPr>
        </p:nvSpPr>
        <p:spPr bwMode="auto">
          <a:xfrm>
            <a:off x="838198" y="556963"/>
            <a:ext cx="10515600" cy="756146"/>
          </a:xfrm>
        </p:spPr>
        <p:txBody>
          <a:bodyPr anchor="b">
            <a:normAutofit/>
          </a:bodyPr>
          <a:lstStyle>
            <a:lvl1pPr>
              <a:defRPr sz="3200">
                <a:solidFill>
                  <a:schemeClr val="bg1"/>
                </a:solidFill>
              </a:defRPr>
            </a:lvl1pPr>
          </a:lstStyle>
          <a:p>
            <a:pPr>
              <a:defRPr/>
            </a:pPr>
            <a:r>
              <a:rPr lang="en-US"/>
              <a:t>Click to edit Master title style</a:t>
            </a:r>
            <a:endParaRPr/>
          </a:p>
        </p:txBody>
      </p:sp>
      <p:pic>
        <p:nvPicPr>
          <p:cNvPr id="895846452" name="Picture 10"/>
          <p:cNvPicPr>
            <a:picLocks noChangeAspect="1"/>
          </p:cNvPicPr>
          <p:nvPr userDrawn="1"/>
        </p:nvPicPr>
        <p:blipFill rotWithShape="1">
          <a:blip r:embed="rId2">
            <a:alphaModFix amt="20000"/>
          </a:blip>
          <a:stretch/>
        </p:blipFill>
        <p:spPr bwMode="auto">
          <a:xfrm>
            <a:off x="4130370" y="903094"/>
            <a:ext cx="3931258" cy="505181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pic>
        <p:nvPicPr>
          <p:cNvPr id="467066779" name="Picture 4"/>
          <p:cNvPicPr>
            <a:picLocks noChangeAspect="1"/>
          </p:cNvPicPr>
          <p:nvPr userDrawn="1"/>
        </p:nvPicPr>
        <p:blipFill rotWithShape="1">
          <a:blip r:embed="rId2"/>
          <a:stretch/>
        </p:blipFill>
        <p:spPr bwMode="auto">
          <a:xfrm>
            <a:off x="0" y="0"/>
            <a:ext cx="12191999" cy="6858000"/>
          </a:xfrm>
          <a:prstGeom prst="rect">
            <a:avLst/>
          </a:prstGeom>
        </p:spPr>
      </p:pic>
      <p:sp>
        <p:nvSpPr>
          <p:cNvPr id="1208616243" name="Date Placeholder 1"/>
          <p:cNvSpPr>
            <a:spLocks noGrp="1"/>
          </p:cNvSpPr>
          <p:nvPr>
            <p:ph type="dt" sz="half" idx="10"/>
          </p:nvPr>
        </p:nvSpPr>
        <p:spPr bwMode="auto"/>
        <p:txBody>
          <a:bodyPr/>
          <a:lstStyle>
            <a:lvl1pPr>
              <a:defRPr>
                <a:solidFill>
                  <a:schemeClr val="bg1"/>
                </a:solidFill>
              </a:defRPr>
            </a:lvl1pPr>
          </a:lstStyle>
          <a:p>
            <a:pPr>
              <a:defRPr/>
            </a:pPr>
            <a:fld id="{B7761311-E397-A883-1E63-9C2AB11E5243}" type="datetime1">
              <a:rPr lang="en-US"/>
              <a:t>4/22/2026</a:t>
            </a:fld>
            <a:endParaRPr lang="en-US"/>
          </a:p>
        </p:txBody>
      </p:sp>
      <p:sp>
        <p:nvSpPr>
          <p:cNvPr id="1300394789" name="Footer Placeholder 2"/>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1257164908" name="Slide Number Placeholder 3"/>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pic>
        <p:nvPicPr>
          <p:cNvPr id="6" name="Picture 8">
            <a:extLst>
              <a:ext uri="{FF2B5EF4-FFF2-40B4-BE49-F238E27FC236}">
                <a16:creationId xmlns:a16="http://schemas.microsoft.com/office/drawing/2014/main" id="{4FE1FF32-E992-4382-AE25-BB083C9DBA15}"/>
              </a:ext>
            </a:extLst>
          </p:cNvPr>
          <p:cNvPicPr>
            <a:picLocks noChangeAspect="1"/>
          </p:cNvPicPr>
          <p:nvPr userDrawn="1"/>
        </p:nvPicPr>
        <p:blipFill rotWithShape="1">
          <a:blip r:embed="rId3"/>
          <a:stretch/>
        </p:blipFill>
        <p:spPr bwMode="auto">
          <a:xfrm>
            <a:off x="11633859" y="225631"/>
            <a:ext cx="473212" cy="65425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blank" preserve="1" userDrawn="1">
  <p:cSld name="1_Blank">
    <p:spTree>
      <p:nvGrpSpPr>
        <p:cNvPr id="1" name=""/>
        <p:cNvGrpSpPr/>
        <p:nvPr/>
      </p:nvGrpSpPr>
      <p:grpSpPr bwMode="auto">
        <a:xfrm>
          <a:off x="0" y="0"/>
          <a:ext cx="0" cy="0"/>
          <a:chOff x="0" y="0"/>
          <a:chExt cx="0" cy="0"/>
        </a:xfrm>
      </p:grpSpPr>
      <p:pic>
        <p:nvPicPr>
          <p:cNvPr id="467066779" name="Picture 4"/>
          <p:cNvPicPr>
            <a:picLocks noChangeAspect="1"/>
          </p:cNvPicPr>
          <p:nvPr userDrawn="1"/>
        </p:nvPicPr>
        <p:blipFill rotWithShape="1">
          <a:blip r:embed="rId2"/>
          <a:stretch/>
        </p:blipFill>
        <p:spPr bwMode="auto">
          <a:xfrm>
            <a:off x="0" y="0"/>
            <a:ext cx="12191999" cy="6858000"/>
          </a:xfrm>
          <a:prstGeom prst="rect">
            <a:avLst/>
          </a:prstGeom>
        </p:spPr>
      </p:pic>
      <p:sp>
        <p:nvSpPr>
          <p:cNvPr id="1208616243" name="Date Placeholder 1"/>
          <p:cNvSpPr>
            <a:spLocks noGrp="1"/>
          </p:cNvSpPr>
          <p:nvPr>
            <p:ph type="dt" sz="half" idx="10"/>
          </p:nvPr>
        </p:nvSpPr>
        <p:spPr bwMode="auto"/>
        <p:txBody>
          <a:bodyPr/>
          <a:lstStyle>
            <a:lvl1pPr>
              <a:defRPr>
                <a:solidFill>
                  <a:schemeClr val="bg1"/>
                </a:solidFill>
              </a:defRPr>
            </a:lvl1pPr>
          </a:lstStyle>
          <a:p>
            <a:pPr>
              <a:defRPr/>
            </a:pPr>
            <a:fld id="{B7761311-E397-A883-1E63-9C2AB11E5243}" type="datetime1">
              <a:rPr lang="en-US"/>
              <a:t>4/22/2026</a:t>
            </a:fld>
            <a:endParaRPr lang="en-US"/>
          </a:p>
        </p:txBody>
      </p:sp>
      <p:sp>
        <p:nvSpPr>
          <p:cNvPr id="1300394789" name="Footer Placeholder 2"/>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1257164908" name="Slide Number Placeholder 3"/>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spTree>
    <p:extLst>
      <p:ext uri="{BB962C8B-B14F-4D97-AF65-F5344CB8AC3E}">
        <p14:creationId xmlns:p14="http://schemas.microsoft.com/office/powerpoint/2010/main" val="99903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pic>
        <p:nvPicPr>
          <p:cNvPr id="1741305817" name="Picture 7"/>
          <p:cNvPicPr>
            <a:picLocks noChangeAspect="1"/>
          </p:cNvPicPr>
          <p:nvPr userDrawn="1"/>
        </p:nvPicPr>
        <p:blipFill rotWithShape="1">
          <a:blip r:embed="rId2"/>
          <a:stretch/>
        </p:blipFill>
        <p:spPr bwMode="auto">
          <a:xfrm>
            <a:off x="0" y="0"/>
            <a:ext cx="12191999" cy="6858000"/>
          </a:xfrm>
          <a:prstGeom prst="rect">
            <a:avLst/>
          </a:prstGeom>
        </p:spPr>
      </p:pic>
      <p:sp>
        <p:nvSpPr>
          <p:cNvPr id="465334338" name="Title 1"/>
          <p:cNvSpPr>
            <a:spLocks noGrp="1"/>
          </p:cNvSpPr>
          <p:nvPr>
            <p:ph type="title"/>
          </p:nvPr>
        </p:nvSpPr>
        <p:spPr bwMode="auto">
          <a:xfrm>
            <a:off x="839787" y="457200"/>
            <a:ext cx="3932236" cy="1600200"/>
          </a:xfrm>
        </p:spPr>
        <p:txBody>
          <a:bodyPr anchor="b"/>
          <a:lstStyle>
            <a:lvl1pPr>
              <a:defRPr sz="3200"/>
            </a:lvl1pPr>
          </a:lstStyle>
          <a:p>
            <a:pPr>
              <a:defRPr/>
            </a:pPr>
            <a:r>
              <a:rPr lang="en-US"/>
              <a:t>Click to edit Master title style</a:t>
            </a:r>
            <a:endParaRPr/>
          </a:p>
        </p:txBody>
      </p:sp>
      <p:sp>
        <p:nvSpPr>
          <p:cNvPr id="197004095" name="Content Placeholder 2"/>
          <p:cNvSpPr>
            <a:spLocks noGrp="1"/>
          </p:cNvSpPr>
          <p:nvPr>
            <p:ph idx="1"/>
          </p:nvPr>
        </p:nvSpPr>
        <p:spPr bwMode="auto">
          <a:xfrm>
            <a:off x="5183187" y="987424"/>
            <a:ext cx="6172200" cy="4873624"/>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2089651" name="Text Placeholder 3"/>
          <p:cNvSpPr>
            <a:spLocks noGrp="1"/>
          </p:cNvSpPr>
          <p:nvPr>
            <p:ph type="body" sz="half" idx="2"/>
          </p:nvPr>
        </p:nvSpPr>
        <p:spPr bwMode="auto">
          <a:xfrm>
            <a:off x="839787" y="2057400"/>
            <a:ext cx="3932236" cy="3811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75109384" name="Date Placeholder 4"/>
          <p:cNvSpPr>
            <a:spLocks noGrp="1"/>
          </p:cNvSpPr>
          <p:nvPr>
            <p:ph type="dt" sz="half" idx="10"/>
          </p:nvPr>
        </p:nvSpPr>
        <p:spPr bwMode="auto"/>
        <p:txBody>
          <a:bodyPr/>
          <a:lstStyle>
            <a:lvl1pPr>
              <a:defRPr>
                <a:solidFill>
                  <a:schemeClr val="bg1"/>
                </a:solidFill>
              </a:defRPr>
            </a:lvl1pPr>
          </a:lstStyle>
          <a:p>
            <a:pPr>
              <a:defRPr/>
            </a:pPr>
            <a:fld id="{77487F4F-F749-DC4F-4B5A-4EAECC2B6B27}" type="datetime1">
              <a:rPr lang="en-US"/>
              <a:t>4/22/2026</a:t>
            </a:fld>
            <a:endParaRPr lang="en-US"/>
          </a:p>
        </p:txBody>
      </p:sp>
      <p:sp>
        <p:nvSpPr>
          <p:cNvPr id="1479415346" name="Footer Placeholder 5"/>
          <p:cNvSpPr>
            <a:spLocks noGrp="1"/>
          </p:cNvSpPr>
          <p:nvPr>
            <p:ph type="ftr" sz="quarter" idx="11"/>
          </p:nvPr>
        </p:nvSpPr>
        <p:spPr bwMode="auto"/>
        <p:txBody>
          <a:bodyPr/>
          <a:lstStyle>
            <a:lvl1pPr>
              <a:defRPr>
                <a:solidFill>
                  <a:schemeClr val="bg1"/>
                </a:solidFill>
              </a:defRPr>
            </a:lvl1pPr>
          </a:lstStyle>
          <a:p>
            <a:pPr>
              <a:defRPr/>
            </a:pPr>
            <a:endParaRPr lang="en-US"/>
          </a:p>
        </p:txBody>
      </p:sp>
      <p:sp>
        <p:nvSpPr>
          <p:cNvPr id="898154632" name="Slide Number Placeholder 6"/>
          <p:cNvSpPr>
            <a:spLocks noGrp="1"/>
          </p:cNvSpPr>
          <p:nvPr>
            <p:ph type="sldNum" sz="quarter" idx="12"/>
          </p:nvPr>
        </p:nvSpPr>
        <p:spPr bwMode="auto"/>
        <p:txBody>
          <a:bodyPr/>
          <a:lstStyle>
            <a:lvl1pPr>
              <a:defRPr>
                <a:solidFill>
                  <a:schemeClr val="bg1"/>
                </a:solidFill>
              </a:defRPr>
            </a:lvl1pPr>
          </a:lstStyle>
          <a:p>
            <a:pPr>
              <a:defRPr/>
            </a:pPr>
            <a:fld id="{0CE68F04-8C45-4A80-901C-428EAFDC5CAA}" type="slidenum">
              <a:rPr lang="en-US"/>
              <a:t>‹#›</a:t>
            </a:fld>
            <a:endParaRPr lang="en-US"/>
          </a:p>
        </p:txBody>
      </p:sp>
      <p:pic>
        <p:nvPicPr>
          <p:cNvPr id="84665707" name="Picture 8"/>
          <p:cNvPicPr>
            <a:picLocks noChangeAspect="1"/>
          </p:cNvPicPr>
          <p:nvPr userDrawn="1"/>
        </p:nvPicPr>
        <p:blipFill rotWithShape="1">
          <a:blip r:embed="rId3"/>
          <a:stretch/>
        </p:blipFill>
        <p:spPr bwMode="auto">
          <a:xfrm>
            <a:off x="11633859" y="225631"/>
            <a:ext cx="473212" cy="65425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736700807" name="Title 1"/>
          <p:cNvSpPr>
            <a:spLocks noGrp="1"/>
          </p:cNvSpPr>
          <p:nvPr>
            <p:ph type="title"/>
          </p:nvPr>
        </p:nvSpPr>
        <p:spPr bwMode="auto">
          <a:xfrm>
            <a:off x="839787" y="457200"/>
            <a:ext cx="3932236" cy="1600200"/>
          </a:xfrm>
        </p:spPr>
        <p:txBody>
          <a:bodyPr anchor="b"/>
          <a:lstStyle>
            <a:lvl1pPr>
              <a:defRPr sz="3200"/>
            </a:lvl1pPr>
          </a:lstStyle>
          <a:p>
            <a:pPr>
              <a:defRPr/>
            </a:pPr>
            <a:r>
              <a:rPr lang="en-US"/>
              <a:t>Click to edit Master title style</a:t>
            </a:r>
            <a:endParaRPr/>
          </a:p>
        </p:txBody>
      </p:sp>
      <p:sp>
        <p:nvSpPr>
          <p:cNvPr id="66063947" name="Picture Placeholder 2"/>
          <p:cNvSpPr>
            <a:spLocks noGrp="1"/>
          </p:cNvSpPr>
          <p:nvPr>
            <p:ph type="pic" idx="1"/>
          </p:nvPr>
        </p:nvSpPr>
        <p:spPr bwMode="auto">
          <a:xfrm>
            <a:off x="5183187" y="987424"/>
            <a:ext cx="6172200" cy="487362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240048278" name="Text Placeholder 3"/>
          <p:cNvSpPr>
            <a:spLocks noGrp="1"/>
          </p:cNvSpPr>
          <p:nvPr>
            <p:ph type="body" sz="half" idx="2"/>
          </p:nvPr>
        </p:nvSpPr>
        <p:spPr bwMode="auto">
          <a:xfrm>
            <a:off x="839787" y="2057400"/>
            <a:ext cx="3932236" cy="3811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0765575" name="Date Placeholder 4"/>
          <p:cNvSpPr>
            <a:spLocks noGrp="1"/>
          </p:cNvSpPr>
          <p:nvPr>
            <p:ph type="dt" sz="half" idx="10"/>
          </p:nvPr>
        </p:nvSpPr>
        <p:spPr bwMode="auto"/>
        <p:txBody>
          <a:bodyPr/>
          <a:lstStyle/>
          <a:p>
            <a:pPr>
              <a:defRPr/>
            </a:pPr>
            <a:fld id="{B16134C5-DD8E-4E21-6D84-D28F7B752D0C}" type="datetime1">
              <a:rPr lang="en-US"/>
              <a:t>4/22/2026</a:t>
            </a:fld>
            <a:endParaRPr lang="en-US"/>
          </a:p>
        </p:txBody>
      </p:sp>
      <p:sp>
        <p:nvSpPr>
          <p:cNvPr id="2131852139" name="Footer Placeholder 5"/>
          <p:cNvSpPr>
            <a:spLocks noGrp="1"/>
          </p:cNvSpPr>
          <p:nvPr>
            <p:ph type="ftr" sz="quarter" idx="11"/>
          </p:nvPr>
        </p:nvSpPr>
        <p:spPr bwMode="auto"/>
        <p:txBody>
          <a:bodyPr/>
          <a:lstStyle/>
          <a:p>
            <a:pPr>
              <a:defRPr/>
            </a:pPr>
            <a:endParaRPr lang="en-US"/>
          </a:p>
        </p:txBody>
      </p:sp>
      <p:sp>
        <p:nvSpPr>
          <p:cNvPr id="808773762" name="Slide Number Placeholder 6"/>
          <p:cNvSpPr>
            <a:spLocks noGrp="1"/>
          </p:cNvSpPr>
          <p:nvPr>
            <p:ph type="sldNum" sz="quarter" idx="12"/>
          </p:nvPr>
        </p:nvSpPr>
        <p:spPr bwMode="auto"/>
        <p:txBody>
          <a:bodyPr/>
          <a:lstStyle/>
          <a:p>
            <a:pPr>
              <a:defRPr/>
            </a:pPr>
            <a:fld id="{0CE68F04-8C45-4A80-901C-428EAFDC5CAA}" type="slidenum">
              <a:rPr lang="en-US"/>
              <a:t>‹#›</a:t>
            </a:fld>
            <a:endParaRPr lang="en-US"/>
          </a:p>
        </p:txBody>
      </p:sp>
      <p:pic>
        <p:nvPicPr>
          <p:cNvPr id="1416050263" name="Picture 7"/>
          <p:cNvPicPr>
            <a:picLocks noChangeAspect="1"/>
          </p:cNvPicPr>
          <p:nvPr userDrawn="1"/>
        </p:nvPicPr>
        <p:blipFill rotWithShape="1">
          <a:blip r:embed="rId2"/>
          <a:stretch/>
        </p:blipFill>
        <p:spPr bwMode="auto">
          <a:xfrm>
            <a:off x="0" y="0"/>
            <a:ext cx="12191999" cy="6858000"/>
          </a:xfrm>
          <a:prstGeom prst="rect">
            <a:avLst/>
          </a:prstGeom>
        </p:spPr>
      </p:pic>
      <p:pic>
        <p:nvPicPr>
          <p:cNvPr id="426095131" name="Picture 8"/>
          <p:cNvPicPr>
            <a:picLocks noChangeAspect="1"/>
          </p:cNvPicPr>
          <p:nvPr userDrawn="1"/>
        </p:nvPicPr>
        <p:blipFill rotWithShape="1">
          <a:blip r:embed="rId3"/>
          <a:stretch/>
        </p:blipFill>
        <p:spPr bwMode="auto">
          <a:xfrm>
            <a:off x="11633859" y="225631"/>
            <a:ext cx="473212" cy="65425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76597606" name="Title 1"/>
          <p:cNvSpPr>
            <a:spLocks noGrp="1"/>
          </p:cNvSpPr>
          <p:nvPr>
            <p:ph type="title"/>
          </p:nvPr>
        </p:nvSpPr>
        <p:spPr bwMode="auto"/>
        <p:txBody>
          <a:bodyPr/>
          <a:lstStyle/>
          <a:p>
            <a:pPr>
              <a:defRPr/>
            </a:pPr>
            <a:r>
              <a:rPr lang="en-US"/>
              <a:t>Click to edit Master title style</a:t>
            </a:r>
            <a:endParaRPr/>
          </a:p>
        </p:txBody>
      </p:sp>
      <p:sp>
        <p:nvSpPr>
          <p:cNvPr id="33852223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13340269" name="Date Placeholder 3"/>
          <p:cNvSpPr>
            <a:spLocks noGrp="1"/>
          </p:cNvSpPr>
          <p:nvPr>
            <p:ph type="dt" sz="half" idx="10"/>
          </p:nvPr>
        </p:nvSpPr>
        <p:spPr bwMode="auto"/>
        <p:txBody>
          <a:bodyPr/>
          <a:lstStyle/>
          <a:p>
            <a:pPr>
              <a:defRPr/>
            </a:pPr>
            <a:fld id="{964054CE-47AA-E8CB-FC93-BC144E978374}" type="datetime1">
              <a:rPr lang="en-US"/>
              <a:t>4/22/2026</a:t>
            </a:fld>
            <a:endParaRPr lang="en-US"/>
          </a:p>
        </p:txBody>
      </p:sp>
      <p:sp>
        <p:nvSpPr>
          <p:cNvPr id="1449601145" name="Footer Placeholder 4"/>
          <p:cNvSpPr>
            <a:spLocks noGrp="1"/>
          </p:cNvSpPr>
          <p:nvPr>
            <p:ph type="ftr" sz="quarter" idx="11"/>
          </p:nvPr>
        </p:nvSpPr>
        <p:spPr bwMode="auto"/>
        <p:txBody>
          <a:bodyPr/>
          <a:lstStyle/>
          <a:p>
            <a:pPr>
              <a:defRPr/>
            </a:pPr>
            <a:endParaRPr lang="en-US"/>
          </a:p>
        </p:txBody>
      </p:sp>
      <p:sp>
        <p:nvSpPr>
          <p:cNvPr id="1129848696" name="Slide Number Placeholder 5"/>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202377430" name="Vertical Title 1"/>
          <p:cNvSpPr>
            <a:spLocks noGrp="1"/>
          </p:cNvSpPr>
          <p:nvPr>
            <p:ph type="title" orient="vert"/>
          </p:nvPr>
        </p:nvSpPr>
        <p:spPr bwMode="auto">
          <a:xfrm>
            <a:off x="8724899" y="365124"/>
            <a:ext cx="2628900" cy="5811837"/>
          </a:xfrm>
        </p:spPr>
        <p:txBody>
          <a:bodyPr vert="eaVert"/>
          <a:lstStyle/>
          <a:p>
            <a:pPr>
              <a:defRPr/>
            </a:pPr>
            <a:r>
              <a:rPr lang="en-US"/>
              <a:t>Click to edit Master title style</a:t>
            </a:r>
            <a:endParaRPr/>
          </a:p>
        </p:txBody>
      </p:sp>
      <p:sp>
        <p:nvSpPr>
          <p:cNvPr id="1237491770" name="Vertical Text Placeholder 2"/>
          <p:cNvSpPr>
            <a:spLocks noGrp="1"/>
          </p:cNvSpPr>
          <p:nvPr>
            <p:ph type="body" orient="vert" idx="1"/>
          </p:nvPr>
        </p:nvSpPr>
        <p:spPr bwMode="auto">
          <a:xfrm>
            <a:off x="838198" y="365124"/>
            <a:ext cx="7734299" cy="5811837"/>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2868303" name="Date Placeholder 3"/>
          <p:cNvSpPr>
            <a:spLocks noGrp="1"/>
          </p:cNvSpPr>
          <p:nvPr>
            <p:ph type="dt" sz="half" idx="10"/>
          </p:nvPr>
        </p:nvSpPr>
        <p:spPr bwMode="auto"/>
        <p:txBody>
          <a:bodyPr/>
          <a:lstStyle/>
          <a:p>
            <a:pPr>
              <a:defRPr/>
            </a:pPr>
            <a:fld id="{B8757DE2-7B70-FA18-19C5-69FDA16981F0}" type="datetime1">
              <a:rPr lang="en-US"/>
              <a:t>4/22/2026</a:t>
            </a:fld>
            <a:endParaRPr lang="en-US"/>
          </a:p>
        </p:txBody>
      </p:sp>
      <p:sp>
        <p:nvSpPr>
          <p:cNvPr id="1060406095" name="Footer Placeholder 4"/>
          <p:cNvSpPr>
            <a:spLocks noGrp="1"/>
          </p:cNvSpPr>
          <p:nvPr>
            <p:ph type="ftr" sz="quarter" idx="11"/>
          </p:nvPr>
        </p:nvSpPr>
        <p:spPr bwMode="auto"/>
        <p:txBody>
          <a:bodyPr/>
          <a:lstStyle/>
          <a:p>
            <a:pPr>
              <a:defRPr/>
            </a:pPr>
            <a:endParaRPr lang="en-US"/>
          </a:p>
        </p:txBody>
      </p:sp>
      <p:sp>
        <p:nvSpPr>
          <p:cNvPr id="199695644" name="Slide Number Placeholder 5"/>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591079358"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a:p>
        </p:txBody>
      </p:sp>
      <p:sp>
        <p:nvSpPr>
          <p:cNvPr id="474401690"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69796065" name="Date Placeholder 3"/>
          <p:cNvSpPr>
            <a:spLocks noGrp="1"/>
          </p:cNvSpPr>
          <p:nvPr>
            <p:ph type="dt" sz="half" idx="10"/>
          </p:nvPr>
        </p:nvSpPr>
        <p:spPr bwMode="auto"/>
        <p:txBody>
          <a:bodyPr/>
          <a:lstStyle/>
          <a:p>
            <a:pPr>
              <a:defRPr/>
            </a:pPr>
            <a:fld id="{22C84A13-D78D-4BCE-A0AE-31062543A14B}" type="datetime1">
              <a:rPr lang="en-US"/>
              <a:t>4/22/2026</a:t>
            </a:fld>
            <a:endParaRPr lang="en-US"/>
          </a:p>
        </p:txBody>
      </p:sp>
      <p:sp>
        <p:nvSpPr>
          <p:cNvPr id="747003127" name="Footer Placeholder 4"/>
          <p:cNvSpPr>
            <a:spLocks noGrp="1"/>
          </p:cNvSpPr>
          <p:nvPr>
            <p:ph type="ftr" sz="quarter" idx="11"/>
          </p:nvPr>
        </p:nvSpPr>
        <p:spPr bwMode="auto"/>
        <p:txBody>
          <a:bodyPr/>
          <a:lstStyle/>
          <a:p>
            <a:pPr>
              <a:defRPr/>
            </a:pPr>
            <a:endParaRPr lang="en-US"/>
          </a:p>
        </p:txBody>
      </p:sp>
      <p:sp>
        <p:nvSpPr>
          <p:cNvPr id="1808652275" name="Slide Number Placeholder 5"/>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037964194" name="Title 1"/>
          <p:cNvSpPr>
            <a:spLocks noGrp="1"/>
          </p:cNvSpPr>
          <p:nvPr>
            <p:ph type="title"/>
          </p:nvPr>
        </p:nvSpPr>
        <p:spPr bwMode="auto"/>
        <p:txBody>
          <a:bodyPr/>
          <a:lstStyle/>
          <a:p>
            <a:pPr>
              <a:defRPr/>
            </a:pPr>
            <a:r>
              <a:rPr lang="en-US"/>
              <a:t>Click to edit Master title style</a:t>
            </a:r>
            <a:endParaRPr/>
          </a:p>
        </p:txBody>
      </p:sp>
      <p:sp>
        <p:nvSpPr>
          <p:cNvPr id="145095709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62924276" name="Date Placeholder 3"/>
          <p:cNvSpPr>
            <a:spLocks noGrp="1"/>
          </p:cNvSpPr>
          <p:nvPr>
            <p:ph type="dt" sz="half" idx="10"/>
          </p:nvPr>
        </p:nvSpPr>
        <p:spPr bwMode="auto"/>
        <p:txBody>
          <a:bodyPr/>
          <a:lstStyle/>
          <a:p>
            <a:pPr>
              <a:defRPr/>
            </a:pPr>
            <a:fld id="{B3C20413-D78C-4F58-8245-DF4CBB2AF1AF}" type="datetime1">
              <a:rPr lang="en-US"/>
              <a:t>4/22/2026</a:t>
            </a:fld>
            <a:endParaRPr lang="en-US"/>
          </a:p>
        </p:txBody>
      </p:sp>
      <p:sp>
        <p:nvSpPr>
          <p:cNvPr id="1285561688" name="Footer Placeholder 4"/>
          <p:cNvSpPr>
            <a:spLocks noGrp="1"/>
          </p:cNvSpPr>
          <p:nvPr>
            <p:ph type="ftr" sz="quarter" idx="11"/>
          </p:nvPr>
        </p:nvSpPr>
        <p:spPr bwMode="auto"/>
        <p:txBody>
          <a:bodyPr/>
          <a:lstStyle/>
          <a:p>
            <a:pPr>
              <a:defRPr/>
            </a:pPr>
            <a:endParaRPr lang="en-US"/>
          </a:p>
        </p:txBody>
      </p:sp>
      <p:sp>
        <p:nvSpPr>
          <p:cNvPr id="1265023863" name="Slide Number Placeholder 5"/>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875661753"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a:p>
        </p:txBody>
      </p:sp>
      <p:sp>
        <p:nvSpPr>
          <p:cNvPr id="339815750"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333670699" name="Date Placeholder 3"/>
          <p:cNvSpPr>
            <a:spLocks noGrp="1"/>
          </p:cNvSpPr>
          <p:nvPr>
            <p:ph type="dt" sz="half" idx="10"/>
          </p:nvPr>
        </p:nvSpPr>
        <p:spPr bwMode="auto"/>
        <p:txBody>
          <a:bodyPr/>
          <a:lstStyle/>
          <a:p>
            <a:pPr>
              <a:defRPr/>
            </a:pPr>
            <a:fld id="{2CB5C703-A443-42F8-B3D0-D184712172EA}" type="datetime1">
              <a:rPr lang="en-US"/>
              <a:t>4/22/2026</a:t>
            </a:fld>
            <a:endParaRPr lang="en-US"/>
          </a:p>
        </p:txBody>
      </p:sp>
      <p:sp>
        <p:nvSpPr>
          <p:cNvPr id="145888098" name="Footer Placeholder 4"/>
          <p:cNvSpPr>
            <a:spLocks noGrp="1"/>
          </p:cNvSpPr>
          <p:nvPr>
            <p:ph type="ftr" sz="quarter" idx="11"/>
          </p:nvPr>
        </p:nvSpPr>
        <p:spPr bwMode="auto"/>
        <p:txBody>
          <a:bodyPr/>
          <a:lstStyle/>
          <a:p>
            <a:pPr>
              <a:defRPr/>
            </a:pPr>
            <a:endParaRPr lang="en-US"/>
          </a:p>
        </p:txBody>
      </p:sp>
      <p:sp>
        <p:nvSpPr>
          <p:cNvPr id="713024789" name="Slide Number Placeholder 5"/>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1688406392" name="Title 1"/>
          <p:cNvSpPr>
            <a:spLocks noGrp="1"/>
          </p:cNvSpPr>
          <p:nvPr>
            <p:ph type="title"/>
          </p:nvPr>
        </p:nvSpPr>
        <p:spPr bwMode="auto"/>
        <p:txBody>
          <a:bodyPr/>
          <a:lstStyle/>
          <a:p>
            <a:pPr>
              <a:defRPr/>
            </a:pPr>
            <a:r>
              <a:rPr lang="en-US"/>
              <a:t>Click to edit Master title style</a:t>
            </a:r>
            <a:endParaRPr/>
          </a:p>
        </p:txBody>
      </p:sp>
      <p:sp>
        <p:nvSpPr>
          <p:cNvPr id="946483330"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292906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21667211" name="Date Placeholder 4"/>
          <p:cNvSpPr>
            <a:spLocks noGrp="1"/>
          </p:cNvSpPr>
          <p:nvPr>
            <p:ph type="dt" sz="half" idx="10"/>
          </p:nvPr>
        </p:nvSpPr>
        <p:spPr bwMode="auto"/>
        <p:txBody>
          <a:bodyPr/>
          <a:lstStyle/>
          <a:p>
            <a:pPr>
              <a:defRPr/>
            </a:pPr>
            <a:fld id="{E4391EAD-DF97-4782-B04D-5BE9344419EF}" type="datetime1">
              <a:rPr lang="en-US"/>
              <a:t>4/22/2026</a:t>
            </a:fld>
            <a:endParaRPr lang="en-US"/>
          </a:p>
        </p:txBody>
      </p:sp>
      <p:sp>
        <p:nvSpPr>
          <p:cNvPr id="480199695" name="Footer Placeholder 5"/>
          <p:cNvSpPr>
            <a:spLocks noGrp="1"/>
          </p:cNvSpPr>
          <p:nvPr>
            <p:ph type="ftr" sz="quarter" idx="11"/>
          </p:nvPr>
        </p:nvSpPr>
        <p:spPr bwMode="auto"/>
        <p:txBody>
          <a:bodyPr/>
          <a:lstStyle/>
          <a:p>
            <a:pPr>
              <a:defRPr/>
            </a:pPr>
            <a:endParaRPr lang="en-US"/>
          </a:p>
        </p:txBody>
      </p:sp>
      <p:sp>
        <p:nvSpPr>
          <p:cNvPr id="282097255" name="Slide Number Placeholder 6"/>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729644366"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1980615006"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19034186"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46923131"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861050673"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74859138" name="Date Placeholder 6"/>
          <p:cNvSpPr>
            <a:spLocks noGrp="1"/>
          </p:cNvSpPr>
          <p:nvPr>
            <p:ph type="dt" sz="half" idx="10"/>
          </p:nvPr>
        </p:nvSpPr>
        <p:spPr bwMode="auto"/>
        <p:txBody>
          <a:bodyPr/>
          <a:lstStyle/>
          <a:p>
            <a:pPr>
              <a:defRPr/>
            </a:pPr>
            <a:fld id="{BF405CF0-6B5B-4A88-925A-5CFDA86C90D6}" type="datetime1">
              <a:rPr lang="en-US"/>
              <a:t>4/22/2026</a:t>
            </a:fld>
            <a:endParaRPr lang="en-US"/>
          </a:p>
        </p:txBody>
      </p:sp>
      <p:sp>
        <p:nvSpPr>
          <p:cNvPr id="381501022" name="Footer Placeholder 7"/>
          <p:cNvSpPr>
            <a:spLocks noGrp="1"/>
          </p:cNvSpPr>
          <p:nvPr>
            <p:ph type="ftr" sz="quarter" idx="11"/>
          </p:nvPr>
        </p:nvSpPr>
        <p:spPr bwMode="auto"/>
        <p:txBody>
          <a:bodyPr/>
          <a:lstStyle/>
          <a:p>
            <a:pPr>
              <a:defRPr/>
            </a:pPr>
            <a:endParaRPr lang="en-US"/>
          </a:p>
        </p:txBody>
      </p:sp>
      <p:sp>
        <p:nvSpPr>
          <p:cNvPr id="235208537" name="Slide Number Placeholder 8"/>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018870696" name="Title 1"/>
          <p:cNvSpPr>
            <a:spLocks noGrp="1"/>
          </p:cNvSpPr>
          <p:nvPr>
            <p:ph type="title"/>
          </p:nvPr>
        </p:nvSpPr>
        <p:spPr bwMode="auto"/>
        <p:txBody>
          <a:bodyPr/>
          <a:lstStyle/>
          <a:p>
            <a:pPr>
              <a:defRPr/>
            </a:pPr>
            <a:r>
              <a:rPr lang="en-US"/>
              <a:t>Click to edit Master title style</a:t>
            </a:r>
            <a:endParaRPr/>
          </a:p>
        </p:txBody>
      </p:sp>
      <p:sp>
        <p:nvSpPr>
          <p:cNvPr id="968392088" name="Date Placeholder 2"/>
          <p:cNvSpPr>
            <a:spLocks noGrp="1"/>
          </p:cNvSpPr>
          <p:nvPr>
            <p:ph type="dt" sz="half" idx="10"/>
          </p:nvPr>
        </p:nvSpPr>
        <p:spPr bwMode="auto"/>
        <p:txBody>
          <a:bodyPr/>
          <a:lstStyle/>
          <a:p>
            <a:pPr>
              <a:defRPr/>
            </a:pPr>
            <a:fld id="{D6D5525D-148C-4662-AA18-F6AEFDAA6776}" type="datetime1">
              <a:rPr lang="en-US"/>
              <a:t>4/22/2026</a:t>
            </a:fld>
            <a:endParaRPr lang="en-US"/>
          </a:p>
        </p:txBody>
      </p:sp>
      <p:sp>
        <p:nvSpPr>
          <p:cNvPr id="684948448" name="Footer Placeholder 3"/>
          <p:cNvSpPr>
            <a:spLocks noGrp="1"/>
          </p:cNvSpPr>
          <p:nvPr>
            <p:ph type="ftr" sz="quarter" idx="11"/>
          </p:nvPr>
        </p:nvSpPr>
        <p:spPr bwMode="auto"/>
        <p:txBody>
          <a:bodyPr/>
          <a:lstStyle/>
          <a:p>
            <a:pPr>
              <a:defRPr/>
            </a:pPr>
            <a:endParaRPr lang="en-US"/>
          </a:p>
        </p:txBody>
      </p:sp>
      <p:sp>
        <p:nvSpPr>
          <p:cNvPr id="1035071694" name="Slide Number Placeholder 4"/>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36448322" name="Date Placeholder 1"/>
          <p:cNvSpPr>
            <a:spLocks noGrp="1"/>
          </p:cNvSpPr>
          <p:nvPr>
            <p:ph type="dt" sz="half" idx="10"/>
          </p:nvPr>
        </p:nvSpPr>
        <p:spPr bwMode="auto"/>
        <p:txBody>
          <a:bodyPr/>
          <a:lstStyle/>
          <a:p>
            <a:pPr>
              <a:defRPr/>
            </a:pPr>
            <a:fld id="{6F2FBC8A-8540-4E09-A9D0-3E3CC9EF3F79}" type="datetime1">
              <a:rPr lang="en-US"/>
              <a:t>4/22/2026</a:t>
            </a:fld>
            <a:endParaRPr lang="en-US"/>
          </a:p>
        </p:txBody>
      </p:sp>
      <p:sp>
        <p:nvSpPr>
          <p:cNvPr id="711829717" name="Footer Placeholder 2"/>
          <p:cNvSpPr>
            <a:spLocks noGrp="1"/>
          </p:cNvSpPr>
          <p:nvPr>
            <p:ph type="ftr" sz="quarter" idx="11"/>
          </p:nvPr>
        </p:nvSpPr>
        <p:spPr bwMode="auto"/>
        <p:txBody>
          <a:bodyPr/>
          <a:lstStyle/>
          <a:p>
            <a:pPr>
              <a:defRPr/>
            </a:pPr>
            <a:endParaRPr lang="en-US"/>
          </a:p>
        </p:txBody>
      </p:sp>
      <p:sp>
        <p:nvSpPr>
          <p:cNvPr id="766167396" name="Slide Number Placeholder 3"/>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363997961"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395019050"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124622022"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78250281" name="Date Placeholder 4"/>
          <p:cNvSpPr>
            <a:spLocks noGrp="1"/>
          </p:cNvSpPr>
          <p:nvPr>
            <p:ph type="dt" sz="half" idx="10"/>
          </p:nvPr>
        </p:nvSpPr>
        <p:spPr bwMode="auto"/>
        <p:txBody>
          <a:bodyPr/>
          <a:lstStyle/>
          <a:p>
            <a:pPr>
              <a:defRPr/>
            </a:pPr>
            <a:fld id="{4DE6B050-6BDD-4194-8911-6BDD648F21F5}" type="datetime1">
              <a:rPr lang="en-US"/>
              <a:t>4/22/2026</a:t>
            </a:fld>
            <a:endParaRPr lang="en-US"/>
          </a:p>
        </p:txBody>
      </p:sp>
      <p:sp>
        <p:nvSpPr>
          <p:cNvPr id="1851810563" name="Footer Placeholder 5"/>
          <p:cNvSpPr>
            <a:spLocks noGrp="1"/>
          </p:cNvSpPr>
          <p:nvPr>
            <p:ph type="ftr" sz="quarter" idx="11"/>
          </p:nvPr>
        </p:nvSpPr>
        <p:spPr bwMode="auto"/>
        <p:txBody>
          <a:bodyPr/>
          <a:lstStyle/>
          <a:p>
            <a:pPr>
              <a:defRPr/>
            </a:pPr>
            <a:endParaRPr lang="en-US"/>
          </a:p>
        </p:txBody>
      </p:sp>
      <p:sp>
        <p:nvSpPr>
          <p:cNvPr id="1117585972" name="Slide Number Placeholder 6"/>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2057730663"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91093685"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964376632"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534292288" name="Date Placeholder 4"/>
          <p:cNvSpPr>
            <a:spLocks noGrp="1"/>
          </p:cNvSpPr>
          <p:nvPr>
            <p:ph type="dt" sz="half" idx="10"/>
          </p:nvPr>
        </p:nvSpPr>
        <p:spPr bwMode="auto"/>
        <p:txBody>
          <a:bodyPr/>
          <a:lstStyle/>
          <a:p>
            <a:pPr>
              <a:defRPr/>
            </a:pPr>
            <a:fld id="{603CBED1-6B5D-46F0-92EF-7B2770FE5F3C}" type="datetime1">
              <a:rPr lang="en-US"/>
              <a:t>4/22/2026</a:t>
            </a:fld>
            <a:endParaRPr lang="en-US"/>
          </a:p>
        </p:txBody>
      </p:sp>
      <p:sp>
        <p:nvSpPr>
          <p:cNvPr id="115196429" name="Footer Placeholder 5"/>
          <p:cNvSpPr>
            <a:spLocks noGrp="1"/>
          </p:cNvSpPr>
          <p:nvPr>
            <p:ph type="ftr" sz="quarter" idx="11"/>
          </p:nvPr>
        </p:nvSpPr>
        <p:spPr bwMode="auto"/>
        <p:txBody>
          <a:bodyPr/>
          <a:lstStyle/>
          <a:p>
            <a:pPr>
              <a:defRPr/>
            </a:pPr>
            <a:endParaRPr lang="en-US"/>
          </a:p>
        </p:txBody>
      </p:sp>
      <p:sp>
        <p:nvSpPr>
          <p:cNvPr id="812080689" name="Slide Number Placeholder 6"/>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140521199" name="Title 1"/>
          <p:cNvSpPr>
            <a:spLocks noGrp="1"/>
          </p:cNvSpPr>
          <p:nvPr>
            <p:ph type="title"/>
          </p:nvPr>
        </p:nvSpPr>
        <p:spPr bwMode="auto"/>
        <p:txBody>
          <a:bodyPr/>
          <a:lstStyle/>
          <a:p>
            <a:pPr>
              <a:defRPr/>
            </a:pPr>
            <a:r>
              <a:rPr lang="en-US"/>
              <a:t>Click to edit Master title style</a:t>
            </a:r>
            <a:endParaRPr/>
          </a:p>
        </p:txBody>
      </p:sp>
      <p:sp>
        <p:nvSpPr>
          <p:cNvPr id="75868795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97835441" name="Date Placeholder 3"/>
          <p:cNvSpPr>
            <a:spLocks noGrp="1"/>
          </p:cNvSpPr>
          <p:nvPr>
            <p:ph type="dt" sz="half" idx="10"/>
          </p:nvPr>
        </p:nvSpPr>
        <p:spPr bwMode="auto"/>
        <p:txBody>
          <a:bodyPr/>
          <a:lstStyle/>
          <a:p>
            <a:pPr>
              <a:defRPr/>
            </a:pPr>
            <a:fld id="{631B0CA1-912C-4995-A837-B6AC6D52D986}" type="datetime1">
              <a:rPr lang="en-US"/>
              <a:t>4/22/2026</a:t>
            </a:fld>
            <a:endParaRPr lang="en-US"/>
          </a:p>
        </p:txBody>
      </p:sp>
      <p:sp>
        <p:nvSpPr>
          <p:cNvPr id="309638560" name="Footer Placeholder 4"/>
          <p:cNvSpPr>
            <a:spLocks noGrp="1"/>
          </p:cNvSpPr>
          <p:nvPr>
            <p:ph type="ftr" sz="quarter" idx="11"/>
          </p:nvPr>
        </p:nvSpPr>
        <p:spPr bwMode="auto"/>
        <p:txBody>
          <a:bodyPr/>
          <a:lstStyle/>
          <a:p>
            <a:pPr>
              <a:defRPr/>
            </a:pPr>
            <a:endParaRPr lang="en-US"/>
          </a:p>
        </p:txBody>
      </p:sp>
      <p:sp>
        <p:nvSpPr>
          <p:cNvPr id="555020005" name="Slide Number Placeholder 5"/>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229589540"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471122479"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59523398" name="Date Placeholder 3"/>
          <p:cNvSpPr>
            <a:spLocks noGrp="1"/>
          </p:cNvSpPr>
          <p:nvPr>
            <p:ph type="dt" sz="half" idx="10"/>
          </p:nvPr>
        </p:nvSpPr>
        <p:spPr bwMode="auto"/>
        <p:txBody>
          <a:bodyPr/>
          <a:lstStyle/>
          <a:p>
            <a:pPr>
              <a:defRPr/>
            </a:pPr>
            <a:fld id="{DE6AEAC3-0B9F-4F5A-BA21-A2B8AF3D15A4}" type="datetime1">
              <a:rPr lang="en-US"/>
              <a:t>4/22/2026</a:t>
            </a:fld>
            <a:endParaRPr lang="en-US"/>
          </a:p>
        </p:txBody>
      </p:sp>
      <p:sp>
        <p:nvSpPr>
          <p:cNvPr id="646929722" name="Footer Placeholder 4"/>
          <p:cNvSpPr>
            <a:spLocks noGrp="1"/>
          </p:cNvSpPr>
          <p:nvPr>
            <p:ph type="ftr" sz="quarter" idx="11"/>
          </p:nvPr>
        </p:nvSpPr>
        <p:spPr bwMode="auto"/>
        <p:txBody>
          <a:bodyPr/>
          <a:lstStyle/>
          <a:p>
            <a:pPr>
              <a:defRPr/>
            </a:pPr>
            <a:endParaRPr lang="en-US"/>
          </a:p>
        </p:txBody>
      </p:sp>
      <p:sp>
        <p:nvSpPr>
          <p:cNvPr id="1142591046" name="Slide Number Placeholder 5"/>
          <p:cNvSpPr>
            <a:spLocks noGrp="1"/>
          </p:cNvSpPr>
          <p:nvPr>
            <p:ph type="sldNum" sz="quarter" idx="12"/>
          </p:nvPr>
        </p:nvSpPr>
        <p:spPr bwMode="auto"/>
        <p:txBody>
          <a:bodyPr/>
          <a:lstStyle/>
          <a:p>
            <a:pPr>
              <a:defRPr/>
            </a:pPr>
            <a:fld id="{0CE68F04-8C45-4A80-901C-428EAFDC5CAA}"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64695362" name="Title Placeholder 1"/>
          <p:cNvSpPr>
            <a:spLocks noGrp="1"/>
          </p:cNvSpPr>
          <p:nvPr>
            <p:ph type="title"/>
          </p:nvPr>
        </p:nvSpPr>
        <p:spPr bwMode="auto">
          <a:xfrm>
            <a:off x="838198" y="365124"/>
            <a:ext cx="10515600" cy="1325562"/>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595900929" name="Text Placeholder 2"/>
          <p:cNvSpPr>
            <a:spLocks noGrp="1"/>
          </p:cNvSpPr>
          <p:nvPr>
            <p:ph type="body" idx="1"/>
          </p:nvPr>
        </p:nvSpPr>
        <p:spPr bwMode="auto">
          <a:xfrm>
            <a:off x="838198" y="1825624"/>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93863120" name="Date Placeholder 3"/>
          <p:cNvSpPr>
            <a:spLocks noGrp="1"/>
          </p:cNvSpPr>
          <p:nvPr>
            <p:ph type="dt" sz="half" idx="2"/>
          </p:nvPr>
        </p:nvSpPr>
        <p:spPr bwMode="auto">
          <a:xfrm>
            <a:off x="838198" y="6356349"/>
            <a:ext cx="2743200" cy="36512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0935B1B-DD4F-4347-AA3C-262A1CF98DB1}" type="datetime1">
              <a:rPr lang="en-US"/>
              <a:t>4/22/2026</a:t>
            </a:fld>
            <a:endParaRPr lang="en-US"/>
          </a:p>
        </p:txBody>
      </p:sp>
      <p:sp>
        <p:nvSpPr>
          <p:cNvPr id="611950082" name="Footer Placeholder 4"/>
          <p:cNvSpPr>
            <a:spLocks noGrp="1"/>
          </p:cNvSpPr>
          <p:nvPr>
            <p:ph type="ftr" sz="quarter" idx="3"/>
          </p:nvPr>
        </p:nvSpPr>
        <p:spPr bwMode="auto">
          <a:xfrm>
            <a:off x="4038598" y="6356349"/>
            <a:ext cx="4114800" cy="365124"/>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449012283" name="Slide Number Placeholder 5"/>
          <p:cNvSpPr>
            <a:spLocks noGrp="1"/>
          </p:cNvSpPr>
          <p:nvPr>
            <p:ph type="sldNum" sz="quarter" idx="4"/>
          </p:nvPr>
        </p:nvSpPr>
        <p:spPr bwMode="auto">
          <a:xfrm>
            <a:off x="8610599" y="6356349"/>
            <a:ext cx="2743200" cy="36512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CE68F04-8C45-4A80-901C-428EAFDC5CAA}"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74" r:id="rId10"/>
    <p:sldLayoutId id="2147483658" r:id="rId11"/>
    <p:sldLayoutId id="2147483659" r:id="rId12"/>
    <p:sldLayoutId id="2147483660" r:id="rId13"/>
    <p:sldLayoutId id="2147483661" r:id="rId14"/>
  </p:sldLayoutIdLst>
  <p:hf hdr="0"/>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
        <p:nvSpPr>
          <p:cNvPr id="148846981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828912732"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25583122"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FD0EBF-A5E7-4AE5-BB8E-941F9EE1E271}" type="datetime1">
              <a:rPr lang="en-US"/>
              <a:t>4/22/2026</a:t>
            </a:fld>
            <a:endParaRPr lang="en-US"/>
          </a:p>
        </p:txBody>
      </p:sp>
      <p:sp>
        <p:nvSpPr>
          <p:cNvPr id="813816303"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093925660"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CE68F04-8C45-4A80-901C-428EAFDC5CAA}"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0.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sv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sz="4400" b="1" i="0" dirty="0">
                <a:solidFill>
                  <a:srgbClr val="FFFFFF"/>
                </a:solidFill>
                <a:ea typeface="Roboto" panose="02000000000000000000" pitchFamily="2" charset="0"/>
              </a:rPr>
              <a:t>WP6 — AI Skills &amp; Training</a:t>
            </a:r>
          </a:p>
        </p:txBody>
      </p:sp>
      <p:sp>
        <p:nvSpPr>
          <p:cNvPr id="3" name="Subtitle 2"/>
          <p:cNvSpPr>
            <a:spLocks noGrp="1"/>
          </p:cNvSpPr>
          <p:nvPr>
            <p:ph type="subTitle" idx="1"/>
          </p:nvPr>
        </p:nvSpPr>
        <p:spPr>
          <a:xfrm>
            <a:off x="4845125" y="3474721"/>
            <a:ext cx="6508674" cy="1783078"/>
          </a:xfrm>
        </p:spPr>
        <p:txBody>
          <a:bodyPr/>
          <a:lstStyle/>
          <a:p>
            <a:r>
              <a:rPr lang="sl-SI" sz="1800" b="1" dirty="0">
                <a:solidFill>
                  <a:srgbClr val="FFFFFF"/>
                </a:solidFill>
              </a:rPr>
              <a:t>Vida Groznik</a:t>
            </a:r>
            <a:r>
              <a:rPr lang="en-US" sz="1800" b="1" i="1" dirty="0">
                <a:solidFill>
                  <a:srgbClr val="FFFFFF"/>
                </a:solidFill>
              </a:rPr>
              <a:t> · </a:t>
            </a:r>
            <a:r>
              <a:rPr lang="sl-SI" sz="1800" b="1" dirty="0" err="1">
                <a:solidFill>
                  <a:srgbClr val="FFFFFF"/>
                </a:solidFill>
              </a:rPr>
              <a:t>University</a:t>
            </a:r>
            <a:r>
              <a:rPr lang="sl-SI" sz="1800" b="1" dirty="0">
                <a:solidFill>
                  <a:srgbClr val="FFFFFF"/>
                </a:solidFill>
              </a:rPr>
              <a:t> </a:t>
            </a:r>
            <a:r>
              <a:rPr lang="sl-SI" sz="1800" b="1" dirty="0" err="1">
                <a:solidFill>
                  <a:srgbClr val="FFFFFF"/>
                </a:solidFill>
              </a:rPr>
              <a:t>of</a:t>
            </a:r>
            <a:r>
              <a:rPr lang="sl-SI" sz="1800" b="1" dirty="0">
                <a:solidFill>
                  <a:srgbClr val="FFFFFF"/>
                </a:solidFill>
              </a:rPr>
              <a:t> Ljubljana </a:t>
            </a:r>
            <a:r>
              <a:rPr lang="en-US" sz="1800" b="1" i="1" dirty="0">
                <a:solidFill>
                  <a:srgbClr val="FFFFFF"/>
                </a:solidFill>
              </a:rPr>
              <a:t> · </a:t>
            </a:r>
            <a:r>
              <a:rPr lang="sl-SI" sz="1800" b="1" dirty="0">
                <a:solidFill>
                  <a:srgbClr val="FFFFFF"/>
                </a:solidFill>
              </a:rPr>
              <a:t>WP6 </a:t>
            </a:r>
            <a:r>
              <a:rPr lang="sl-SI" sz="1800" b="1" dirty="0" err="1">
                <a:solidFill>
                  <a:srgbClr val="FFFFFF"/>
                </a:solidFill>
              </a:rPr>
              <a:t>Lead</a:t>
            </a:r>
            <a:endParaRPr lang="sl-SI" sz="1800" b="1" dirty="0">
              <a:solidFill>
                <a:srgbClr val="FFFFFF"/>
              </a:solidFill>
            </a:endParaRPr>
          </a:p>
          <a:p>
            <a:r>
              <a:rPr lang="en-US" sz="1600" i="1" dirty="0">
                <a:solidFill>
                  <a:srgbClr val="FFFFFF"/>
                </a:solidFill>
              </a:rPr>
              <a:t>SLAIF Mid-Term Review  ·  Months 1–7 Progress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3"/>
          </p:nvPr>
        </p:nvSpPr>
        <p:spPr>
          <a:xfrm>
            <a:off x="4845124" y="3602037"/>
            <a:ext cx="6787007" cy="1655761"/>
          </a:xfrm>
        </p:spPr>
        <p:txBody>
          <a:bodyPr/>
          <a:lstStyle/>
          <a:p>
            <a:pPr algn="l"/>
            <a:r>
              <a:rPr sz="2200" b="1" dirty="0">
                <a:solidFill>
                  <a:srgbClr val="1C2B33"/>
                </a:solidFill>
                <a:latin typeface="Roboto Condensed" panose="02000000000000000000" pitchFamily="2" charset="0"/>
                <a:ea typeface="Roboto Condensed" panose="02000000000000000000" pitchFamily="2" charset="0"/>
              </a:rPr>
              <a:t>Infrastructure without skills is an empty </a:t>
            </a:r>
            <a:r>
              <a:rPr lang="sl-SI" b="1" dirty="0" err="1">
                <a:solidFill>
                  <a:srgbClr val="1C2B33"/>
                </a:solidFill>
                <a:latin typeface="Roboto Condensed" panose="02000000000000000000" pitchFamily="2" charset="0"/>
                <a:ea typeface="Roboto Condensed" panose="02000000000000000000" pitchFamily="2" charset="0"/>
              </a:rPr>
              <a:t>computing</a:t>
            </a:r>
            <a:r>
              <a:rPr sz="2200" b="1" dirty="0">
                <a:solidFill>
                  <a:srgbClr val="1C2B33"/>
                </a:solidFill>
                <a:latin typeface="Roboto Condensed" panose="02000000000000000000" pitchFamily="2" charset="0"/>
                <a:ea typeface="Roboto Condensed" panose="02000000000000000000" pitchFamily="2" charset="0"/>
              </a:rPr>
              <a:t> </a:t>
            </a:r>
            <a:r>
              <a:rPr sz="2200" b="1" dirty="0" err="1">
                <a:solidFill>
                  <a:srgbClr val="1C2B33"/>
                </a:solidFill>
                <a:latin typeface="Roboto Condensed" panose="02000000000000000000" pitchFamily="2" charset="0"/>
                <a:ea typeface="Roboto Condensed" panose="02000000000000000000" pitchFamily="2" charset="0"/>
              </a:rPr>
              <a:t>centre</a:t>
            </a:r>
            <a:r>
              <a:rPr sz="2200" b="1" dirty="0">
                <a:solidFill>
                  <a:srgbClr val="1C2B33"/>
                </a:solidFill>
                <a:latin typeface="Roboto Condensed" panose="02000000000000000000" pitchFamily="2" charset="0"/>
                <a:ea typeface="Roboto Condensed" panose="02000000000000000000" pitchFamily="2" charset="0"/>
              </a:rPr>
              <a:t>.</a:t>
            </a:r>
          </a:p>
          <a:p>
            <a:pPr algn="l"/>
            <a:r>
              <a:rPr sz="1600" dirty="0">
                <a:solidFill>
                  <a:srgbClr val="556670"/>
                </a:solidFill>
                <a:latin typeface="Roboto Condensed" panose="02000000000000000000" pitchFamily="2" charset="0"/>
                <a:ea typeface="Roboto Condensed" panose="02000000000000000000" pitchFamily="2" charset="0"/>
              </a:rPr>
              <a:t>WP6 builds the Slovenian AI &amp; HPC talent pipeline — from doctoral students to SME decision-makers — that will put SLAIF's 100-petaflop supercomputer and its service portfolio to work across industry, academia and the public sector.</a:t>
            </a:r>
          </a:p>
        </p:txBody>
      </p:sp>
      <p:sp>
        <p:nvSpPr>
          <p:cNvPr id="3" name="Title 2"/>
          <p:cNvSpPr>
            <a:spLocks noGrp="1"/>
          </p:cNvSpPr>
          <p:nvPr>
            <p:ph type="title"/>
          </p:nvPr>
        </p:nvSpPr>
        <p:spPr/>
        <p:txBody>
          <a:bodyPr/>
          <a:lstStyle/>
          <a:p>
            <a:pPr algn="l"/>
            <a:r>
              <a:rPr sz="3600" b="1" i="0" dirty="0">
                <a:solidFill>
                  <a:srgbClr val="145B6E"/>
                </a:solidFill>
                <a:ea typeface="Roboto" panose="02000000000000000000" pitchFamily="2" charset="0"/>
              </a:rPr>
              <a:t>Why WP6 matters for SLAIF</a:t>
            </a:r>
          </a:p>
        </p:txBody>
      </p:sp>
      <p:sp>
        <p:nvSpPr>
          <p:cNvPr id="4" name="Date Placeholder 1">
            <a:extLst>
              <a:ext uri="{FF2B5EF4-FFF2-40B4-BE49-F238E27FC236}">
                <a16:creationId xmlns:a16="http://schemas.microsoft.com/office/drawing/2014/main" id="{CEBCA8C3-B8D4-4F0E-9F22-DEA09F9DB545}"/>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5" name="Footer Placeholder 2">
            <a:extLst>
              <a:ext uri="{FF2B5EF4-FFF2-40B4-BE49-F238E27FC236}">
                <a16:creationId xmlns:a16="http://schemas.microsoft.com/office/drawing/2014/main" id="{DE321888-65FA-438A-9908-4186BE856762}"/>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6" name="Slide Number Placeholder 3">
            <a:extLst>
              <a:ext uri="{FF2B5EF4-FFF2-40B4-BE49-F238E27FC236}">
                <a16:creationId xmlns:a16="http://schemas.microsoft.com/office/drawing/2014/main" id="{326AA927-A319-4993-897D-B2FC6BE0CA9F}"/>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rPr>
              <a:t>WP6 at a glance</a:t>
            </a:r>
          </a:p>
        </p:txBody>
      </p:sp>
      <p:sp>
        <p:nvSpPr>
          <p:cNvPr id="3" name="TextBox 2"/>
          <p:cNvSpPr txBox="1"/>
          <p:nvPr/>
        </p:nvSpPr>
        <p:spPr>
          <a:xfrm>
            <a:off x="502920" y="1005840"/>
            <a:ext cx="11247120" cy="263662"/>
          </a:xfrm>
          <a:prstGeom prst="rect">
            <a:avLst/>
          </a:prstGeom>
          <a:noFill/>
        </p:spPr>
        <p:txBody>
          <a:bodyPr wrap="square" lIns="0" tIns="0" rIns="0" bIns="0" anchor="t">
            <a:spAutoFit/>
          </a:bodyPr>
          <a:lstStyle/>
          <a:p>
            <a:pPr algn="l">
              <a:lnSpc>
                <a:spcPct val="115000"/>
              </a:lnSpc>
            </a:pPr>
            <a:r>
              <a:rPr sz="1600" b="0" i="1" dirty="0">
                <a:solidFill>
                  <a:srgbClr val="556670"/>
                </a:solidFill>
              </a:rPr>
              <a:t>Lead: University of Ljubljana  ·  Start M1  ·  End M36  ·  All 10 consortium partners active</a:t>
            </a:r>
          </a:p>
        </p:txBody>
      </p:sp>
      <p:sp>
        <p:nvSpPr>
          <p:cNvPr id="4" name="Rounded Rectangle 3"/>
          <p:cNvSpPr/>
          <p:nvPr/>
        </p:nvSpPr>
        <p:spPr>
          <a:xfrm>
            <a:off x="490575" y="1828800"/>
            <a:ext cx="2651760" cy="2103120"/>
          </a:xfrm>
          <a:prstGeom prst="roundRect">
            <a:avLst>
              <a:gd name="adj" fmla="val 8000"/>
            </a:avLst>
          </a:prstGeom>
          <a:solidFill>
            <a:srgbClr val="F2F6F8"/>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0575" y="2057400"/>
            <a:ext cx="2651760" cy="988732"/>
          </a:xfrm>
          <a:prstGeom prst="rect">
            <a:avLst/>
          </a:prstGeom>
          <a:noFill/>
        </p:spPr>
        <p:txBody>
          <a:bodyPr wrap="square" lIns="0" tIns="0" rIns="0" bIns="0" anchor="t">
            <a:spAutoFit/>
          </a:bodyPr>
          <a:lstStyle/>
          <a:p>
            <a:pPr algn="ctr">
              <a:lnSpc>
                <a:spcPct val="115000"/>
              </a:lnSpc>
            </a:pPr>
            <a:r>
              <a:rPr sz="6000" b="1" i="0" dirty="0">
                <a:solidFill>
                  <a:srgbClr val="1B8AA7"/>
                </a:solidFill>
                <a:latin typeface="+mj-lt"/>
              </a:rPr>
              <a:t>4</a:t>
            </a:r>
          </a:p>
        </p:txBody>
      </p:sp>
      <p:sp>
        <p:nvSpPr>
          <p:cNvPr id="6" name="TextBox 5"/>
          <p:cNvSpPr txBox="1"/>
          <p:nvPr/>
        </p:nvSpPr>
        <p:spPr>
          <a:xfrm>
            <a:off x="490575" y="2880360"/>
            <a:ext cx="2651760" cy="230704"/>
          </a:xfrm>
          <a:prstGeom prst="rect">
            <a:avLst/>
          </a:prstGeom>
          <a:noFill/>
        </p:spPr>
        <p:txBody>
          <a:bodyPr wrap="square" lIns="0" tIns="0" rIns="0" bIns="0" anchor="t">
            <a:spAutoFit/>
          </a:bodyPr>
          <a:lstStyle/>
          <a:p>
            <a:pPr algn="ctr">
              <a:lnSpc>
                <a:spcPct val="115000"/>
              </a:lnSpc>
            </a:pPr>
            <a:r>
              <a:rPr sz="1400" b="1" i="0" dirty="0">
                <a:solidFill>
                  <a:srgbClr val="1C2B33"/>
                </a:solidFill>
              </a:rPr>
              <a:t>Tasks</a:t>
            </a:r>
          </a:p>
        </p:txBody>
      </p:sp>
      <p:sp>
        <p:nvSpPr>
          <p:cNvPr id="7" name="TextBox 6"/>
          <p:cNvSpPr txBox="1"/>
          <p:nvPr/>
        </p:nvSpPr>
        <p:spPr>
          <a:xfrm>
            <a:off x="627735" y="3246120"/>
            <a:ext cx="2377440" cy="480966"/>
          </a:xfrm>
          <a:prstGeom prst="rect">
            <a:avLst/>
          </a:prstGeom>
          <a:noFill/>
        </p:spPr>
        <p:txBody>
          <a:bodyPr wrap="square" lIns="0" tIns="0" rIns="0" bIns="0" anchor="t">
            <a:spAutoFit/>
          </a:bodyPr>
          <a:lstStyle/>
          <a:p>
            <a:pPr algn="ctr">
              <a:lnSpc>
                <a:spcPct val="115000"/>
              </a:lnSpc>
            </a:pPr>
            <a:r>
              <a:rPr sz="1400" b="0" i="0" dirty="0">
                <a:solidFill>
                  <a:srgbClr val="556670"/>
                </a:solidFill>
              </a:rPr>
              <a:t>Talent · </a:t>
            </a:r>
            <a:r>
              <a:rPr sz="1400" b="0" i="0" dirty="0" err="1">
                <a:solidFill>
                  <a:srgbClr val="556670"/>
                </a:solidFill>
              </a:rPr>
              <a:t>Customisation</a:t>
            </a:r>
            <a:r>
              <a:rPr sz="1400" b="0" i="0" dirty="0">
                <a:solidFill>
                  <a:srgbClr val="556670"/>
                </a:solidFill>
              </a:rPr>
              <a:t> ·</a:t>
            </a:r>
          </a:p>
          <a:p>
            <a:pPr algn="ctr">
              <a:lnSpc>
                <a:spcPct val="115000"/>
              </a:lnSpc>
            </a:pPr>
            <a:r>
              <a:rPr sz="1400" b="0" i="0" dirty="0">
                <a:solidFill>
                  <a:srgbClr val="556670"/>
                </a:solidFill>
              </a:rPr>
              <a:t>SME engagement · Onboarding</a:t>
            </a:r>
          </a:p>
        </p:txBody>
      </p:sp>
      <p:sp>
        <p:nvSpPr>
          <p:cNvPr id="8" name="Rounded Rectangle 7"/>
          <p:cNvSpPr/>
          <p:nvPr/>
        </p:nvSpPr>
        <p:spPr>
          <a:xfrm>
            <a:off x="3343503" y="1828800"/>
            <a:ext cx="2651760" cy="2103120"/>
          </a:xfrm>
          <a:prstGeom prst="roundRect">
            <a:avLst>
              <a:gd name="adj" fmla="val 8000"/>
            </a:avLst>
          </a:prstGeom>
          <a:solidFill>
            <a:srgbClr val="F2F6F8"/>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43503" y="2057400"/>
            <a:ext cx="2651760" cy="988732"/>
          </a:xfrm>
          <a:prstGeom prst="rect">
            <a:avLst/>
          </a:prstGeom>
          <a:noFill/>
        </p:spPr>
        <p:txBody>
          <a:bodyPr wrap="square" lIns="0" tIns="0" rIns="0" bIns="0" anchor="t">
            <a:spAutoFit/>
          </a:bodyPr>
          <a:lstStyle/>
          <a:p>
            <a:pPr algn="ctr">
              <a:lnSpc>
                <a:spcPct val="115000"/>
              </a:lnSpc>
            </a:pPr>
            <a:r>
              <a:rPr sz="6000" b="1" i="0" dirty="0">
                <a:solidFill>
                  <a:srgbClr val="1B8AA7"/>
                </a:solidFill>
                <a:latin typeface="+mj-lt"/>
              </a:rPr>
              <a:t>338</a:t>
            </a:r>
          </a:p>
        </p:txBody>
      </p:sp>
      <p:sp>
        <p:nvSpPr>
          <p:cNvPr id="10" name="TextBox 9"/>
          <p:cNvSpPr txBox="1"/>
          <p:nvPr/>
        </p:nvSpPr>
        <p:spPr>
          <a:xfrm>
            <a:off x="3343503" y="2880360"/>
            <a:ext cx="2651760" cy="230704"/>
          </a:xfrm>
          <a:prstGeom prst="rect">
            <a:avLst/>
          </a:prstGeom>
          <a:noFill/>
        </p:spPr>
        <p:txBody>
          <a:bodyPr wrap="square" lIns="0" tIns="0" rIns="0" bIns="0" anchor="t">
            <a:spAutoFit/>
          </a:bodyPr>
          <a:lstStyle/>
          <a:p>
            <a:pPr algn="ctr">
              <a:lnSpc>
                <a:spcPct val="115000"/>
              </a:lnSpc>
            </a:pPr>
            <a:r>
              <a:rPr sz="1400" b="1" i="0" dirty="0">
                <a:solidFill>
                  <a:srgbClr val="1C2B33"/>
                </a:solidFill>
                <a:latin typeface="Roboto Condensed" panose="02000000000000000000" pitchFamily="2" charset="0"/>
                <a:ea typeface="Roboto Condensed" panose="02000000000000000000" pitchFamily="2" charset="0"/>
              </a:rPr>
              <a:t>Person-months</a:t>
            </a:r>
          </a:p>
        </p:txBody>
      </p:sp>
      <p:sp>
        <p:nvSpPr>
          <p:cNvPr id="11" name="TextBox 10"/>
          <p:cNvSpPr txBox="1"/>
          <p:nvPr/>
        </p:nvSpPr>
        <p:spPr>
          <a:xfrm>
            <a:off x="3480663" y="3246120"/>
            <a:ext cx="2377440" cy="480966"/>
          </a:xfrm>
          <a:prstGeom prst="rect">
            <a:avLst/>
          </a:prstGeom>
          <a:noFill/>
        </p:spPr>
        <p:txBody>
          <a:bodyPr wrap="square" lIns="0" tIns="0" rIns="0" bIns="0" anchor="t">
            <a:spAutoFit/>
          </a:bodyPr>
          <a:lstStyle/>
          <a:p>
            <a:pPr algn="ctr">
              <a:lnSpc>
                <a:spcPct val="115000"/>
              </a:lnSpc>
            </a:pPr>
            <a:r>
              <a:rPr sz="1400" b="0" i="0" dirty="0">
                <a:solidFill>
                  <a:srgbClr val="556670"/>
                </a:solidFill>
                <a:latin typeface="Roboto Condensed" panose="02000000000000000000" pitchFamily="2" charset="0"/>
                <a:ea typeface="Roboto Condensed" panose="02000000000000000000" pitchFamily="2" charset="0"/>
              </a:rPr>
              <a:t>Total planned effort across</a:t>
            </a:r>
          </a:p>
          <a:p>
            <a:pPr algn="ctr">
              <a:lnSpc>
                <a:spcPct val="115000"/>
              </a:lnSpc>
            </a:pPr>
            <a:r>
              <a:rPr sz="1400" b="0" i="0" dirty="0">
                <a:solidFill>
                  <a:srgbClr val="556670"/>
                </a:solidFill>
                <a:latin typeface="Roboto Condensed" panose="02000000000000000000" pitchFamily="2" charset="0"/>
                <a:ea typeface="Roboto Condensed" panose="02000000000000000000" pitchFamily="2" charset="0"/>
              </a:rPr>
              <a:t>the 36-month project</a:t>
            </a:r>
          </a:p>
        </p:txBody>
      </p:sp>
      <p:sp>
        <p:nvSpPr>
          <p:cNvPr id="12" name="Rounded Rectangle 11"/>
          <p:cNvSpPr/>
          <p:nvPr/>
        </p:nvSpPr>
        <p:spPr>
          <a:xfrm>
            <a:off x="6196431" y="1828800"/>
            <a:ext cx="2651760" cy="2103120"/>
          </a:xfrm>
          <a:prstGeom prst="roundRect">
            <a:avLst>
              <a:gd name="adj" fmla="val 8000"/>
            </a:avLst>
          </a:prstGeom>
          <a:solidFill>
            <a:srgbClr val="F2F6F8"/>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96431" y="2057400"/>
            <a:ext cx="2651760" cy="988732"/>
          </a:xfrm>
          <a:prstGeom prst="rect">
            <a:avLst/>
          </a:prstGeom>
          <a:noFill/>
        </p:spPr>
        <p:txBody>
          <a:bodyPr wrap="square" lIns="0" tIns="0" rIns="0" bIns="0" anchor="t">
            <a:spAutoFit/>
          </a:bodyPr>
          <a:lstStyle/>
          <a:p>
            <a:pPr algn="ctr">
              <a:lnSpc>
                <a:spcPct val="115000"/>
              </a:lnSpc>
            </a:pPr>
            <a:r>
              <a:rPr sz="6000" b="1" i="0" dirty="0">
                <a:solidFill>
                  <a:srgbClr val="1B8AA7"/>
                </a:solidFill>
                <a:latin typeface="+mj-lt"/>
              </a:rPr>
              <a:t>10</a:t>
            </a:r>
          </a:p>
        </p:txBody>
      </p:sp>
      <p:sp>
        <p:nvSpPr>
          <p:cNvPr id="14" name="TextBox 13"/>
          <p:cNvSpPr txBox="1"/>
          <p:nvPr/>
        </p:nvSpPr>
        <p:spPr>
          <a:xfrm>
            <a:off x="6196431" y="2880360"/>
            <a:ext cx="2651760" cy="230704"/>
          </a:xfrm>
          <a:prstGeom prst="rect">
            <a:avLst/>
          </a:prstGeom>
          <a:noFill/>
        </p:spPr>
        <p:txBody>
          <a:bodyPr wrap="square" lIns="0" tIns="0" rIns="0" bIns="0" anchor="t">
            <a:spAutoFit/>
          </a:bodyPr>
          <a:lstStyle/>
          <a:p>
            <a:pPr algn="ctr">
              <a:lnSpc>
                <a:spcPct val="115000"/>
              </a:lnSpc>
            </a:pPr>
            <a:r>
              <a:rPr sz="1400" b="1" i="0" dirty="0">
                <a:solidFill>
                  <a:srgbClr val="1C2B33"/>
                </a:solidFill>
                <a:latin typeface="Roboto Condensed" panose="02000000000000000000" pitchFamily="2" charset="0"/>
                <a:ea typeface="Roboto Condensed" panose="02000000000000000000" pitchFamily="2" charset="0"/>
              </a:rPr>
              <a:t>Partners</a:t>
            </a:r>
          </a:p>
        </p:txBody>
      </p:sp>
      <p:sp>
        <p:nvSpPr>
          <p:cNvPr id="15" name="TextBox 14"/>
          <p:cNvSpPr txBox="1"/>
          <p:nvPr/>
        </p:nvSpPr>
        <p:spPr>
          <a:xfrm>
            <a:off x="6294664" y="3246120"/>
            <a:ext cx="2453367" cy="480966"/>
          </a:xfrm>
          <a:prstGeom prst="rect">
            <a:avLst/>
          </a:prstGeom>
          <a:noFill/>
        </p:spPr>
        <p:txBody>
          <a:bodyPr wrap="square" lIns="0" tIns="0" rIns="0" bIns="0" anchor="t">
            <a:spAutoFit/>
          </a:bodyPr>
          <a:lstStyle/>
          <a:p>
            <a:pPr algn="ctr">
              <a:lnSpc>
                <a:spcPct val="115000"/>
              </a:lnSpc>
            </a:pPr>
            <a:r>
              <a:rPr sz="1400" b="0" i="0" dirty="0">
                <a:solidFill>
                  <a:srgbClr val="556670"/>
                </a:solidFill>
                <a:latin typeface="Roboto Condensed" panose="02000000000000000000" pitchFamily="2" charset="0"/>
                <a:ea typeface="Roboto Condensed" panose="02000000000000000000" pitchFamily="2" charset="0"/>
              </a:rPr>
              <a:t>Universities, research institutes,</a:t>
            </a:r>
          </a:p>
          <a:p>
            <a:pPr algn="ctr">
              <a:lnSpc>
                <a:spcPct val="115000"/>
              </a:lnSpc>
            </a:pPr>
            <a:r>
              <a:rPr sz="1400" b="0" i="0" dirty="0">
                <a:solidFill>
                  <a:srgbClr val="556670"/>
                </a:solidFill>
                <a:latin typeface="Roboto Condensed" panose="02000000000000000000" pitchFamily="2" charset="0"/>
                <a:ea typeface="Roboto Condensed" panose="02000000000000000000" pitchFamily="2" charset="0"/>
              </a:rPr>
              <a:t>chamber of commerce, tech park</a:t>
            </a:r>
          </a:p>
        </p:txBody>
      </p:sp>
      <p:sp>
        <p:nvSpPr>
          <p:cNvPr id="16" name="Rounded Rectangle 15"/>
          <p:cNvSpPr/>
          <p:nvPr/>
        </p:nvSpPr>
        <p:spPr>
          <a:xfrm>
            <a:off x="9049359" y="1828800"/>
            <a:ext cx="2651760" cy="2103120"/>
          </a:xfrm>
          <a:prstGeom prst="roundRect">
            <a:avLst>
              <a:gd name="adj" fmla="val 8000"/>
            </a:avLst>
          </a:prstGeom>
          <a:solidFill>
            <a:srgbClr val="F2F6F8"/>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49359" y="2057400"/>
            <a:ext cx="2651760" cy="988732"/>
          </a:xfrm>
          <a:prstGeom prst="rect">
            <a:avLst/>
          </a:prstGeom>
          <a:noFill/>
        </p:spPr>
        <p:txBody>
          <a:bodyPr wrap="square" lIns="0" tIns="0" rIns="0" bIns="0" anchor="t">
            <a:spAutoFit/>
          </a:bodyPr>
          <a:lstStyle/>
          <a:p>
            <a:pPr algn="ctr">
              <a:lnSpc>
                <a:spcPct val="115000"/>
              </a:lnSpc>
            </a:pPr>
            <a:r>
              <a:rPr sz="6000" b="1" i="0" dirty="0">
                <a:solidFill>
                  <a:srgbClr val="1B8AA7"/>
                </a:solidFill>
                <a:latin typeface="+mj-lt"/>
              </a:rPr>
              <a:t>3</a:t>
            </a:r>
          </a:p>
        </p:txBody>
      </p:sp>
      <p:sp>
        <p:nvSpPr>
          <p:cNvPr id="18" name="TextBox 17"/>
          <p:cNvSpPr txBox="1"/>
          <p:nvPr/>
        </p:nvSpPr>
        <p:spPr>
          <a:xfrm>
            <a:off x="9049359" y="2880360"/>
            <a:ext cx="2651760" cy="230704"/>
          </a:xfrm>
          <a:prstGeom prst="rect">
            <a:avLst/>
          </a:prstGeom>
          <a:noFill/>
        </p:spPr>
        <p:txBody>
          <a:bodyPr wrap="square" lIns="0" tIns="0" rIns="0" bIns="0" anchor="t">
            <a:spAutoFit/>
          </a:bodyPr>
          <a:lstStyle/>
          <a:p>
            <a:pPr algn="ctr">
              <a:lnSpc>
                <a:spcPct val="115000"/>
              </a:lnSpc>
            </a:pPr>
            <a:r>
              <a:rPr sz="1400" b="1" i="0" dirty="0">
                <a:solidFill>
                  <a:srgbClr val="1C2B33"/>
                </a:solidFill>
                <a:latin typeface="Roboto Condensed" panose="02000000000000000000" pitchFamily="2" charset="0"/>
                <a:ea typeface="Roboto Condensed" panose="02000000000000000000" pitchFamily="2" charset="0"/>
              </a:rPr>
              <a:t>Regional hubs</a:t>
            </a:r>
          </a:p>
        </p:txBody>
      </p:sp>
      <p:sp>
        <p:nvSpPr>
          <p:cNvPr id="19" name="TextBox 18"/>
          <p:cNvSpPr txBox="1"/>
          <p:nvPr/>
        </p:nvSpPr>
        <p:spPr>
          <a:xfrm>
            <a:off x="9127671" y="3246120"/>
            <a:ext cx="2498272" cy="728726"/>
          </a:xfrm>
          <a:prstGeom prst="rect">
            <a:avLst/>
          </a:prstGeom>
          <a:noFill/>
        </p:spPr>
        <p:txBody>
          <a:bodyPr wrap="square" lIns="0" tIns="0" rIns="0" bIns="0" anchor="t">
            <a:spAutoFit/>
          </a:bodyPr>
          <a:lstStyle/>
          <a:p>
            <a:pPr algn="ctr">
              <a:lnSpc>
                <a:spcPct val="115000"/>
              </a:lnSpc>
            </a:pPr>
            <a:r>
              <a:rPr sz="1400" b="0" i="0" dirty="0">
                <a:solidFill>
                  <a:srgbClr val="556670"/>
                </a:solidFill>
              </a:rPr>
              <a:t>Ljubljana · Maribor · Novo mesto</a:t>
            </a:r>
          </a:p>
          <a:p>
            <a:pPr algn="ctr">
              <a:lnSpc>
                <a:spcPct val="115000"/>
              </a:lnSpc>
            </a:pPr>
            <a:r>
              <a:rPr sz="1400" b="0" i="0" dirty="0">
                <a:solidFill>
                  <a:srgbClr val="556670"/>
                </a:solidFill>
              </a:rPr>
              <a:t>+ extensions in Koper &amp; Nova </a:t>
            </a:r>
            <a:r>
              <a:rPr sz="1400" b="0" i="0" dirty="0" err="1">
                <a:solidFill>
                  <a:srgbClr val="556670"/>
                </a:solidFill>
              </a:rPr>
              <a:t>Gorica</a:t>
            </a:r>
            <a:endParaRPr sz="1400" b="0" i="0" dirty="0">
              <a:solidFill>
                <a:srgbClr val="556670"/>
              </a:solidFill>
            </a:endParaRPr>
          </a:p>
        </p:txBody>
      </p:sp>
      <p:sp>
        <p:nvSpPr>
          <p:cNvPr id="20" name="Rounded Rectangle 19"/>
          <p:cNvSpPr/>
          <p:nvPr/>
        </p:nvSpPr>
        <p:spPr>
          <a:xfrm>
            <a:off x="502920" y="4389120"/>
            <a:ext cx="11201400" cy="1737360"/>
          </a:xfrm>
          <a:prstGeom prst="roundRect">
            <a:avLst>
              <a:gd name="adj" fmla="val 4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4572000"/>
            <a:ext cx="10652760" cy="299826"/>
          </a:xfrm>
          <a:prstGeom prst="rect">
            <a:avLst/>
          </a:prstGeom>
          <a:noFill/>
        </p:spPr>
        <p:txBody>
          <a:bodyPr wrap="square" lIns="0" tIns="0" rIns="0" bIns="0" anchor="t">
            <a:spAutoFit/>
          </a:bodyPr>
          <a:lstStyle/>
          <a:p>
            <a:pPr algn="l">
              <a:lnSpc>
                <a:spcPct val="115000"/>
              </a:lnSpc>
            </a:pPr>
            <a:r>
              <a:rPr b="1" i="0" dirty="0">
                <a:solidFill>
                  <a:srgbClr val="145B6E"/>
                </a:solidFill>
                <a:latin typeface="Roboto" panose="02000000000000000000" pitchFamily="2" charset="0"/>
                <a:ea typeface="Roboto" panose="02000000000000000000" pitchFamily="2" charset="0"/>
              </a:rPr>
              <a:t>Mission</a:t>
            </a:r>
          </a:p>
        </p:txBody>
      </p:sp>
      <p:sp>
        <p:nvSpPr>
          <p:cNvPr id="22" name="TextBox 21"/>
          <p:cNvSpPr txBox="1"/>
          <p:nvPr/>
        </p:nvSpPr>
        <p:spPr>
          <a:xfrm>
            <a:off x="777240" y="4937760"/>
            <a:ext cx="10652760" cy="841577"/>
          </a:xfrm>
          <a:prstGeom prst="rect">
            <a:avLst/>
          </a:prstGeom>
          <a:noFill/>
        </p:spPr>
        <p:txBody>
          <a:bodyPr wrap="square" lIns="0" tIns="0" rIns="0" bIns="0" anchor="t">
            <a:spAutoFit/>
          </a:bodyPr>
          <a:lstStyle/>
          <a:p>
            <a:pPr algn="l">
              <a:lnSpc>
                <a:spcPct val="125000"/>
              </a:lnSpc>
            </a:pPr>
            <a:r>
              <a:rPr sz="1500" b="0" i="1" dirty="0">
                <a:solidFill>
                  <a:srgbClr val="1C2B33"/>
                </a:solidFill>
                <a:latin typeface="Roboto Condensed" panose="02000000000000000000" pitchFamily="2" charset="0"/>
                <a:ea typeface="Roboto Condensed" panose="02000000000000000000" pitchFamily="2" charset="0"/>
              </a:rPr>
              <a:t>Develop AI and HPC talent through </a:t>
            </a:r>
            <a:r>
              <a:rPr sz="1500" b="0" i="1" dirty="0" err="1">
                <a:solidFill>
                  <a:srgbClr val="1C2B33"/>
                </a:solidFill>
                <a:latin typeface="Roboto Condensed" panose="02000000000000000000" pitchFamily="2" charset="0"/>
                <a:ea typeface="Roboto Condensed" panose="02000000000000000000" pitchFamily="2" charset="0"/>
              </a:rPr>
              <a:t>customised</a:t>
            </a:r>
            <a:r>
              <a:rPr sz="1500" b="0" i="1" dirty="0">
                <a:solidFill>
                  <a:srgbClr val="1C2B33"/>
                </a:solidFill>
                <a:latin typeface="Roboto Condensed" panose="02000000000000000000" pitchFamily="2" charset="0"/>
                <a:ea typeface="Roboto Condensed" panose="02000000000000000000" pitchFamily="2" charset="0"/>
              </a:rPr>
              <a:t> training </a:t>
            </a:r>
            <a:r>
              <a:rPr sz="1500" b="0" i="1" dirty="0" err="1">
                <a:solidFill>
                  <a:srgbClr val="1C2B33"/>
                </a:solidFill>
                <a:latin typeface="Roboto Condensed" panose="02000000000000000000" pitchFamily="2" charset="0"/>
                <a:ea typeface="Roboto Condensed" panose="02000000000000000000" pitchFamily="2" charset="0"/>
              </a:rPr>
              <a:t>programmes</a:t>
            </a:r>
            <a:r>
              <a:rPr sz="1500" b="0" i="1" dirty="0">
                <a:solidFill>
                  <a:srgbClr val="1C2B33"/>
                </a:solidFill>
                <a:latin typeface="Roboto Condensed" panose="02000000000000000000" pitchFamily="2" charset="0"/>
                <a:ea typeface="Roboto Condensed" panose="02000000000000000000" pitchFamily="2" charset="0"/>
              </a:rPr>
              <a:t> that address the needs of diverse users — students, professionals, SMEs and public sector — foster SME engagement through accessible learning pathways, and establish onboarding activities that support new users in integrating AI into their workflows.</a:t>
            </a:r>
          </a:p>
        </p:txBody>
      </p:sp>
      <p:sp>
        <p:nvSpPr>
          <p:cNvPr id="23" name="Date Placeholder 1">
            <a:extLst>
              <a:ext uri="{FF2B5EF4-FFF2-40B4-BE49-F238E27FC236}">
                <a16:creationId xmlns:a16="http://schemas.microsoft.com/office/drawing/2014/main" id="{C647FCB7-A5ED-4E24-B782-00FEA39C7E4D}"/>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24" name="Footer Placeholder 2">
            <a:extLst>
              <a:ext uri="{FF2B5EF4-FFF2-40B4-BE49-F238E27FC236}">
                <a16:creationId xmlns:a16="http://schemas.microsoft.com/office/drawing/2014/main" id="{F2D17081-E64E-4116-BC36-14E2CA15DEF2}"/>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25" name="Slide Number Placeholder 3">
            <a:extLst>
              <a:ext uri="{FF2B5EF4-FFF2-40B4-BE49-F238E27FC236}">
                <a16:creationId xmlns:a16="http://schemas.microsoft.com/office/drawing/2014/main" id="{967F903E-26E8-427C-84F1-2D29ED7D10D1}"/>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rPr>
              <a:t>The four-task architecture of WP6</a:t>
            </a:r>
          </a:p>
        </p:txBody>
      </p:sp>
      <p:sp>
        <p:nvSpPr>
          <p:cNvPr id="3" name="TextBox 2"/>
          <p:cNvSpPr txBox="1"/>
          <p:nvPr/>
        </p:nvSpPr>
        <p:spPr>
          <a:xfrm>
            <a:off x="502920" y="1005840"/>
            <a:ext cx="11247120" cy="263662"/>
          </a:xfrm>
          <a:prstGeom prst="rect">
            <a:avLst/>
          </a:prstGeom>
          <a:noFill/>
        </p:spPr>
        <p:txBody>
          <a:bodyPr wrap="square" lIns="0" tIns="0" rIns="0" bIns="0" anchor="t">
            <a:spAutoFit/>
          </a:bodyPr>
          <a:lstStyle/>
          <a:p>
            <a:pPr algn="l">
              <a:lnSpc>
                <a:spcPct val="115000"/>
              </a:lnSpc>
            </a:pPr>
            <a:r>
              <a:rPr sz="1600" b="0" i="1" dirty="0">
                <a:solidFill>
                  <a:srgbClr val="556670"/>
                </a:solidFill>
                <a:latin typeface="Roboto Condensed" panose="02000000000000000000" pitchFamily="2" charset="0"/>
                <a:ea typeface="Roboto Condensed" panose="02000000000000000000" pitchFamily="2" charset="0"/>
              </a:rPr>
              <a:t>Each task owned by a different institution — effort mirrors strategic weight</a:t>
            </a:r>
          </a:p>
        </p:txBody>
      </p:sp>
      <p:sp>
        <p:nvSpPr>
          <p:cNvPr id="4" name="Rounded Rectangle 3"/>
          <p:cNvSpPr/>
          <p:nvPr/>
        </p:nvSpPr>
        <p:spPr>
          <a:xfrm>
            <a:off x="453999" y="1737360"/>
            <a:ext cx="2697480" cy="4023360"/>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3999" y="1737360"/>
            <a:ext cx="2697480" cy="777240"/>
          </a:xfrm>
          <a:prstGeom prst="rect">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3999" y="1847088"/>
            <a:ext cx="2697480" cy="428451"/>
          </a:xfrm>
          <a:prstGeom prst="rect">
            <a:avLst/>
          </a:prstGeom>
          <a:noFill/>
        </p:spPr>
        <p:txBody>
          <a:bodyPr wrap="square" lIns="0" tIns="0" rIns="0" bIns="0" anchor="t">
            <a:spAutoFit/>
          </a:bodyPr>
          <a:lstStyle/>
          <a:p>
            <a:pPr algn="ctr">
              <a:lnSpc>
                <a:spcPct val="115000"/>
              </a:lnSpc>
            </a:pPr>
            <a:r>
              <a:rPr sz="2600" b="1" i="0" dirty="0">
                <a:solidFill>
                  <a:srgbClr val="FFFFFF"/>
                </a:solidFill>
                <a:latin typeface="+mj-lt"/>
              </a:rPr>
              <a:t>T6.1</a:t>
            </a:r>
          </a:p>
        </p:txBody>
      </p:sp>
      <p:sp>
        <p:nvSpPr>
          <p:cNvPr id="7" name="TextBox 6"/>
          <p:cNvSpPr txBox="1"/>
          <p:nvPr/>
        </p:nvSpPr>
        <p:spPr>
          <a:xfrm>
            <a:off x="591159" y="2697480"/>
            <a:ext cx="2423160" cy="299826"/>
          </a:xfrm>
          <a:prstGeom prst="rect">
            <a:avLst/>
          </a:prstGeom>
          <a:noFill/>
        </p:spPr>
        <p:txBody>
          <a:bodyPr wrap="square" lIns="0" tIns="0" rIns="0" bIns="0" anchor="t">
            <a:spAutoFit/>
          </a:bodyPr>
          <a:lstStyle/>
          <a:p>
            <a:pPr algn="ctr">
              <a:lnSpc>
                <a:spcPct val="115000"/>
              </a:lnSpc>
            </a:pPr>
            <a:r>
              <a:rPr b="1" i="0" dirty="0">
                <a:solidFill>
                  <a:srgbClr val="1C2B33"/>
                </a:solidFill>
                <a:latin typeface="Roboto Condensed" panose="02000000000000000000" pitchFamily="2" charset="0"/>
                <a:ea typeface="Roboto Condensed" panose="02000000000000000000" pitchFamily="2" charset="0"/>
              </a:rPr>
              <a:t>AI Talent Development</a:t>
            </a:r>
          </a:p>
        </p:txBody>
      </p:sp>
      <p:sp>
        <p:nvSpPr>
          <p:cNvPr id="8" name="TextBox 7"/>
          <p:cNvSpPr txBox="1"/>
          <p:nvPr/>
        </p:nvSpPr>
        <p:spPr>
          <a:xfrm>
            <a:off x="591159" y="3749040"/>
            <a:ext cx="2423160" cy="266483"/>
          </a:xfrm>
          <a:prstGeom prst="rect">
            <a:avLst/>
          </a:prstGeom>
          <a:noFill/>
        </p:spPr>
        <p:txBody>
          <a:bodyPr wrap="square" lIns="0" tIns="0" rIns="0" bIns="0" anchor="t">
            <a:spAutoFit/>
          </a:bodyPr>
          <a:lstStyle/>
          <a:p>
            <a:pPr algn="ctr">
              <a:lnSpc>
                <a:spcPct val="115000"/>
              </a:lnSpc>
            </a:pPr>
            <a:r>
              <a:rPr sz="1600" b="1" i="0" dirty="0">
                <a:solidFill>
                  <a:srgbClr val="145B6E"/>
                </a:solidFill>
                <a:latin typeface="Roboto Condensed" panose="02000000000000000000" pitchFamily="2" charset="0"/>
                <a:ea typeface="Roboto Condensed" panose="02000000000000000000" pitchFamily="2" charset="0"/>
              </a:rPr>
              <a:t>Lead: UL FRI</a:t>
            </a:r>
          </a:p>
        </p:txBody>
      </p:sp>
      <p:cxnSp>
        <p:nvCxnSpPr>
          <p:cNvPr id="10" name="Connector 9"/>
          <p:cNvCxnSpPr/>
          <p:nvPr/>
        </p:nvCxnSpPr>
        <p:spPr>
          <a:xfrm>
            <a:off x="0" y="4462272"/>
            <a:ext cx="0" cy="0"/>
          </a:xfrm>
          <a:prstGeom prst="line">
            <a:avLst/>
          </a:prstGeom>
          <a:ln w="6350">
            <a:solidFill>
              <a:srgbClr val="D8E0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36879" y="4572000"/>
            <a:ext cx="2331720" cy="516167"/>
          </a:xfrm>
          <a:prstGeom prst="rect">
            <a:avLst/>
          </a:prstGeom>
          <a:noFill/>
        </p:spPr>
        <p:txBody>
          <a:bodyPr wrap="square" lIns="0" tIns="0" rIns="0" bIns="0" anchor="t">
            <a:spAutoFit/>
          </a:bodyPr>
          <a:lstStyle/>
          <a:p>
            <a:pPr algn="ctr">
              <a:lnSpc>
                <a:spcPct val="125000"/>
              </a:lnSpc>
            </a:pPr>
            <a:r>
              <a:rPr sz="1400" b="0" i="0" dirty="0">
                <a:solidFill>
                  <a:srgbClr val="556670"/>
                </a:solidFill>
                <a:latin typeface="Roboto Condensed" panose="02000000000000000000" pitchFamily="2" charset="0"/>
                <a:ea typeface="Roboto Condensed" panose="02000000000000000000" pitchFamily="2" charset="0"/>
              </a:rPr>
              <a:t>Curricula · micro-credentials ·</a:t>
            </a:r>
          </a:p>
          <a:p>
            <a:pPr algn="ctr">
              <a:lnSpc>
                <a:spcPct val="125000"/>
              </a:lnSpc>
            </a:pPr>
            <a:r>
              <a:rPr sz="1400" b="0" i="0" dirty="0">
                <a:solidFill>
                  <a:srgbClr val="556670"/>
                </a:solidFill>
                <a:latin typeface="Roboto Condensed" panose="02000000000000000000" pitchFamily="2" charset="0"/>
                <a:ea typeface="Roboto Condensed" panose="02000000000000000000" pitchFamily="2" charset="0"/>
              </a:rPr>
              <a:t>MOOC · train-the-trainer · registry</a:t>
            </a:r>
          </a:p>
        </p:txBody>
      </p:sp>
      <p:sp>
        <p:nvSpPr>
          <p:cNvPr id="12" name="Rounded Rectangle 11"/>
          <p:cNvSpPr/>
          <p:nvPr/>
        </p:nvSpPr>
        <p:spPr>
          <a:xfrm>
            <a:off x="3316071" y="1737360"/>
            <a:ext cx="2697480" cy="4023360"/>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16071" y="1737360"/>
            <a:ext cx="2697480" cy="777240"/>
          </a:xfrm>
          <a:prstGeom prst="rect">
            <a:avLst/>
          </a:prstGeom>
          <a:solidFill>
            <a:srgbClr val="14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16071" y="1847088"/>
            <a:ext cx="2697480" cy="428451"/>
          </a:xfrm>
          <a:prstGeom prst="rect">
            <a:avLst/>
          </a:prstGeom>
          <a:noFill/>
        </p:spPr>
        <p:txBody>
          <a:bodyPr wrap="square" lIns="0" tIns="0" rIns="0" bIns="0" anchor="t">
            <a:spAutoFit/>
          </a:bodyPr>
          <a:lstStyle/>
          <a:p>
            <a:pPr algn="ctr">
              <a:lnSpc>
                <a:spcPct val="115000"/>
              </a:lnSpc>
            </a:pPr>
            <a:r>
              <a:rPr sz="2600" b="1" i="0" dirty="0">
                <a:solidFill>
                  <a:srgbClr val="FFFFFF"/>
                </a:solidFill>
                <a:latin typeface="+mj-lt"/>
              </a:rPr>
              <a:t>T6.2</a:t>
            </a:r>
          </a:p>
        </p:txBody>
      </p:sp>
      <p:sp>
        <p:nvSpPr>
          <p:cNvPr id="15" name="TextBox 14"/>
          <p:cNvSpPr txBox="1"/>
          <p:nvPr/>
        </p:nvSpPr>
        <p:spPr>
          <a:xfrm>
            <a:off x="3453231" y="2697480"/>
            <a:ext cx="2423160" cy="618374"/>
          </a:xfrm>
          <a:prstGeom prst="rect">
            <a:avLst/>
          </a:prstGeom>
          <a:noFill/>
        </p:spPr>
        <p:txBody>
          <a:bodyPr wrap="square" lIns="0" tIns="0" rIns="0" bIns="0" anchor="t">
            <a:spAutoFit/>
          </a:bodyPr>
          <a:lstStyle/>
          <a:p>
            <a:pPr algn="ctr">
              <a:lnSpc>
                <a:spcPct val="115000"/>
              </a:lnSpc>
            </a:pPr>
            <a:r>
              <a:rPr b="1" i="0" dirty="0" err="1">
                <a:solidFill>
                  <a:srgbClr val="1C2B33"/>
                </a:solidFill>
                <a:latin typeface="Roboto Condensed" panose="02000000000000000000" pitchFamily="2" charset="0"/>
                <a:ea typeface="Roboto Condensed" panose="02000000000000000000" pitchFamily="2" charset="0"/>
              </a:rPr>
              <a:t>Customising</a:t>
            </a:r>
            <a:r>
              <a:rPr b="1" i="0" dirty="0">
                <a:solidFill>
                  <a:srgbClr val="1C2B33"/>
                </a:solidFill>
                <a:latin typeface="Roboto Condensed" panose="02000000000000000000" pitchFamily="2" charset="0"/>
                <a:ea typeface="Roboto Condensed" panose="02000000000000000000" pitchFamily="2" charset="0"/>
              </a:rPr>
              <a:t> Training</a:t>
            </a:r>
          </a:p>
          <a:p>
            <a:pPr algn="ctr">
              <a:lnSpc>
                <a:spcPct val="115000"/>
              </a:lnSpc>
            </a:pPr>
            <a:r>
              <a:rPr b="1" i="0" dirty="0">
                <a:solidFill>
                  <a:srgbClr val="1C2B33"/>
                </a:solidFill>
                <a:latin typeface="Roboto Condensed" panose="02000000000000000000" pitchFamily="2" charset="0"/>
                <a:ea typeface="Roboto Condensed" panose="02000000000000000000" pitchFamily="2" charset="0"/>
              </a:rPr>
              <a:t>for Diverse Users</a:t>
            </a:r>
          </a:p>
        </p:txBody>
      </p:sp>
      <p:sp>
        <p:nvSpPr>
          <p:cNvPr id="16" name="TextBox 15"/>
          <p:cNvSpPr txBox="1"/>
          <p:nvPr/>
        </p:nvSpPr>
        <p:spPr>
          <a:xfrm>
            <a:off x="3453231" y="3749040"/>
            <a:ext cx="2423160" cy="266483"/>
          </a:xfrm>
          <a:prstGeom prst="rect">
            <a:avLst/>
          </a:prstGeom>
          <a:noFill/>
        </p:spPr>
        <p:txBody>
          <a:bodyPr wrap="square" lIns="0" tIns="0" rIns="0" bIns="0" anchor="t">
            <a:spAutoFit/>
          </a:bodyPr>
          <a:lstStyle/>
          <a:p>
            <a:pPr algn="ctr">
              <a:lnSpc>
                <a:spcPct val="115000"/>
              </a:lnSpc>
            </a:pPr>
            <a:r>
              <a:rPr sz="1600" b="1" i="0" dirty="0">
                <a:solidFill>
                  <a:srgbClr val="145B6E"/>
                </a:solidFill>
                <a:latin typeface="Roboto Condensed" panose="02000000000000000000" pitchFamily="2" charset="0"/>
                <a:ea typeface="Roboto Condensed" panose="02000000000000000000" pitchFamily="2" charset="0"/>
              </a:rPr>
              <a:t>Lead: UM FERI</a:t>
            </a:r>
          </a:p>
        </p:txBody>
      </p:sp>
      <p:cxnSp>
        <p:nvCxnSpPr>
          <p:cNvPr id="18" name="Connector 17"/>
          <p:cNvCxnSpPr/>
          <p:nvPr/>
        </p:nvCxnSpPr>
        <p:spPr>
          <a:xfrm>
            <a:off x="0" y="4462272"/>
            <a:ext cx="0" cy="0"/>
          </a:xfrm>
          <a:prstGeom prst="line">
            <a:avLst/>
          </a:prstGeom>
          <a:ln w="6350">
            <a:solidFill>
              <a:srgbClr val="D8E0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98951" y="4572000"/>
            <a:ext cx="2331720" cy="787973"/>
          </a:xfrm>
          <a:prstGeom prst="rect">
            <a:avLst/>
          </a:prstGeom>
          <a:noFill/>
        </p:spPr>
        <p:txBody>
          <a:bodyPr wrap="square" lIns="0" tIns="0" rIns="0" bIns="0" anchor="t">
            <a:spAutoFit/>
          </a:bodyPr>
          <a:lstStyle/>
          <a:p>
            <a:pPr algn="ctr">
              <a:lnSpc>
                <a:spcPct val="125000"/>
              </a:lnSpc>
            </a:pPr>
            <a:r>
              <a:rPr sz="1400" b="0" i="0" dirty="0">
                <a:solidFill>
                  <a:srgbClr val="556670"/>
                </a:solidFill>
                <a:latin typeface="Roboto Condensed" panose="02000000000000000000" pitchFamily="2" charset="0"/>
                <a:ea typeface="Roboto Condensed" panose="02000000000000000000" pitchFamily="2" charset="0"/>
              </a:rPr>
              <a:t>Needs analysis · 3-level</a:t>
            </a:r>
            <a:r>
              <a:rPr lang="sl-SI" sz="1400" b="0" i="0" dirty="0">
                <a:solidFill>
                  <a:srgbClr val="556670"/>
                </a:solidFill>
                <a:latin typeface="Roboto Condensed" panose="02000000000000000000" pitchFamily="2" charset="0"/>
                <a:ea typeface="Roboto Condensed" panose="02000000000000000000" pitchFamily="2" charset="0"/>
              </a:rPr>
              <a:t> </a:t>
            </a:r>
            <a:r>
              <a:rPr sz="1400" b="0" i="0" dirty="0">
                <a:solidFill>
                  <a:srgbClr val="556670"/>
                </a:solidFill>
                <a:latin typeface="Roboto Condensed" panose="02000000000000000000" pitchFamily="2" charset="0"/>
                <a:ea typeface="Roboto Condensed" panose="02000000000000000000" pitchFamily="2" charset="0"/>
              </a:rPr>
              <a:t>pathway ·</a:t>
            </a:r>
            <a:r>
              <a:rPr lang="sl-SI" sz="1400" b="0" i="0" dirty="0">
                <a:solidFill>
                  <a:srgbClr val="556670"/>
                </a:solidFill>
                <a:latin typeface="Roboto Condensed" panose="02000000000000000000" pitchFamily="2" charset="0"/>
                <a:ea typeface="Roboto Condensed" panose="02000000000000000000" pitchFamily="2" charset="0"/>
              </a:rPr>
              <a:t> </a:t>
            </a:r>
            <a:r>
              <a:rPr sz="1400" b="0" i="0" dirty="0">
                <a:solidFill>
                  <a:srgbClr val="556670"/>
                </a:solidFill>
                <a:latin typeface="Roboto Condensed" panose="02000000000000000000" pitchFamily="2" charset="0"/>
                <a:ea typeface="Roboto Condensed" panose="02000000000000000000" pitchFamily="2" charset="0"/>
              </a:rPr>
              <a:t>sector-specific modules · MOOC content</a:t>
            </a:r>
          </a:p>
        </p:txBody>
      </p:sp>
      <p:sp>
        <p:nvSpPr>
          <p:cNvPr id="20" name="Rounded Rectangle 19"/>
          <p:cNvSpPr/>
          <p:nvPr/>
        </p:nvSpPr>
        <p:spPr>
          <a:xfrm>
            <a:off x="6178143" y="1737360"/>
            <a:ext cx="2697480" cy="4023360"/>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8143" y="1737360"/>
            <a:ext cx="2697480" cy="777240"/>
          </a:xfrm>
          <a:prstGeom prst="rect">
            <a:avLst/>
          </a:prstGeom>
          <a:solidFill>
            <a:srgbClr val="6F9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78143" y="1847088"/>
            <a:ext cx="2697480" cy="428451"/>
          </a:xfrm>
          <a:prstGeom prst="rect">
            <a:avLst/>
          </a:prstGeom>
          <a:noFill/>
        </p:spPr>
        <p:txBody>
          <a:bodyPr wrap="square" lIns="0" tIns="0" rIns="0" bIns="0" anchor="t">
            <a:spAutoFit/>
          </a:bodyPr>
          <a:lstStyle/>
          <a:p>
            <a:pPr algn="ctr">
              <a:lnSpc>
                <a:spcPct val="115000"/>
              </a:lnSpc>
            </a:pPr>
            <a:r>
              <a:rPr sz="2600" b="1" i="0" dirty="0">
                <a:solidFill>
                  <a:srgbClr val="FFFFFF"/>
                </a:solidFill>
                <a:latin typeface="+mj-lt"/>
              </a:rPr>
              <a:t>T6.3</a:t>
            </a:r>
          </a:p>
        </p:txBody>
      </p:sp>
      <p:sp>
        <p:nvSpPr>
          <p:cNvPr id="23" name="TextBox 22"/>
          <p:cNvSpPr txBox="1"/>
          <p:nvPr/>
        </p:nvSpPr>
        <p:spPr>
          <a:xfrm>
            <a:off x="6315303" y="2697480"/>
            <a:ext cx="2423160" cy="618374"/>
          </a:xfrm>
          <a:prstGeom prst="rect">
            <a:avLst/>
          </a:prstGeom>
          <a:noFill/>
        </p:spPr>
        <p:txBody>
          <a:bodyPr wrap="square" lIns="0" tIns="0" rIns="0" bIns="0" anchor="t">
            <a:spAutoFit/>
          </a:bodyPr>
          <a:lstStyle/>
          <a:p>
            <a:pPr algn="ctr">
              <a:lnSpc>
                <a:spcPct val="115000"/>
              </a:lnSpc>
            </a:pPr>
            <a:r>
              <a:rPr b="1" i="0" dirty="0">
                <a:solidFill>
                  <a:srgbClr val="1C2B33"/>
                </a:solidFill>
                <a:latin typeface="Roboto Condensed" panose="02000000000000000000" pitchFamily="2" charset="0"/>
                <a:ea typeface="Roboto Condensed" panose="02000000000000000000" pitchFamily="2" charset="0"/>
              </a:rPr>
              <a:t>SME &amp; Industry</a:t>
            </a:r>
          </a:p>
          <a:p>
            <a:pPr algn="ctr">
              <a:lnSpc>
                <a:spcPct val="115000"/>
              </a:lnSpc>
            </a:pPr>
            <a:r>
              <a:rPr b="1" i="0" dirty="0">
                <a:solidFill>
                  <a:srgbClr val="1C2B33"/>
                </a:solidFill>
                <a:latin typeface="Roboto Condensed" panose="02000000000000000000" pitchFamily="2" charset="0"/>
                <a:ea typeface="Roboto Condensed" panose="02000000000000000000" pitchFamily="2" charset="0"/>
              </a:rPr>
              <a:t>Engagement</a:t>
            </a:r>
          </a:p>
        </p:txBody>
      </p:sp>
      <p:sp>
        <p:nvSpPr>
          <p:cNvPr id="24" name="TextBox 23"/>
          <p:cNvSpPr txBox="1"/>
          <p:nvPr/>
        </p:nvSpPr>
        <p:spPr>
          <a:xfrm>
            <a:off x="6315303" y="3749040"/>
            <a:ext cx="2423160" cy="266483"/>
          </a:xfrm>
          <a:prstGeom prst="rect">
            <a:avLst/>
          </a:prstGeom>
          <a:noFill/>
        </p:spPr>
        <p:txBody>
          <a:bodyPr wrap="square" lIns="0" tIns="0" rIns="0" bIns="0" anchor="t">
            <a:spAutoFit/>
          </a:bodyPr>
          <a:lstStyle/>
          <a:p>
            <a:pPr algn="ctr">
              <a:lnSpc>
                <a:spcPct val="115000"/>
              </a:lnSpc>
            </a:pPr>
            <a:r>
              <a:rPr sz="1600" b="1" i="0" dirty="0">
                <a:solidFill>
                  <a:srgbClr val="145B6E"/>
                </a:solidFill>
                <a:latin typeface="Roboto Condensed" panose="02000000000000000000" pitchFamily="2" charset="0"/>
                <a:ea typeface="Roboto Condensed" panose="02000000000000000000" pitchFamily="2" charset="0"/>
              </a:rPr>
              <a:t>Lead: JSI</a:t>
            </a:r>
          </a:p>
        </p:txBody>
      </p:sp>
      <p:cxnSp>
        <p:nvCxnSpPr>
          <p:cNvPr id="26" name="Connector 25"/>
          <p:cNvCxnSpPr/>
          <p:nvPr/>
        </p:nvCxnSpPr>
        <p:spPr>
          <a:xfrm>
            <a:off x="0" y="4462272"/>
            <a:ext cx="0" cy="0"/>
          </a:xfrm>
          <a:prstGeom prst="line">
            <a:avLst/>
          </a:prstGeom>
          <a:ln w="6350">
            <a:solidFill>
              <a:srgbClr val="D8E0E4"/>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61023" y="4572000"/>
            <a:ext cx="2331720" cy="787973"/>
          </a:xfrm>
          <a:prstGeom prst="rect">
            <a:avLst/>
          </a:prstGeom>
          <a:noFill/>
        </p:spPr>
        <p:txBody>
          <a:bodyPr wrap="square" lIns="0" tIns="0" rIns="0" bIns="0" anchor="t">
            <a:spAutoFit/>
          </a:bodyPr>
          <a:lstStyle/>
          <a:p>
            <a:pPr algn="ctr">
              <a:lnSpc>
                <a:spcPct val="125000"/>
              </a:lnSpc>
            </a:pPr>
            <a:r>
              <a:rPr sz="1400" b="0" i="0" dirty="0">
                <a:solidFill>
                  <a:srgbClr val="556670"/>
                </a:solidFill>
                <a:latin typeface="Roboto Condensed" panose="02000000000000000000" pitchFamily="2" charset="0"/>
                <a:ea typeface="Roboto Condensed" panose="02000000000000000000" pitchFamily="2" charset="0"/>
              </a:rPr>
              <a:t>AI Industry Days · case studies ·</a:t>
            </a:r>
          </a:p>
          <a:p>
            <a:pPr algn="ctr">
              <a:lnSpc>
                <a:spcPct val="125000"/>
              </a:lnSpc>
            </a:pPr>
            <a:r>
              <a:rPr sz="1400" b="0" i="0" dirty="0">
                <a:solidFill>
                  <a:srgbClr val="556670"/>
                </a:solidFill>
                <a:latin typeface="Roboto Condensed" panose="02000000000000000000" pitchFamily="2" charset="0"/>
                <a:ea typeface="Roboto Condensed" panose="02000000000000000000" pitchFamily="2" charset="0"/>
              </a:rPr>
              <a:t>polls &amp; feedback · SME-tailored training</a:t>
            </a:r>
          </a:p>
        </p:txBody>
      </p:sp>
      <p:sp>
        <p:nvSpPr>
          <p:cNvPr id="28" name="Rounded Rectangle 27"/>
          <p:cNvSpPr/>
          <p:nvPr/>
        </p:nvSpPr>
        <p:spPr>
          <a:xfrm>
            <a:off x="9040215" y="1737360"/>
            <a:ext cx="2697480" cy="4023360"/>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040215" y="1737360"/>
            <a:ext cx="2697480" cy="777240"/>
          </a:xfrm>
          <a:prstGeom prst="rect">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40215" y="1847088"/>
            <a:ext cx="2697480" cy="428451"/>
          </a:xfrm>
          <a:prstGeom prst="rect">
            <a:avLst/>
          </a:prstGeom>
          <a:noFill/>
        </p:spPr>
        <p:txBody>
          <a:bodyPr wrap="square" lIns="0" tIns="0" rIns="0" bIns="0" anchor="t">
            <a:spAutoFit/>
          </a:bodyPr>
          <a:lstStyle/>
          <a:p>
            <a:pPr algn="ctr">
              <a:lnSpc>
                <a:spcPct val="115000"/>
              </a:lnSpc>
            </a:pPr>
            <a:r>
              <a:rPr sz="2600" b="1" i="0" dirty="0">
                <a:solidFill>
                  <a:srgbClr val="FFFFFF"/>
                </a:solidFill>
                <a:latin typeface="+mj-lt"/>
              </a:rPr>
              <a:t>T6.4</a:t>
            </a:r>
          </a:p>
        </p:txBody>
      </p:sp>
      <p:sp>
        <p:nvSpPr>
          <p:cNvPr id="31" name="TextBox 30"/>
          <p:cNvSpPr txBox="1"/>
          <p:nvPr/>
        </p:nvSpPr>
        <p:spPr>
          <a:xfrm>
            <a:off x="9177375" y="2697480"/>
            <a:ext cx="2423160" cy="618374"/>
          </a:xfrm>
          <a:prstGeom prst="rect">
            <a:avLst/>
          </a:prstGeom>
          <a:noFill/>
        </p:spPr>
        <p:txBody>
          <a:bodyPr wrap="square" lIns="0" tIns="0" rIns="0" bIns="0" anchor="t">
            <a:spAutoFit/>
          </a:bodyPr>
          <a:lstStyle/>
          <a:p>
            <a:pPr algn="ctr">
              <a:lnSpc>
                <a:spcPct val="115000"/>
              </a:lnSpc>
            </a:pPr>
            <a:r>
              <a:rPr b="1" i="0" dirty="0">
                <a:solidFill>
                  <a:srgbClr val="1C2B33"/>
                </a:solidFill>
                <a:latin typeface="Roboto Condensed" panose="02000000000000000000" pitchFamily="2" charset="0"/>
                <a:ea typeface="Roboto Condensed" panose="02000000000000000000" pitchFamily="2" charset="0"/>
              </a:rPr>
              <a:t>Onboarding Activities</a:t>
            </a:r>
          </a:p>
          <a:p>
            <a:pPr algn="ctr">
              <a:lnSpc>
                <a:spcPct val="115000"/>
              </a:lnSpc>
            </a:pPr>
            <a:r>
              <a:rPr b="1" i="0" dirty="0">
                <a:solidFill>
                  <a:srgbClr val="1C2B33"/>
                </a:solidFill>
                <a:latin typeface="Roboto Condensed" panose="02000000000000000000" pitchFamily="2" charset="0"/>
                <a:ea typeface="Roboto Condensed" panose="02000000000000000000" pitchFamily="2" charset="0"/>
              </a:rPr>
              <a:t>for New Users</a:t>
            </a:r>
          </a:p>
        </p:txBody>
      </p:sp>
      <p:sp>
        <p:nvSpPr>
          <p:cNvPr id="32" name="TextBox 31"/>
          <p:cNvSpPr txBox="1"/>
          <p:nvPr/>
        </p:nvSpPr>
        <p:spPr>
          <a:xfrm>
            <a:off x="9177375" y="3749040"/>
            <a:ext cx="2423160" cy="266483"/>
          </a:xfrm>
          <a:prstGeom prst="rect">
            <a:avLst/>
          </a:prstGeom>
          <a:noFill/>
        </p:spPr>
        <p:txBody>
          <a:bodyPr wrap="square" lIns="0" tIns="0" rIns="0" bIns="0" anchor="t">
            <a:spAutoFit/>
          </a:bodyPr>
          <a:lstStyle/>
          <a:p>
            <a:pPr algn="ctr">
              <a:lnSpc>
                <a:spcPct val="115000"/>
              </a:lnSpc>
            </a:pPr>
            <a:r>
              <a:rPr sz="1600" b="1" i="0" dirty="0">
                <a:solidFill>
                  <a:srgbClr val="145B6E"/>
                </a:solidFill>
                <a:latin typeface="Roboto Condensed" panose="02000000000000000000" pitchFamily="2" charset="0"/>
                <a:ea typeface="Roboto Condensed" panose="02000000000000000000" pitchFamily="2" charset="0"/>
              </a:rPr>
              <a:t>Lead: FIS</a:t>
            </a:r>
          </a:p>
        </p:txBody>
      </p:sp>
      <p:cxnSp>
        <p:nvCxnSpPr>
          <p:cNvPr id="34" name="Connector 33"/>
          <p:cNvCxnSpPr/>
          <p:nvPr/>
        </p:nvCxnSpPr>
        <p:spPr>
          <a:xfrm>
            <a:off x="0" y="4462272"/>
            <a:ext cx="0" cy="0"/>
          </a:xfrm>
          <a:prstGeom prst="line">
            <a:avLst/>
          </a:prstGeom>
          <a:ln w="6350">
            <a:solidFill>
              <a:srgbClr val="D8E0E4"/>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223095" y="4572000"/>
            <a:ext cx="2331720" cy="787973"/>
          </a:xfrm>
          <a:prstGeom prst="rect">
            <a:avLst/>
          </a:prstGeom>
          <a:noFill/>
        </p:spPr>
        <p:txBody>
          <a:bodyPr wrap="square" lIns="0" tIns="0" rIns="0" bIns="0" anchor="t">
            <a:spAutoFit/>
          </a:bodyPr>
          <a:lstStyle/>
          <a:p>
            <a:pPr algn="ctr">
              <a:lnSpc>
                <a:spcPct val="125000"/>
              </a:lnSpc>
            </a:pPr>
            <a:r>
              <a:rPr sz="1400" b="0" i="0" dirty="0">
                <a:solidFill>
                  <a:srgbClr val="556670"/>
                </a:solidFill>
                <a:latin typeface="Roboto Condensed" panose="02000000000000000000" pitchFamily="2" charset="0"/>
                <a:ea typeface="Roboto Condensed" panose="02000000000000000000" pitchFamily="2" charset="0"/>
              </a:rPr>
              <a:t>Regional hubs · helpdesk · orientation</a:t>
            </a:r>
            <a:r>
              <a:rPr lang="sl-SI" sz="1400" b="0" i="0" dirty="0">
                <a:solidFill>
                  <a:srgbClr val="556670"/>
                </a:solidFill>
                <a:latin typeface="Roboto Condensed" panose="02000000000000000000" pitchFamily="2" charset="0"/>
                <a:ea typeface="Roboto Condensed" panose="02000000000000000000" pitchFamily="2" charset="0"/>
              </a:rPr>
              <a:t> </a:t>
            </a:r>
            <a:r>
              <a:rPr sz="1400" b="0" i="0" dirty="0">
                <a:solidFill>
                  <a:srgbClr val="556670"/>
                </a:solidFill>
                <a:latin typeface="Roboto Condensed" panose="02000000000000000000" pitchFamily="2" charset="0"/>
                <a:ea typeface="Roboto Condensed" panose="02000000000000000000" pitchFamily="2" charset="0"/>
              </a:rPr>
              <a:t>materials · site visits · consultancy</a:t>
            </a:r>
          </a:p>
        </p:txBody>
      </p:sp>
      <p:sp>
        <p:nvSpPr>
          <p:cNvPr id="36" name="TextBox 35"/>
          <p:cNvSpPr txBox="1"/>
          <p:nvPr/>
        </p:nvSpPr>
        <p:spPr>
          <a:xfrm>
            <a:off x="502920" y="5989320"/>
            <a:ext cx="11201400" cy="233205"/>
          </a:xfrm>
          <a:prstGeom prst="rect">
            <a:avLst/>
          </a:prstGeom>
          <a:noFill/>
        </p:spPr>
        <p:txBody>
          <a:bodyPr wrap="square" lIns="0" tIns="0" rIns="0" bIns="0" anchor="t">
            <a:spAutoFit/>
          </a:bodyPr>
          <a:lstStyle/>
          <a:p>
            <a:pPr algn="ctr">
              <a:lnSpc>
                <a:spcPct val="115000"/>
              </a:lnSpc>
            </a:pPr>
            <a:r>
              <a:rPr sz="1400" b="0" i="1" dirty="0">
                <a:solidFill>
                  <a:srgbClr val="556670"/>
                </a:solidFill>
              </a:rPr>
              <a:t>All 10 partners contribute to at least two tasks. Weekly WP6 coordination meetings have run since October 2025.</a:t>
            </a:r>
          </a:p>
        </p:txBody>
      </p:sp>
      <p:sp>
        <p:nvSpPr>
          <p:cNvPr id="37" name="Date Placeholder 1">
            <a:extLst>
              <a:ext uri="{FF2B5EF4-FFF2-40B4-BE49-F238E27FC236}">
                <a16:creationId xmlns:a16="http://schemas.microsoft.com/office/drawing/2014/main" id="{5DF3FFE0-E196-4CFA-973B-F3025CCFA9A4}"/>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38" name="Footer Placeholder 2">
            <a:extLst>
              <a:ext uri="{FF2B5EF4-FFF2-40B4-BE49-F238E27FC236}">
                <a16:creationId xmlns:a16="http://schemas.microsoft.com/office/drawing/2014/main" id="{58F79332-1FC5-4456-92AA-31D404539E1E}"/>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39" name="Slide Number Placeholder 3">
            <a:extLst>
              <a:ext uri="{FF2B5EF4-FFF2-40B4-BE49-F238E27FC236}">
                <a16:creationId xmlns:a16="http://schemas.microsoft.com/office/drawing/2014/main" id="{0366068B-9302-4011-8348-7BD76D8C3950}"/>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sz="2200" b="0" dirty="0">
                <a:solidFill>
                  <a:srgbClr val="8FBC2F"/>
                </a:solidFill>
                <a:latin typeface="Roboto Condensed" panose="02000000000000000000" pitchFamily="2" charset="0"/>
                <a:ea typeface="Roboto Condensed" panose="02000000000000000000" pitchFamily="2" charset="0"/>
              </a:rPr>
              <a:t>Part I</a:t>
            </a:r>
            <a:r>
              <a:rPr lang="en-US" sz="2200" b="0" dirty="0">
                <a:solidFill>
                  <a:srgbClr val="8FBC2F"/>
                </a:solidFill>
                <a:latin typeface="Roboto Condensed" panose="02000000000000000000" pitchFamily="2" charset="0"/>
                <a:ea typeface="Roboto Condensed" panose="02000000000000000000" pitchFamily="2" charset="0"/>
              </a:rPr>
              <a:t>I</a:t>
            </a:r>
            <a:endParaRPr sz="2200" b="0" dirty="0">
              <a:solidFill>
                <a:srgbClr val="8FBC2F"/>
              </a:solidFill>
              <a:latin typeface="Roboto Condensed" panose="02000000000000000000" pitchFamily="2" charset="0"/>
              <a:ea typeface="Roboto Condensed" panose="02000000000000000000" pitchFamily="2" charset="0"/>
            </a:endParaRPr>
          </a:p>
          <a:p>
            <a:pPr algn="l"/>
            <a:r>
              <a:rPr sz="4400" b="1" dirty="0">
                <a:solidFill>
                  <a:srgbClr val="FFFFFF"/>
                </a:solidFill>
                <a:ea typeface="Roboto Condensed" panose="02000000000000000000" pitchFamily="2" charset="0"/>
              </a:rPr>
              <a:t>What we delivered in Months 1–7</a:t>
            </a:r>
          </a:p>
          <a:p>
            <a:pPr algn="l"/>
            <a:r>
              <a:rPr sz="1800" i="1" dirty="0">
                <a:solidFill>
                  <a:srgbClr val="FFFFFF"/>
                </a:solidFill>
                <a:latin typeface="Roboto Condensed" panose="02000000000000000000" pitchFamily="2" charset="0"/>
                <a:ea typeface="Roboto Condensed" panose="02000000000000000000" pitchFamily="2" charset="0"/>
              </a:rPr>
              <a:t>Foundations, a training catalogue, a working infrastructure, and first industry contacts</a:t>
            </a:r>
          </a:p>
        </p:txBody>
      </p:sp>
      <p:sp>
        <p:nvSpPr>
          <p:cNvPr id="3" name="Date Placeholder 1">
            <a:extLst>
              <a:ext uri="{FF2B5EF4-FFF2-40B4-BE49-F238E27FC236}">
                <a16:creationId xmlns:a16="http://schemas.microsoft.com/office/drawing/2014/main" id="{651ED47E-9AC2-4643-83C5-09CAAC37EE89}"/>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4" name="Footer Placeholder 2">
            <a:extLst>
              <a:ext uri="{FF2B5EF4-FFF2-40B4-BE49-F238E27FC236}">
                <a16:creationId xmlns:a16="http://schemas.microsoft.com/office/drawing/2014/main" id="{4AFA1BC4-CD70-40CB-A029-B38B18C542DF}"/>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5" name="Slide Number Placeholder 3">
            <a:extLst>
              <a:ext uri="{FF2B5EF4-FFF2-40B4-BE49-F238E27FC236}">
                <a16:creationId xmlns:a16="http://schemas.microsoft.com/office/drawing/2014/main" id="{2596D098-E7EF-4AE3-BE9F-A9942C403B91}"/>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rPr>
              <a:t>A consolidated training portfolio</a:t>
            </a:r>
          </a:p>
        </p:txBody>
      </p:sp>
      <p:sp>
        <p:nvSpPr>
          <p:cNvPr id="3" name="TextBox 2"/>
          <p:cNvSpPr txBox="1"/>
          <p:nvPr/>
        </p:nvSpPr>
        <p:spPr>
          <a:xfrm>
            <a:off x="502920" y="1005840"/>
            <a:ext cx="11247120" cy="411480"/>
          </a:xfrm>
          <a:prstGeom prst="rect">
            <a:avLst/>
          </a:prstGeom>
          <a:noFill/>
        </p:spPr>
        <p:txBody>
          <a:bodyPr wrap="square" lIns="0" tIns="0" rIns="0" bIns="0" anchor="t">
            <a:spAutoFit/>
          </a:bodyPr>
          <a:lstStyle/>
          <a:p>
            <a:pPr algn="l">
              <a:lnSpc>
                <a:spcPct val="115000"/>
              </a:lnSpc>
            </a:pPr>
            <a:r>
              <a:rPr sz="1600" b="0" i="1">
                <a:solidFill>
                  <a:srgbClr val="556670"/>
                </a:solidFill>
                <a:latin typeface="Calibri"/>
              </a:rPr>
              <a:t>First coordination output: one catalogue, one schema, one registry — published as Appendix C to the PPR</a:t>
            </a:r>
          </a:p>
        </p:txBody>
      </p:sp>
      <p:sp>
        <p:nvSpPr>
          <p:cNvPr id="4" name="Rounded Rectangle 3"/>
          <p:cNvSpPr/>
          <p:nvPr/>
        </p:nvSpPr>
        <p:spPr>
          <a:xfrm>
            <a:off x="502920" y="1783080"/>
            <a:ext cx="5029200" cy="4480560"/>
          </a:xfrm>
          <a:prstGeom prst="roundRect">
            <a:avLst>
              <a:gd name="adj" fmla="val 6000"/>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5" name="TextBox 4"/>
          <p:cNvSpPr txBox="1"/>
          <p:nvPr/>
        </p:nvSpPr>
        <p:spPr>
          <a:xfrm>
            <a:off x="502920" y="2194560"/>
            <a:ext cx="5029200" cy="296620"/>
          </a:xfrm>
          <a:prstGeom prst="rect">
            <a:avLst/>
          </a:prstGeom>
          <a:noFill/>
        </p:spPr>
        <p:txBody>
          <a:bodyPr wrap="square" lIns="0" tIns="0" rIns="0" bIns="0" anchor="t">
            <a:spAutoFit/>
          </a:bodyPr>
          <a:lstStyle/>
          <a:p>
            <a:pPr algn="ctr">
              <a:lnSpc>
                <a:spcPct val="115000"/>
              </a:lnSpc>
            </a:pPr>
            <a:r>
              <a:rPr sz="1800" b="0" i="1">
                <a:solidFill>
                  <a:srgbClr val="FFFFFF"/>
                </a:solidFill>
                <a:latin typeface="Roboto Condensed" panose="02000000000000000000" pitchFamily="2" charset="0"/>
                <a:ea typeface="Roboto Condensed" panose="02000000000000000000" pitchFamily="2" charset="0"/>
              </a:rPr>
              <a:t>From 96 proposals</a:t>
            </a:r>
          </a:p>
        </p:txBody>
      </p:sp>
      <p:sp>
        <p:nvSpPr>
          <p:cNvPr id="6" name="TextBox 5"/>
          <p:cNvSpPr txBox="1"/>
          <p:nvPr/>
        </p:nvSpPr>
        <p:spPr>
          <a:xfrm>
            <a:off x="502920" y="2402662"/>
            <a:ext cx="5029200" cy="2142190"/>
          </a:xfrm>
          <a:prstGeom prst="rect">
            <a:avLst/>
          </a:prstGeom>
          <a:noFill/>
        </p:spPr>
        <p:txBody>
          <a:bodyPr wrap="square" lIns="0" tIns="0" rIns="0" bIns="0" anchor="t">
            <a:spAutoFit/>
          </a:bodyPr>
          <a:lstStyle/>
          <a:p>
            <a:pPr algn="ctr">
              <a:lnSpc>
                <a:spcPct val="115000"/>
              </a:lnSpc>
            </a:pPr>
            <a:r>
              <a:rPr sz="13000" b="1" i="0" dirty="0">
                <a:solidFill>
                  <a:srgbClr val="FFFFFF"/>
                </a:solidFill>
                <a:latin typeface="+mj-lt"/>
                <a:ea typeface="Roboto Condensed" panose="02000000000000000000" pitchFamily="2" charset="0"/>
              </a:rPr>
              <a:t>88</a:t>
            </a:r>
          </a:p>
        </p:txBody>
      </p:sp>
      <p:sp>
        <p:nvSpPr>
          <p:cNvPr id="7" name="TextBox 6"/>
          <p:cNvSpPr txBox="1"/>
          <p:nvPr/>
        </p:nvSpPr>
        <p:spPr>
          <a:xfrm>
            <a:off x="502920" y="4277182"/>
            <a:ext cx="5029200" cy="685957"/>
          </a:xfrm>
          <a:prstGeom prst="rect">
            <a:avLst/>
          </a:prstGeom>
          <a:noFill/>
        </p:spPr>
        <p:txBody>
          <a:bodyPr wrap="square" lIns="0" tIns="0" rIns="0" bIns="0" anchor="t">
            <a:spAutoFit/>
          </a:bodyPr>
          <a:lstStyle/>
          <a:p>
            <a:pPr algn="ctr">
              <a:lnSpc>
                <a:spcPct val="115000"/>
              </a:lnSpc>
            </a:pPr>
            <a:r>
              <a:rPr sz="2200" b="1" i="0" dirty="0">
                <a:solidFill>
                  <a:srgbClr val="FFFFFF"/>
                </a:solidFill>
                <a:latin typeface="Roboto Condensed" panose="02000000000000000000" pitchFamily="2" charset="0"/>
                <a:ea typeface="Roboto Condensed" panose="02000000000000000000" pitchFamily="2" charset="0"/>
              </a:rPr>
              <a:t>consolidated training activities</a:t>
            </a:r>
            <a:endParaRPr lang="sl-SI" sz="2200" b="1" i="0" dirty="0">
              <a:solidFill>
                <a:srgbClr val="FFFFFF"/>
              </a:solidFill>
              <a:latin typeface="Roboto Condensed" panose="02000000000000000000" pitchFamily="2" charset="0"/>
              <a:ea typeface="Roboto Condensed" panose="02000000000000000000" pitchFamily="2" charset="0"/>
            </a:endParaRPr>
          </a:p>
          <a:p>
            <a:pPr algn="ctr">
              <a:lnSpc>
                <a:spcPct val="115000"/>
              </a:lnSpc>
            </a:pPr>
            <a:r>
              <a:rPr lang="en-US" b="1" dirty="0">
                <a:solidFill>
                  <a:srgbClr val="FFFFFF"/>
                </a:solidFill>
                <a:latin typeface="Roboto Condensed" panose="02000000000000000000" pitchFamily="2" charset="0"/>
                <a:ea typeface="Roboto Condensed" panose="02000000000000000000" pitchFamily="2" charset="0"/>
              </a:rPr>
              <a:t>scheduled across the project lifecycle </a:t>
            </a:r>
            <a:endParaRPr b="1" i="0" dirty="0">
              <a:solidFill>
                <a:srgbClr val="FFFFFF"/>
              </a:solidFill>
              <a:latin typeface="Roboto Condensed" panose="02000000000000000000" pitchFamily="2" charset="0"/>
              <a:ea typeface="Roboto Condensed" panose="02000000000000000000" pitchFamily="2" charset="0"/>
            </a:endParaRPr>
          </a:p>
        </p:txBody>
      </p:sp>
      <p:sp>
        <p:nvSpPr>
          <p:cNvPr id="8" name="TextBox 7"/>
          <p:cNvSpPr txBox="1"/>
          <p:nvPr/>
        </p:nvSpPr>
        <p:spPr>
          <a:xfrm>
            <a:off x="836839" y="5257800"/>
            <a:ext cx="4318907" cy="537519"/>
          </a:xfrm>
          <a:prstGeom prst="rect">
            <a:avLst/>
          </a:prstGeom>
          <a:noFill/>
        </p:spPr>
        <p:txBody>
          <a:bodyPr wrap="square" lIns="0" tIns="0" rIns="0" bIns="0" anchor="t">
            <a:spAutoFit/>
          </a:bodyPr>
          <a:lstStyle/>
          <a:p>
            <a:pPr algn="ctr">
              <a:lnSpc>
                <a:spcPct val="130000"/>
              </a:lnSpc>
            </a:pPr>
            <a:r>
              <a:rPr sz="1400" b="0" i="1" dirty="0">
                <a:solidFill>
                  <a:srgbClr val="FFFFFF"/>
                </a:solidFill>
                <a:latin typeface="Roboto Condensed" panose="02000000000000000000" pitchFamily="2" charset="0"/>
                <a:ea typeface="Roboto Condensed" panose="02000000000000000000" pitchFamily="2" charset="0"/>
              </a:rPr>
              <a:t>Collected from all 10 partners between December 2025 and February 2026, deduplicated through iterative review</a:t>
            </a:r>
          </a:p>
        </p:txBody>
      </p:sp>
      <p:sp>
        <p:nvSpPr>
          <p:cNvPr id="9" name="TextBox 8"/>
          <p:cNvSpPr txBox="1"/>
          <p:nvPr/>
        </p:nvSpPr>
        <p:spPr>
          <a:xfrm>
            <a:off x="5806440" y="1783080"/>
            <a:ext cx="5943600" cy="296620"/>
          </a:xfrm>
          <a:prstGeom prst="rect">
            <a:avLst/>
          </a:prstGeom>
          <a:noFill/>
        </p:spPr>
        <p:txBody>
          <a:bodyPr wrap="square" lIns="0" tIns="0" rIns="0" bIns="0" anchor="t">
            <a:spAutoFit/>
          </a:bodyPr>
          <a:lstStyle/>
          <a:p>
            <a:pPr algn="l">
              <a:lnSpc>
                <a:spcPct val="115000"/>
              </a:lnSpc>
            </a:pPr>
            <a:r>
              <a:rPr sz="1800" b="1" i="0" dirty="0">
                <a:solidFill>
                  <a:srgbClr val="145B6E"/>
                </a:solidFill>
                <a:latin typeface="Roboto Condensed" panose="02000000000000000000" pitchFamily="2" charset="0"/>
                <a:ea typeface="Roboto Condensed" panose="02000000000000000000" pitchFamily="2" charset="0"/>
              </a:rPr>
              <a:t>By training type</a:t>
            </a:r>
          </a:p>
        </p:txBody>
      </p:sp>
      <p:sp>
        <p:nvSpPr>
          <p:cNvPr id="10" name="TextBox 9"/>
          <p:cNvSpPr txBox="1"/>
          <p:nvPr/>
        </p:nvSpPr>
        <p:spPr>
          <a:xfrm>
            <a:off x="5806440" y="2655678"/>
            <a:ext cx="301752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Workshops &amp; hands-on sessions</a:t>
            </a:r>
          </a:p>
        </p:txBody>
      </p:sp>
      <p:sp>
        <p:nvSpPr>
          <p:cNvPr id="11" name="Rectangle 10"/>
          <p:cNvSpPr/>
          <p:nvPr/>
        </p:nvSpPr>
        <p:spPr>
          <a:xfrm>
            <a:off x="9233807" y="2633472"/>
            <a:ext cx="1828800" cy="29260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2" name="Rectangle 11"/>
          <p:cNvSpPr/>
          <p:nvPr/>
        </p:nvSpPr>
        <p:spPr>
          <a:xfrm>
            <a:off x="9237889" y="2633472"/>
            <a:ext cx="1828800" cy="292608"/>
          </a:xfrm>
          <a:prstGeom prst="rect">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3" name="TextBox 12"/>
          <p:cNvSpPr txBox="1"/>
          <p:nvPr/>
        </p:nvSpPr>
        <p:spPr>
          <a:xfrm>
            <a:off x="11135759" y="2589364"/>
            <a:ext cx="548640" cy="362535"/>
          </a:xfrm>
          <a:prstGeom prst="rect">
            <a:avLst/>
          </a:prstGeom>
          <a:noFill/>
        </p:spPr>
        <p:txBody>
          <a:bodyPr wrap="square" lIns="0" tIns="0" rIns="0" bIns="0" anchor="ctr">
            <a:spAutoFit/>
          </a:bodyPr>
          <a:lstStyle/>
          <a:p>
            <a:pPr algn="l">
              <a:lnSpc>
                <a:spcPct val="115000"/>
              </a:lnSpc>
            </a:pPr>
            <a:r>
              <a:rPr sz="2200" b="1" i="0">
                <a:solidFill>
                  <a:srgbClr val="1B8AA7"/>
                </a:solidFill>
                <a:latin typeface="Roboto Condensed" panose="02000000000000000000" pitchFamily="2" charset="0"/>
                <a:ea typeface="Roboto Condensed" panose="02000000000000000000" pitchFamily="2" charset="0"/>
              </a:rPr>
              <a:t>59</a:t>
            </a:r>
          </a:p>
        </p:txBody>
      </p:sp>
      <p:sp>
        <p:nvSpPr>
          <p:cNvPr id="14" name="TextBox 13"/>
          <p:cNvSpPr txBox="1"/>
          <p:nvPr/>
        </p:nvSpPr>
        <p:spPr>
          <a:xfrm>
            <a:off x="5806440" y="3707238"/>
            <a:ext cx="301752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Webinars for broader outreach</a:t>
            </a:r>
          </a:p>
        </p:txBody>
      </p:sp>
      <p:sp>
        <p:nvSpPr>
          <p:cNvPr id="15" name="Rectangle 14"/>
          <p:cNvSpPr/>
          <p:nvPr/>
        </p:nvSpPr>
        <p:spPr>
          <a:xfrm>
            <a:off x="9237889" y="3685032"/>
            <a:ext cx="1828800" cy="29260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6" name="Rectangle 15"/>
          <p:cNvSpPr/>
          <p:nvPr/>
        </p:nvSpPr>
        <p:spPr>
          <a:xfrm>
            <a:off x="9233807" y="3685032"/>
            <a:ext cx="495945" cy="292608"/>
          </a:xfrm>
          <a:prstGeom prst="rect">
            <a:avLst/>
          </a:prstGeom>
          <a:solidFill>
            <a:srgbClr val="6F9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7" name="TextBox 16"/>
          <p:cNvSpPr txBox="1"/>
          <p:nvPr/>
        </p:nvSpPr>
        <p:spPr>
          <a:xfrm>
            <a:off x="9802904" y="3640924"/>
            <a:ext cx="548640" cy="362535"/>
          </a:xfrm>
          <a:prstGeom prst="rect">
            <a:avLst/>
          </a:prstGeom>
          <a:noFill/>
        </p:spPr>
        <p:txBody>
          <a:bodyPr wrap="square" lIns="0" tIns="0" rIns="0" bIns="0" anchor="ctr">
            <a:spAutoFit/>
          </a:bodyPr>
          <a:lstStyle/>
          <a:p>
            <a:pPr algn="l">
              <a:lnSpc>
                <a:spcPct val="115000"/>
              </a:lnSpc>
            </a:pPr>
            <a:r>
              <a:rPr sz="2200" b="1" i="0">
                <a:solidFill>
                  <a:srgbClr val="6F921E"/>
                </a:solidFill>
                <a:latin typeface="Roboto Condensed" panose="02000000000000000000" pitchFamily="2" charset="0"/>
                <a:ea typeface="Roboto Condensed" panose="02000000000000000000" pitchFamily="2" charset="0"/>
              </a:rPr>
              <a:t>16</a:t>
            </a:r>
          </a:p>
        </p:txBody>
      </p:sp>
      <p:sp>
        <p:nvSpPr>
          <p:cNvPr id="18" name="TextBox 17"/>
          <p:cNvSpPr txBox="1"/>
          <p:nvPr/>
        </p:nvSpPr>
        <p:spPr>
          <a:xfrm>
            <a:off x="5806440" y="4758798"/>
            <a:ext cx="3349806"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Micro-credential courses (EQF-aligned)</a:t>
            </a:r>
          </a:p>
        </p:txBody>
      </p:sp>
      <p:sp>
        <p:nvSpPr>
          <p:cNvPr id="19" name="Rectangle 18"/>
          <p:cNvSpPr/>
          <p:nvPr/>
        </p:nvSpPr>
        <p:spPr>
          <a:xfrm>
            <a:off x="9237889" y="4736592"/>
            <a:ext cx="1828800" cy="29260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0" name="Rectangle 19"/>
          <p:cNvSpPr/>
          <p:nvPr/>
        </p:nvSpPr>
        <p:spPr>
          <a:xfrm>
            <a:off x="9233807" y="4736592"/>
            <a:ext cx="402955" cy="292608"/>
          </a:xfrm>
          <a:prstGeom prst="rect">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1" name="TextBox 20"/>
          <p:cNvSpPr txBox="1"/>
          <p:nvPr/>
        </p:nvSpPr>
        <p:spPr>
          <a:xfrm>
            <a:off x="9709914" y="4692484"/>
            <a:ext cx="548640" cy="362535"/>
          </a:xfrm>
          <a:prstGeom prst="rect">
            <a:avLst/>
          </a:prstGeom>
          <a:noFill/>
        </p:spPr>
        <p:txBody>
          <a:bodyPr wrap="square" lIns="0" tIns="0" rIns="0" bIns="0" anchor="ctr">
            <a:spAutoFit/>
          </a:bodyPr>
          <a:lstStyle/>
          <a:p>
            <a:pPr algn="l">
              <a:lnSpc>
                <a:spcPct val="115000"/>
              </a:lnSpc>
            </a:pPr>
            <a:r>
              <a:rPr sz="2200" b="1" i="0">
                <a:solidFill>
                  <a:srgbClr val="8FBC2F"/>
                </a:solidFill>
                <a:latin typeface="Roboto Condensed" panose="02000000000000000000" pitchFamily="2" charset="0"/>
                <a:ea typeface="Roboto Condensed" panose="02000000000000000000" pitchFamily="2" charset="0"/>
              </a:rPr>
              <a:t>13</a:t>
            </a:r>
          </a:p>
        </p:txBody>
      </p:sp>
      <p:sp>
        <p:nvSpPr>
          <p:cNvPr id="22" name="Rounded Rectangle 21"/>
          <p:cNvSpPr/>
          <p:nvPr/>
        </p:nvSpPr>
        <p:spPr>
          <a:xfrm>
            <a:off x="5806440" y="5452716"/>
            <a:ext cx="5897880" cy="960120"/>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3" name="TextBox 22"/>
          <p:cNvSpPr txBox="1"/>
          <p:nvPr/>
        </p:nvSpPr>
        <p:spPr>
          <a:xfrm>
            <a:off x="6035040" y="5567257"/>
            <a:ext cx="5486400" cy="654538"/>
          </a:xfrm>
          <a:prstGeom prst="rect">
            <a:avLst/>
          </a:prstGeom>
          <a:noFill/>
        </p:spPr>
        <p:txBody>
          <a:bodyPr wrap="square" lIns="0" tIns="0" rIns="0" bIns="0" anchor="t">
            <a:spAutoFit/>
          </a:bodyPr>
          <a:lstStyle/>
          <a:p>
            <a:pPr algn="l">
              <a:lnSpc>
                <a:spcPct val="140000"/>
              </a:lnSpc>
            </a:pPr>
            <a:r>
              <a:rPr sz="1600" b="0" i="0" dirty="0">
                <a:solidFill>
                  <a:srgbClr val="1C2B33"/>
                </a:solidFill>
                <a:latin typeface="Roboto Condensed" panose="02000000000000000000" pitchFamily="2" charset="0"/>
                <a:ea typeface="Roboto Condensed" panose="02000000000000000000" pitchFamily="2" charset="0"/>
              </a:rPr>
              <a:t>52 trainings combine lectures with practical exercises</a:t>
            </a:r>
          </a:p>
          <a:p>
            <a:pPr algn="l">
              <a:lnSpc>
                <a:spcPct val="140000"/>
              </a:lnSpc>
            </a:pPr>
            <a:r>
              <a:rPr sz="1600" b="0" i="0" dirty="0">
                <a:solidFill>
                  <a:srgbClr val="1C2B33"/>
                </a:solidFill>
                <a:latin typeface="Roboto Condensed" panose="02000000000000000000" pitchFamily="2" charset="0"/>
                <a:ea typeface="Roboto Condensed" panose="02000000000000000000" pitchFamily="2" charset="0"/>
              </a:rPr>
              <a:t>34 delivered in Slovenian · 18 in English · 36 bilingual</a:t>
            </a:r>
          </a:p>
        </p:txBody>
      </p:sp>
      <p:sp>
        <p:nvSpPr>
          <p:cNvPr id="24" name="Date Placeholder 1">
            <a:extLst>
              <a:ext uri="{FF2B5EF4-FFF2-40B4-BE49-F238E27FC236}">
                <a16:creationId xmlns:a16="http://schemas.microsoft.com/office/drawing/2014/main" id="{8DBDC939-0B88-41EF-B8EC-CF33F3F99F32}"/>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25" name="Footer Placeholder 2">
            <a:extLst>
              <a:ext uri="{FF2B5EF4-FFF2-40B4-BE49-F238E27FC236}">
                <a16:creationId xmlns:a16="http://schemas.microsoft.com/office/drawing/2014/main" id="{AC9EDEA8-BA31-46CC-81A4-D0DBAC469357}"/>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26" name="Slide Number Placeholder 3">
            <a:extLst>
              <a:ext uri="{FF2B5EF4-FFF2-40B4-BE49-F238E27FC236}">
                <a16:creationId xmlns:a16="http://schemas.microsoft.com/office/drawing/2014/main" id="{98C94E63-0BA5-4AD0-BE99-1434C57698B0}"/>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6</a:t>
            </a:fld>
            <a:endParaRPr lang="en-US"/>
          </a:p>
        </p:txBody>
      </p:sp>
      <p:pic>
        <p:nvPicPr>
          <p:cNvPr id="27" name="Picture 26">
            <a:extLst>
              <a:ext uri="{FF2B5EF4-FFF2-40B4-BE49-F238E27FC236}">
                <a16:creationId xmlns:a16="http://schemas.microsoft.com/office/drawing/2014/main" id="{40F654FC-64C7-4002-ADF8-9EC8BAC5FEE0}"/>
              </a:ext>
            </a:extLst>
          </p:cNvPr>
          <p:cNvPicPr>
            <a:picLocks noChangeAspect="1"/>
          </p:cNvPicPr>
          <p:nvPr/>
        </p:nvPicPr>
        <p:blipFill>
          <a:blip r:embed="rId2"/>
          <a:stretch>
            <a:fillRect/>
          </a:stretch>
        </p:blipFill>
        <p:spPr>
          <a:xfrm>
            <a:off x="9854104" y="365380"/>
            <a:ext cx="1243154" cy="17598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rPr>
              <a:t>Thematic coverage across the full AI/HPC stack</a:t>
            </a:r>
          </a:p>
        </p:txBody>
      </p:sp>
      <p:sp>
        <p:nvSpPr>
          <p:cNvPr id="3" name="TextBox 2"/>
          <p:cNvSpPr txBox="1"/>
          <p:nvPr/>
        </p:nvSpPr>
        <p:spPr>
          <a:xfrm>
            <a:off x="502920" y="1005840"/>
            <a:ext cx="11247120" cy="411480"/>
          </a:xfrm>
          <a:prstGeom prst="rect">
            <a:avLst/>
          </a:prstGeom>
          <a:noFill/>
        </p:spPr>
        <p:txBody>
          <a:bodyPr wrap="square" lIns="0" tIns="0" rIns="0" bIns="0" anchor="t">
            <a:spAutoFit/>
          </a:bodyPr>
          <a:lstStyle/>
          <a:p>
            <a:pPr algn="l">
              <a:lnSpc>
                <a:spcPct val="115000"/>
              </a:lnSpc>
            </a:pPr>
            <a:r>
              <a:rPr sz="1600" b="0" i="1">
                <a:solidFill>
                  <a:srgbClr val="556670"/>
                </a:solidFill>
                <a:latin typeface="Calibri"/>
              </a:rPr>
              <a:t>Balanced portfolio — from fundamentals to frontier, with deliberate SME focus</a:t>
            </a:r>
          </a:p>
        </p:txBody>
      </p:sp>
      <p:sp>
        <p:nvSpPr>
          <p:cNvPr id="4" name="TextBox 3"/>
          <p:cNvSpPr txBox="1"/>
          <p:nvPr/>
        </p:nvSpPr>
        <p:spPr>
          <a:xfrm>
            <a:off x="502920" y="1860150"/>
            <a:ext cx="429768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Data science &amp; ML fundamentals</a:t>
            </a:r>
          </a:p>
        </p:txBody>
      </p:sp>
      <p:sp>
        <p:nvSpPr>
          <p:cNvPr id="5" name="Rectangle 4"/>
          <p:cNvSpPr/>
          <p:nvPr/>
        </p:nvSpPr>
        <p:spPr>
          <a:xfrm>
            <a:off x="4937760" y="1901952"/>
            <a:ext cx="6583680" cy="20116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6" name="Rectangle 5"/>
          <p:cNvSpPr/>
          <p:nvPr/>
        </p:nvSpPr>
        <p:spPr>
          <a:xfrm>
            <a:off x="4937760" y="1901952"/>
            <a:ext cx="6583680" cy="201168"/>
          </a:xfrm>
          <a:prstGeom prst="rect">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7" name="TextBox 6"/>
          <p:cNvSpPr txBox="1"/>
          <p:nvPr/>
        </p:nvSpPr>
        <p:spPr>
          <a:xfrm>
            <a:off x="11594592" y="1860150"/>
            <a:ext cx="731520" cy="266483"/>
          </a:xfrm>
          <a:prstGeom prst="rect">
            <a:avLst/>
          </a:prstGeom>
          <a:noFill/>
        </p:spPr>
        <p:txBody>
          <a:bodyPr wrap="square" lIns="0" tIns="0" rIns="0" bIns="0" anchor="ctr">
            <a:spAutoFit/>
          </a:bodyPr>
          <a:lstStyle/>
          <a:p>
            <a:pPr algn="l">
              <a:lnSpc>
                <a:spcPct val="115000"/>
              </a:lnSpc>
            </a:pPr>
            <a:r>
              <a:rPr sz="1600" b="1" i="0" dirty="0">
                <a:solidFill>
                  <a:srgbClr val="1B8AA7"/>
                </a:solidFill>
                <a:latin typeface="Calibri"/>
              </a:rPr>
              <a:t>19</a:t>
            </a:r>
          </a:p>
        </p:txBody>
      </p:sp>
      <p:sp>
        <p:nvSpPr>
          <p:cNvPr id="8" name="TextBox 7"/>
          <p:cNvSpPr txBox="1"/>
          <p:nvPr/>
        </p:nvSpPr>
        <p:spPr>
          <a:xfrm>
            <a:off x="502920" y="2280774"/>
            <a:ext cx="429768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HPC infrastructure &amp; workflows</a:t>
            </a:r>
          </a:p>
        </p:txBody>
      </p:sp>
      <p:sp>
        <p:nvSpPr>
          <p:cNvPr id="9" name="Rectangle 8"/>
          <p:cNvSpPr/>
          <p:nvPr/>
        </p:nvSpPr>
        <p:spPr>
          <a:xfrm>
            <a:off x="4937760" y="2322576"/>
            <a:ext cx="6583680" cy="20116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0" name="Rectangle 9"/>
          <p:cNvSpPr/>
          <p:nvPr/>
        </p:nvSpPr>
        <p:spPr>
          <a:xfrm>
            <a:off x="4937760" y="2322576"/>
            <a:ext cx="6237170" cy="201168"/>
          </a:xfrm>
          <a:prstGeom prst="rect">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1" name="TextBox 10"/>
          <p:cNvSpPr txBox="1"/>
          <p:nvPr/>
        </p:nvSpPr>
        <p:spPr>
          <a:xfrm>
            <a:off x="11248082" y="2280774"/>
            <a:ext cx="731520" cy="266483"/>
          </a:xfrm>
          <a:prstGeom prst="rect">
            <a:avLst/>
          </a:prstGeom>
          <a:noFill/>
        </p:spPr>
        <p:txBody>
          <a:bodyPr wrap="square" lIns="0" tIns="0" rIns="0" bIns="0" anchor="ctr">
            <a:spAutoFit/>
          </a:bodyPr>
          <a:lstStyle/>
          <a:p>
            <a:pPr algn="l">
              <a:lnSpc>
                <a:spcPct val="115000"/>
              </a:lnSpc>
            </a:pPr>
            <a:r>
              <a:rPr sz="1600" b="1" i="0">
                <a:solidFill>
                  <a:srgbClr val="1B8AA7"/>
                </a:solidFill>
                <a:latin typeface="Roboto Condensed" panose="02000000000000000000" pitchFamily="2" charset="0"/>
                <a:ea typeface="Roboto Condensed" panose="02000000000000000000" pitchFamily="2" charset="0"/>
              </a:rPr>
              <a:t>18</a:t>
            </a:r>
          </a:p>
        </p:txBody>
      </p:sp>
      <p:sp>
        <p:nvSpPr>
          <p:cNvPr id="12" name="TextBox 11"/>
          <p:cNvSpPr txBox="1"/>
          <p:nvPr/>
        </p:nvSpPr>
        <p:spPr>
          <a:xfrm>
            <a:off x="502920" y="2701398"/>
            <a:ext cx="429768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LLMs &amp; natural language processing</a:t>
            </a:r>
          </a:p>
        </p:txBody>
      </p:sp>
      <p:sp>
        <p:nvSpPr>
          <p:cNvPr id="13" name="Rectangle 12"/>
          <p:cNvSpPr/>
          <p:nvPr/>
        </p:nvSpPr>
        <p:spPr>
          <a:xfrm>
            <a:off x="4937760" y="2743200"/>
            <a:ext cx="6583680" cy="20116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4" name="Rectangle 13"/>
          <p:cNvSpPr/>
          <p:nvPr/>
        </p:nvSpPr>
        <p:spPr>
          <a:xfrm>
            <a:off x="4937760" y="2743200"/>
            <a:ext cx="5544151" cy="201168"/>
          </a:xfrm>
          <a:prstGeom prst="rect">
            <a:avLst/>
          </a:prstGeom>
          <a:solidFill>
            <a:srgbClr val="14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5" name="TextBox 14"/>
          <p:cNvSpPr txBox="1"/>
          <p:nvPr/>
        </p:nvSpPr>
        <p:spPr>
          <a:xfrm>
            <a:off x="10555063" y="2701398"/>
            <a:ext cx="731520" cy="266483"/>
          </a:xfrm>
          <a:prstGeom prst="rect">
            <a:avLst/>
          </a:prstGeom>
          <a:noFill/>
        </p:spPr>
        <p:txBody>
          <a:bodyPr wrap="square" lIns="0" tIns="0" rIns="0" bIns="0" anchor="ctr">
            <a:spAutoFit/>
          </a:bodyPr>
          <a:lstStyle/>
          <a:p>
            <a:pPr algn="l">
              <a:lnSpc>
                <a:spcPct val="115000"/>
              </a:lnSpc>
            </a:pPr>
            <a:r>
              <a:rPr sz="1600" b="1" i="0">
                <a:solidFill>
                  <a:srgbClr val="145B6E"/>
                </a:solidFill>
                <a:latin typeface="Roboto Condensed" panose="02000000000000000000" pitchFamily="2" charset="0"/>
                <a:ea typeface="Roboto Condensed" panose="02000000000000000000" pitchFamily="2" charset="0"/>
              </a:rPr>
              <a:t>16</a:t>
            </a:r>
          </a:p>
        </p:txBody>
      </p:sp>
      <p:sp>
        <p:nvSpPr>
          <p:cNvPr id="16" name="TextBox 15"/>
          <p:cNvSpPr txBox="1"/>
          <p:nvPr/>
        </p:nvSpPr>
        <p:spPr>
          <a:xfrm>
            <a:off x="502920" y="3122022"/>
            <a:ext cx="429768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AI adoption for SMEs &amp; industry</a:t>
            </a:r>
          </a:p>
        </p:txBody>
      </p:sp>
      <p:sp>
        <p:nvSpPr>
          <p:cNvPr id="17" name="Rectangle 16"/>
          <p:cNvSpPr/>
          <p:nvPr/>
        </p:nvSpPr>
        <p:spPr>
          <a:xfrm>
            <a:off x="4937760" y="3163824"/>
            <a:ext cx="6583680" cy="20116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8" name="Rectangle 17"/>
          <p:cNvSpPr/>
          <p:nvPr/>
        </p:nvSpPr>
        <p:spPr>
          <a:xfrm>
            <a:off x="4937760" y="3163824"/>
            <a:ext cx="4158113" cy="201168"/>
          </a:xfrm>
          <a:prstGeom prst="rect">
            <a:avLst/>
          </a:prstGeom>
          <a:solidFill>
            <a:srgbClr val="6F9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9" name="TextBox 18"/>
          <p:cNvSpPr txBox="1"/>
          <p:nvPr/>
        </p:nvSpPr>
        <p:spPr>
          <a:xfrm>
            <a:off x="9169025" y="3122022"/>
            <a:ext cx="731520" cy="266483"/>
          </a:xfrm>
          <a:prstGeom prst="rect">
            <a:avLst/>
          </a:prstGeom>
          <a:noFill/>
        </p:spPr>
        <p:txBody>
          <a:bodyPr wrap="square" lIns="0" tIns="0" rIns="0" bIns="0" anchor="ctr">
            <a:spAutoFit/>
          </a:bodyPr>
          <a:lstStyle/>
          <a:p>
            <a:pPr algn="l">
              <a:lnSpc>
                <a:spcPct val="115000"/>
              </a:lnSpc>
            </a:pPr>
            <a:r>
              <a:rPr sz="1600" b="1" i="0">
                <a:solidFill>
                  <a:srgbClr val="6F921E"/>
                </a:solidFill>
                <a:latin typeface="Roboto Condensed" panose="02000000000000000000" pitchFamily="2" charset="0"/>
                <a:ea typeface="Roboto Condensed" panose="02000000000000000000" pitchFamily="2" charset="0"/>
              </a:rPr>
              <a:t>12</a:t>
            </a:r>
          </a:p>
        </p:txBody>
      </p:sp>
      <p:sp>
        <p:nvSpPr>
          <p:cNvPr id="20" name="TextBox 19"/>
          <p:cNvSpPr txBox="1"/>
          <p:nvPr/>
        </p:nvSpPr>
        <p:spPr>
          <a:xfrm>
            <a:off x="502920" y="3542646"/>
            <a:ext cx="429768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Health &amp; biomedical AI</a:t>
            </a:r>
          </a:p>
        </p:txBody>
      </p:sp>
      <p:sp>
        <p:nvSpPr>
          <p:cNvPr id="21" name="Rectangle 20"/>
          <p:cNvSpPr/>
          <p:nvPr/>
        </p:nvSpPr>
        <p:spPr>
          <a:xfrm>
            <a:off x="4937760" y="3584448"/>
            <a:ext cx="6583680" cy="20116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2" name="Rectangle 21"/>
          <p:cNvSpPr/>
          <p:nvPr/>
        </p:nvSpPr>
        <p:spPr>
          <a:xfrm>
            <a:off x="4937760" y="3584448"/>
            <a:ext cx="3811604" cy="201168"/>
          </a:xfrm>
          <a:prstGeom prst="rect">
            <a:avLst/>
          </a:prstGeom>
          <a:solidFill>
            <a:srgbClr val="6F9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3" name="TextBox 22"/>
          <p:cNvSpPr txBox="1"/>
          <p:nvPr/>
        </p:nvSpPr>
        <p:spPr>
          <a:xfrm>
            <a:off x="8822516" y="3542646"/>
            <a:ext cx="731520" cy="266483"/>
          </a:xfrm>
          <a:prstGeom prst="rect">
            <a:avLst/>
          </a:prstGeom>
          <a:noFill/>
        </p:spPr>
        <p:txBody>
          <a:bodyPr wrap="square" lIns="0" tIns="0" rIns="0" bIns="0" anchor="ctr">
            <a:spAutoFit/>
          </a:bodyPr>
          <a:lstStyle/>
          <a:p>
            <a:pPr algn="l">
              <a:lnSpc>
                <a:spcPct val="115000"/>
              </a:lnSpc>
            </a:pPr>
            <a:r>
              <a:rPr sz="1600" b="1" i="0">
                <a:solidFill>
                  <a:srgbClr val="6F921E"/>
                </a:solidFill>
                <a:latin typeface="Roboto Condensed" panose="02000000000000000000" pitchFamily="2" charset="0"/>
                <a:ea typeface="Roboto Condensed" panose="02000000000000000000" pitchFamily="2" charset="0"/>
              </a:rPr>
              <a:t>11</a:t>
            </a:r>
          </a:p>
        </p:txBody>
      </p:sp>
      <p:sp>
        <p:nvSpPr>
          <p:cNvPr id="24" name="TextBox 23"/>
          <p:cNvSpPr txBox="1"/>
          <p:nvPr/>
        </p:nvSpPr>
        <p:spPr>
          <a:xfrm>
            <a:off x="502920" y="3963270"/>
            <a:ext cx="429768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AI ethics &amp; EU AI Act compliance</a:t>
            </a:r>
          </a:p>
        </p:txBody>
      </p:sp>
      <p:sp>
        <p:nvSpPr>
          <p:cNvPr id="25" name="Rectangle 24"/>
          <p:cNvSpPr/>
          <p:nvPr/>
        </p:nvSpPr>
        <p:spPr>
          <a:xfrm>
            <a:off x="4937760" y="4005072"/>
            <a:ext cx="6583680" cy="20116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6" name="Rectangle 25"/>
          <p:cNvSpPr/>
          <p:nvPr/>
        </p:nvSpPr>
        <p:spPr>
          <a:xfrm>
            <a:off x="4937760" y="4005072"/>
            <a:ext cx="2079056" cy="201168"/>
          </a:xfrm>
          <a:prstGeom prst="rect">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7" name="TextBox 26"/>
          <p:cNvSpPr txBox="1"/>
          <p:nvPr/>
        </p:nvSpPr>
        <p:spPr>
          <a:xfrm>
            <a:off x="7089968" y="3963270"/>
            <a:ext cx="731520" cy="266483"/>
          </a:xfrm>
          <a:prstGeom prst="rect">
            <a:avLst/>
          </a:prstGeom>
          <a:noFill/>
        </p:spPr>
        <p:txBody>
          <a:bodyPr wrap="square" lIns="0" tIns="0" rIns="0" bIns="0" anchor="ctr">
            <a:spAutoFit/>
          </a:bodyPr>
          <a:lstStyle/>
          <a:p>
            <a:pPr algn="l">
              <a:lnSpc>
                <a:spcPct val="115000"/>
              </a:lnSpc>
            </a:pPr>
            <a:r>
              <a:rPr sz="1600" b="1" i="0">
                <a:solidFill>
                  <a:srgbClr val="8FBC2F"/>
                </a:solidFill>
                <a:latin typeface="Roboto Condensed" panose="02000000000000000000" pitchFamily="2" charset="0"/>
                <a:ea typeface="Roboto Condensed" panose="02000000000000000000" pitchFamily="2" charset="0"/>
              </a:rPr>
              <a:t>6</a:t>
            </a:r>
          </a:p>
        </p:txBody>
      </p:sp>
      <p:sp>
        <p:nvSpPr>
          <p:cNvPr id="28" name="TextBox 27"/>
          <p:cNvSpPr txBox="1"/>
          <p:nvPr/>
        </p:nvSpPr>
        <p:spPr>
          <a:xfrm>
            <a:off x="502920" y="4383894"/>
            <a:ext cx="429768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Earth observation &amp; agriculture</a:t>
            </a:r>
          </a:p>
        </p:txBody>
      </p:sp>
      <p:sp>
        <p:nvSpPr>
          <p:cNvPr id="29" name="Rectangle 28"/>
          <p:cNvSpPr/>
          <p:nvPr/>
        </p:nvSpPr>
        <p:spPr>
          <a:xfrm>
            <a:off x="4937760" y="4425696"/>
            <a:ext cx="6583680" cy="20116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0" name="Rectangle 29"/>
          <p:cNvSpPr/>
          <p:nvPr/>
        </p:nvSpPr>
        <p:spPr>
          <a:xfrm>
            <a:off x="4937760" y="4425696"/>
            <a:ext cx="1039528" cy="201168"/>
          </a:xfrm>
          <a:prstGeom prst="rect">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1" name="TextBox 30"/>
          <p:cNvSpPr txBox="1"/>
          <p:nvPr/>
        </p:nvSpPr>
        <p:spPr>
          <a:xfrm>
            <a:off x="6050440" y="4383894"/>
            <a:ext cx="731520" cy="266483"/>
          </a:xfrm>
          <a:prstGeom prst="rect">
            <a:avLst/>
          </a:prstGeom>
          <a:noFill/>
        </p:spPr>
        <p:txBody>
          <a:bodyPr wrap="square" lIns="0" tIns="0" rIns="0" bIns="0" anchor="ctr">
            <a:spAutoFit/>
          </a:bodyPr>
          <a:lstStyle/>
          <a:p>
            <a:pPr algn="l">
              <a:lnSpc>
                <a:spcPct val="115000"/>
              </a:lnSpc>
            </a:pPr>
            <a:r>
              <a:rPr sz="1600" b="1" i="0">
                <a:solidFill>
                  <a:srgbClr val="8FBC2F"/>
                </a:solidFill>
                <a:latin typeface="Roboto Condensed" panose="02000000000000000000" pitchFamily="2" charset="0"/>
                <a:ea typeface="Roboto Condensed" panose="02000000000000000000" pitchFamily="2" charset="0"/>
              </a:rPr>
              <a:t>3</a:t>
            </a:r>
          </a:p>
        </p:txBody>
      </p:sp>
      <p:sp>
        <p:nvSpPr>
          <p:cNvPr id="32" name="TextBox 31"/>
          <p:cNvSpPr txBox="1"/>
          <p:nvPr/>
        </p:nvSpPr>
        <p:spPr>
          <a:xfrm>
            <a:off x="502920" y="4804518"/>
            <a:ext cx="429768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Computer vision</a:t>
            </a:r>
          </a:p>
        </p:txBody>
      </p:sp>
      <p:sp>
        <p:nvSpPr>
          <p:cNvPr id="33" name="Rectangle 32"/>
          <p:cNvSpPr/>
          <p:nvPr/>
        </p:nvSpPr>
        <p:spPr>
          <a:xfrm>
            <a:off x="4937760" y="4846320"/>
            <a:ext cx="6583680" cy="20116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4" name="Rectangle 33"/>
          <p:cNvSpPr/>
          <p:nvPr/>
        </p:nvSpPr>
        <p:spPr>
          <a:xfrm>
            <a:off x="4937760" y="4846320"/>
            <a:ext cx="693018" cy="201168"/>
          </a:xfrm>
          <a:prstGeom prst="rect">
            <a:avLst/>
          </a:prstGeom>
          <a:solidFill>
            <a:srgbClr val="55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5" name="TextBox 34"/>
          <p:cNvSpPr txBox="1"/>
          <p:nvPr/>
        </p:nvSpPr>
        <p:spPr>
          <a:xfrm>
            <a:off x="5703930" y="4804518"/>
            <a:ext cx="731520" cy="266483"/>
          </a:xfrm>
          <a:prstGeom prst="rect">
            <a:avLst/>
          </a:prstGeom>
          <a:noFill/>
        </p:spPr>
        <p:txBody>
          <a:bodyPr wrap="square" lIns="0" tIns="0" rIns="0" bIns="0" anchor="ctr">
            <a:spAutoFit/>
          </a:bodyPr>
          <a:lstStyle/>
          <a:p>
            <a:pPr algn="l">
              <a:lnSpc>
                <a:spcPct val="115000"/>
              </a:lnSpc>
            </a:pPr>
            <a:r>
              <a:rPr sz="1600" b="1" i="0">
                <a:solidFill>
                  <a:srgbClr val="556670"/>
                </a:solidFill>
                <a:latin typeface="Roboto Condensed" panose="02000000000000000000" pitchFamily="2" charset="0"/>
                <a:ea typeface="Roboto Condensed" panose="02000000000000000000" pitchFamily="2" charset="0"/>
              </a:rPr>
              <a:t>2</a:t>
            </a:r>
          </a:p>
        </p:txBody>
      </p:sp>
      <p:sp>
        <p:nvSpPr>
          <p:cNvPr id="36" name="TextBox 35"/>
          <p:cNvSpPr txBox="1"/>
          <p:nvPr/>
        </p:nvSpPr>
        <p:spPr>
          <a:xfrm>
            <a:off x="502920" y="5225142"/>
            <a:ext cx="4297680" cy="266483"/>
          </a:xfrm>
          <a:prstGeom prst="rect">
            <a:avLst/>
          </a:prstGeom>
          <a:noFill/>
        </p:spPr>
        <p:txBody>
          <a:bodyPr wrap="square" lIns="0" tIns="0" rIns="0" bIns="0" anchor="ctr">
            <a:spAutoFit/>
          </a:bodyPr>
          <a:lstStyle/>
          <a:p>
            <a:pPr algn="l">
              <a:lnSpc>
                <a:spcPct val="115000"/>
              </a:lnSpc>
            </a:pPr>
            <a:r>
              <a:rPr sz="1600" b="1" i="0" dirty="0">
                <a:solidFill>
                  <a:srgbClr val="1C2B33"/>
                </a:solidFill>
                <a:latin typeface="Roboto Condensed" panose="02000000000000000000" pitchFamily="2" charset="0"/>
                <a:ea typeface="Roboto Condensed" panose="02000000000000000000" pitchFamily="2" charset="0"/>
              </a:rPr>
              <a:t>Cybersecurity</a:t>
            </a:r>
          </a:p>
        </p:txBody>
      </p:sp>
      <p:sp>
        <p:nvSpPr>
          <p:cNvPr id="37" name="Rectangle 36"/>
          <p:cNvSpPr/>
          <p:nvPr/>
        </p:nvSpPr>
        <p:spPr>
          <a:xfrm>
            <a:off x="4937760" y="5266944"/>
            <a:ext cx="6583680" cy="201168"/>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8" name="Rectangle 37"/>
          <p:cNvSpPr/>
          <p:nvPr/>
        </p:nvSpPr>
        <p:spPr>
          <a:xfrm>
            <a:off x="4937760" y="5266944"/>
            <a:ext cx="346509" cy="201168"/>
          </a:xfrm>
          <a:prstGeom prst="rect">
            <a:avLst/>
          </a:prstGeom>
          <a:solidFill>
            <a:srgbClr val="55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9" name="TextBox 38"/>
          <p:cNvSpPr txBox="1"/>
          <p:nvPr/>
        </p:nvSpPr>
        <p:spPr>
          <a:xfrm>
            <a:off x="5357421" y="5225142"/>
            <a:ext cx="731520" cy="266483"/>
          </a:xfrm>
          <a:prstGeom prst="rect">
            <a:avLst/>
          </a:prstGeom>
          <a:noFill/>
        </p:spPr>
        <p:txBody>
          <a:bodyPr wrap="square" lIns="0" tIns="0" rIns="0" bIns="0" anchor="ctr">
            <a:spAutoFit/>
          </a:bodyPr>
          <a:lstStyle/>
          <a:p>
            <a:pPr algn="l">
              <a:lnSpc>
                <a:spcPct val="115000"/>
              </a:lnSpc>
            </a:pPr>
            <a:r>
              <a:rPr sz="1600" b="1" i="0">
                <a:solidFill>
                  <a:srgbClr val="556670"/>
                </a:solidFill>
                <a:latin typeface="Roboto Condensed" panose="02000000000000000000" pitchFamily="2" charset="0"/>
                <a:ea typeface="Roboto Condensed" panose="02000000000000000000" pitchFamily="2" charset="0"/>
              </a:rPr>
              <a:t>1</a:t>
            </a:r>
          </a:p>
        </p:txBody>
      </p:sp>
      <p:sp>
        <p:nvSpPr>
          <p:cNvPr id="40" name="Rounded Rectangle 39"/>
          <p:cNvSpPr/>
          <p:nvPr/>
        </p:nvSpPr>
        <p:spPr>
          <a:xfrm>
            <a:off x="502920" y="5612950"/>
            <a:ext cx="11201400" cy="777240"/>
          </a:xfrm>
          <a:prstGeom prst="roundRect">
            <a:avLst>
              <a:gd name="adj" fmla="val 15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 y="5728239"/>
            <a:ext cx="10652760" cy="537519"/>
          </a:xfrm>
          <a:prstGeom prst="rect">
            <a:avLst/>
          </a:prstGeom>
          <a:noFill/>
        </p:spPr>
        <p:txBody>
          <a:bodyPr wrap="square" lIns="0" tIns="0" rIns="0" bIns="0" anchor="ctr">
            <a:spAutoFit/>
          </a:bodyPr>
          <a:lstStyle/>
          <a:p>
            <a:pPr algn="l">
              <a:lnSpc>
                <a:spcPct val="130000"/>
              </a:lnSpc>
            </a:pPr>
            <a:r>
              <a:rPr sz="1400" b="0" i="1" dirty="0">
                <a:solidFill>
                  <a:srgbClr val="1C2B33"/>
                </a:solidFill>
                <a:latin typeface="Roboto Condensed" panose="02000000000000000000" pitchFamily="2" charset="0"/>
                <a:ea typeface="Roboto Condensed" panose="02000000000000000000" pitchFamily="2" charset="0"/>
              </a:rPr>
              <a:t>Nearly a third of the catalogue (33 of 88) targets SMEs, industry AI adoption and EU AI Act compliance — directly addressing the industry-facing mandate of the AI Factory.</a:t>
            </a:r>
          </a:p>
        </p:txBody>
      </p:sp>
      <p:sp>
        <p:nvSpPr>
          <p:cNvPr id="42" name="Date Placeholder 1">
            <a:extLst>
              <a:ext uri="{FF2B5EF4-FFF2-40B4-BE49-F238E27FC236}">
                <a16:creationId xmlns:a16="http://schemas.microsoft.com/office/drawing/2014/main" id="{FEB3CD40-04B6-4BFA-B225-170A8344C102}"/>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43" name="Footer Placeholder 2">
            <a:extLst>
              <a:ext uri="{FF2B5EF4-FFF2-40B4-BE49-F238E27FC236}">
                <a16:creationId xmlns:a16="http://schemas.microsoft.com/office/drawing/2014/main" id="{855E3F51-F7F3-4BE6-9339-6C92217ADBAB}"/>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44" name="Slide Number Placeholder 3">
            <a:extLst>
              <a:ext uri="{FF2B5EF4-FFF2-40B4-BE49-F238E27FC236}">
                <a16:creationId xmlns:a16="http://schemas.microsoft.com/office/drawing/2014/main" id="{B5A4EC7B-0502-429F-8A9A-09DD247FF076}"/>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hape 19">
            <a:extLst>
              <a:ext uri="{FF2B5EF4-FFF2-40B4-BE49-F238E27FC236}">
                <a16:creationId xmlns:a16="http://schemas.microsoft.com/office/drawing/2014/main" id="{4D338D2D-B9D3-49D1-976D-F9D017088831}"/>
              </a:ext>
            </a:extLst>
          </p:cNvPr>
          <p:cNvSpPr/>
          <p:nvPr/>
        </p:nvSpPr>
        <p:spPr>
          <a:xfrm>
            <a:off x="543827" y="5638003"/>
            <a:ext cx="11091672" cy="566928"/>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en-SI" dirty="0">
              <a:latin typeface="Roboto Condensed" panose="02000000000000000000" pitchFamily="2" charset="0"/>
              <a:ea typeface="Roboto Condensed" panose="02000000000000000000" pitchFamily="2" charset="0"/>
            </a:endParaRPr>
          </a:p>
        </p:txBody>
      </p:sp>
      <p:sp>
        <p:nvSpPr>
          <p:cNvPr id="2" name="Date Placeholder 1">
            <a:extLst>
              <a:ext uri="{FF2B5EF4-FFF2-40B4-BE49-F238E27FC236}">
                <a16:creationId xmlns:a16="http://schemas.microsoft.com/office/drawing/2014/main" id="{C735078D-BBB1-4EB2-A286-F354C1A873E8}"/>
              </a:ext>
            </a:extLst>
          </p:cNvPr>
          <p:cNvSpPr>
            <a:spLocks noGrp="1"/>
          </p:cNvSpPr>
          <p:nvPr>
            <p:ph type="dt" sz="half" idx="10"/>
          </p:nvPr>
        </p:nvSpPr>
        <p:spPr/>
        <p:txBody>
          <a:bodyPr/>
          <a:lstStyle/>
          <a:p>
            <a:pPr>
              <a:defRPr/>
            </a:pPr>
            <a:fld id="{B7761311-E397-A883-1E63-9C2AB11E5243}" type="datetime1">
              <a:rPr lang="en-US" smtClean="0">
                <a:latin typeface="Roboto Condensed" panose="02000000000000000000" pitchFamily="2" charset="0"/>
                <a:ea typeface="Roboto Condensed" panose="02000000000000000000" pitchFamily="2" charset="0"/>
              </a:rPr>
              <a:t>4/22/2026</a:t>
            </a:fld>
            <a:endParaRPr lang="en-US" dirty="0">
              <a:latin typeface="Roboto Condensed" panose="02000000000000000000" pitchFamily="2" charset="0"/>
              <a:ea typeface="Roboto Condensed" panose="02000000000000000000" pitchFamily="2" charset="0"/>
            </a:endParaRPr>
          </a:p>
        </p:txBody>
      </p:sp>
      <p:sp>
        <p:nvSpPr>
          <p:cNvPr id="3" name="Footer Placeholder 2">
            <a:extLst>
              <a:ext uri="{FF2B5EF4-FFF2-40B4-BE49-F238E27FC236}">
                <a16:creationId xmlns:a16="http://schemas.microsoft.com/office/drawing/2014/main" id="{32123921-9D9F-4117-AF3B-EBB060FA5E3B}"/>
              </a:ext>
            </a:extLst>
          </p:cNvPr>
          <p:cNvSpPr>
            <a:spLocks noGrp="1"/>
          </p:cNvSpPr>
          <p:nvPr>
            <p:ph type="ftr" sz="quarter" idx="11"/>
          </p:nvPr>
        </p:nvSpPr>
        <p:spPr/>
        <p:txBody>
          <a:bodyPr/>
          <a:lstStyle/>
          <a:p>
            <a:pPr>
              <a:defRPr/>
            </a:pPr>
            <a:r>
              <a:rPr lang="sl-SI" dirty="0">
                <a:latin typeface="Roboto Condensed" panose="02000000000000000000" pitchFamily="2" charset="0"/>
                <a:ea typeface="Roboto Condensed" panose="02000000000000000000" pitchFamily="2" charset="0"/>
              </a:rPr>
              <a:t>SLAIF WP6 – AI </a:t>
            </a:r>
            <a:r>
              <a:rPr lang="sl-SI" dirty="0" err="1">
                <a:latin typeface="Roboto Condensed" panose="02000000000000000000" pitchFamily="2" charset="0"/>
                <a:ea typeface="Roboto Condensed" panose="02000000000000000000" pitchFamily="2" charset="0"/>
              </a:rPr>
              <a:t>Skills</a:t>
            </a:r>
            <a:r>
              <a:rPr lang="sl-SI" dirty="0">
                <a:latin typeface="Roboto Condensed" panose="02000000000000000000" pitchFamily="2" charset="0"/>
                <a:ea typeface="Roboto Condensed" panose="02000000000000000000" pitchFamily="2" charset="0"/>
              </a:rPr>
              <a:t> &amp; </a:t>
            </a:r>
            <a:r>
              <a:rPr lang="sl-SI" dirty="0" err="1">
                <a:latin typeface="Roboto Condensed" panose="02000000000000000000" pitchFamily="2" charset="0"/>
                <a:ea typeface="Roboto Condensed" panose="02000000000000000000" pitchFamily="2" charset="0"/>
              </a:rPr>
              <a:t>Training</a:t>
            </a:r>
            <a:endParaRPr lang="en-US" dirty="0">
              <a:latin typeface="Roboto Condensed" panose="02000000000000000000" pitchFamily="2" charset="0"/>
              <a:ea typeface="Roboto Condensed" panose="02000000000000000000" pitchFamily="2" charset="0"/>
            </a:endParaRPr>
          </a:p>
        </p:txBody>
      </p:sp>
      <p:sp>
        <p:nvSpPr>
          <p:cNvPr id="4" name="Slide Number Placeholder 3">
            <a:extLst>
              <a:ext uri="{FF2B5EF4-FFF2-40B4-BE49-F238E27FC236}">
                <a16:creationId xmlns:a16="http://schemas.microsoft.com/office/drawing/2014/main" id="{B45984AB-FD74-491E-B6E7-D9221B0E130D}"/>
              </a:ext>
            </a:extLst>
          </p:cNvPr>
          <p:cNvSpPr>
            <a:spLocks noGrp="1"/>
          </p:cNvSpPr>
          <p:nvPr>
            <p:ph type="sldNum" sz="quarter" idx="12"/>
          </p:nvPr>
        </p:nvSpPr>
        <p:spPr/>
        <p:txBody>
          <a:bodyPr/>
          <a:lstStyle/>
          <a:p>
            <a:pPr>
              <a:defRPr/>
            </a:pPr>
            <a:fld id="{0CE68F04-8C45-4A80-901C-428EAFDC5CAA}" type="slidenum">
              <a:rPr lang="en-US" smtClean="0">
                <a:latin typeface="Roboto Condensed" panose="02000000000000000000" pitchFamily="2" charset="0"/>
                <a:ea typeface="Roboto Condensed" panose="02000000000000000000" pitchFamily="2" charset="0"/>
              </a:rPr>
              <a:t>8</a:t>
            </a:fld>
            <a:endParaRPr lang="en-US">
              <a:latin typeface="Roboto Condensed" panose="02000000000000000000" pitchFamily="2" charset="0"/>
              <a:ea typeface="Roboto Condensed" panose="02000000000000000000" pitchFamily="2" charset="0"/>
            </a:endParaRPr>
          </a:p>
        </p:txBody>
      </p:sp>
      <p:sp>
        <p:nvSpPr>
          <p:cNvPr id="5" name="TextBox 4">
            <a:extLst>
              <a:ext uri="{FF2B5EF4-FFF2-40B4-BE49-F238E27FC236}">
                <a16:creationId xmlns:a16="http://schemas.microsoft.com/office/drawing/2014/main" id="{8433D100-A962-4E29-A264-1E4A311247D9}"/>
              </a:ext>
            </a:extLst>
          </p:cNvPr>
          <p:cNvSpPr txBox="1"/>
          <p:nvPr/>
        </p:nvSpPr>
        <p:spPr>
          <a:xfrm>
            <a:off x="502919" y="347472"/>
            <a:ext cx="11247120" cy="533095"/>
          </a:xfrm>
          <a:prstGeom prst="rect">
            <a:avLst/>
          </a:prstGeom>
          <a:noFill/>
        </p:spPr>
        <p:txBody>
          <a:bodyPr wrap="square" lIns="0" tIns="0" rIns="0" bIns="0" anchor="t">
            <a:spAutoFit/>
          </a:bodyPr>
          <a:lstStyle/>
          <a:p>
            <a:pPr algn="l">
              <a:lnSpc>
                <a:spcPct val="115000"/>
              </a:lnSpc>
            </a:pPr>
            <a:r>
              <a:rPr lang="sl-SI" sz="3200" b="1" i="0" dirty="0" err="1">
                <a:solidFill>
                  <a:srgbClr val="145B6E"/>
                </a:solidFill>
                <a:latin typeface="+mj-lt"/>
              </a:rPr>
              <a:t>Training</a:t>
            </a:r>
            <a:r>
              <a:rPr lang="sl-SI" sz="3200" b="1" i="0" dirty="0">
                <a:solidFill>
                  <a:srgbClr val="145B6E"/>
                </a:solidFill>
                <a:latin typeface="+mj-lt"/>
              </a:rPr>
              <a:t> </a:t>
            </a:r>
            <a:r>
              <a:rPr lang="sl-SI" sz="3200" b="1" i="0" dirty="0" err="1">
                <a:solidFill>
                  <a:srgbClr val="145B6E"/>
                </a:solidFill>
                <a:latin typeface="+mj-lt"/>
              </a:rPr>
              <a:t>example</a:t>
            </a:r>
            <a:endParaRPr sz="3200" b="1" i="0" dirty="0">
              <a:solidFill>
                <a:srgbClr val="145B6E"/>
              </a:solidFill>
              <a:latin typeface="+mj-lt"/>
            </a:endParaRPr>
          </a:p>
        </p:txBody>
      </p:sp>
      <p:sp>
        <p:nvSpPr>
          <p:cNvPr id="9" name="Shape 2">
            <a:extLst>
              <a:ext uri="{FF2B5EF4-FFF2-40B4-BE49-F238E27FC236}">
                <a16:creationId xmlns:a16="http://schemas.microsoft.com/office/drawing/2014/main" id="{077769FD-590E-4E5D-829C-DA494AFBFBB9}"/>
              </a:ext>
            </a:extLst>
          </p:cNvPr>
          <p:cNvSpPr/>
          <p:nvPr/>
        </p:nvSpPr>
        <p:spPr>
          <a:xfrm>
            <a:off x="548640" y="1170432"/>
            <a:ext cx="11091672" cy="13716"/>
          </a:xfrm>
          <a:prstGeom prst="rect">
            <a:avLst/>
          </a:prstGeom>
          <a:solidFill>
            <a:srgbClr val="D4ECEE"/>
          </a:solidFill>
          <a:ln/>
        </p:spPr>
      </p:sp>
      <p:sp>
        <p:nvSpPr>
          <p:cNvPr id="10" name="Text 3">
            <a:extLst>
              <a:ext uri="{FF2B5EF4-FFF2-40B4-BE49-F238E27FC236}">
                <a16:creationId xmlns:a16="http://schemas.microsoft.com/office/drawing/2014/main" id="{CD36B047-33B7-4830-9B93-F628013299ED}"/>
              </a:ext>
            </a:extLst>
          </p:cNvPr>
          <p:cNvSpPr/>
          <p:nvPr/>
        </p:nvSpPr>
        <p:spPr>
          <a:xfrm>
            <a:off x="4841506" y="182880"/>
            <a:ext cx="5346835" cy="868680"/>
          </a:xfrm>
          <a:prstGeom prst="rect">
            <a:avLst/>
          </a:prstGeom>
          <a:noFill/>
          <a:ln/>
        </p:spPr>
        <p:txBody>
          <a:bodyPr wrap="square" lIns="0" tIns="0" rIns="0" bIns="0" rtlCol="0" anchor="ctr"/>
          <a:lstStyle/>
          <a:p>
            <a:r>
              <a:rPr lang="en-US" sz="2000" b="1" dirty="0">
                <a:solidFill>
                  <a:srgbClr val="1E3A3A"/>
                </a:solidFill>
                <a:latin typeface="+mj-lt"/>
                <a:ea typeface="Trebuchet MS" pitchFamily="34" charset="-122"/>
                <a:cs typeface="Trebuchet MS" pitchFamily="34" charset="-120"/>
              </a:rPr>
              <a:t>Adapting and </a:t>
            </a:r>
            <a:r>
              <a:rPr lang="sl-SI" sz="2000" b="1" dirty="0">
                <a:solidFill>
                  <a:srgbClr val="1E3A3A"/>
                </a:solidFill>
                <a:latin typeface="+mj-lt"/>
                <a:ea typeface="Trebuchet MS" pitchFamily="34" charset="-122"/>
                <a:cs typeface="Trebuchet MS" pitchFamily="34" charset="-120"/>
              </a:rPr>
              <a:t>f</a:t>
            </a:r>
            <a:r>
              <a:rPr lang="en-US" sz="2000" b="1" dirty="0" err="1">
                <a:solidFill>
                  <a:srgbClr val="1E3A3A"/>
                </a:solidFill>
                <a:latin typeface="+mj-lt"/>
                <a:ea typeface="Trebuchet MS" pitchFamily="34" charset="-122"/>
                <a:cs typeface="Trebuchet MS" pitchFamily="34" charset="-120"/>
              </a:rPr>
              <a:t>ine</a:t>
            </a:r>
            <a:r>
              <a:rPr lang="en-US" sz="2000" b="1" dirty="0">
                <a:solidFill>
                  <a:srgbClr val="1E3A3A"/>
                </a:solidFill>
                <a:latin typeface="+mj-lt"/>
                <a:ea typeface="Trebuchet MS" pitchFamily="34" charset="-122"/>
                <a:cs typeface="Trebuchet MS" pitchFamily="34" charset="-120"/>
              </a:rPr>
              <a:t>-tuning LLMs – A </a:t>
            </a:r>
            <a:r>
              <a:rPr lang="sl-SI" sz="2000" b="1" dirty="0">
                <a:solidFill>
                  <a:srgbClr val="1E3A3A"/>
                </a:solidFill>
                <a:latin typeface="+mj-lt"/>
                <a:ea typeface="Trebuchet MS" pitchFamily="34" charset="-122"/>
                <a:cs typeface="Trebuchet MS" pitchFamily="34" charset="-120"/>
              </a:rPr>
              <a:t>h</a:t>
            </a:r>
            <a:r>
              <a:rPr lang="en-US" sz="2000" b="1" dirty="0">
                <a:solidFill>
                  <a:srgbClr val="1E3A3A"/>
                </a:solidFill>
                <a:latin typeface="+mj-lt"/>
                <a:ea typeface="Trebuchet MS" pitchFamily="34" charset="-122"/>
                <a:cs typeface="Trebuchet MS" pitchFamily="34" charset="-120"/>
              </a:rPr>
              <a:t>ands-on</a:t>
            </a:r>
            <a:r>
              <a:rPr lang="sl-SI" sz="2000" b="1" dirty="0">
                <a:solidFill>
                  <a:srgbClr val="1E3A3A"/>
                </a:solidFill>
                <a:latin typeface="+mj-lt"/>
                <a:ea typeface="Trebuchet MS" pitchFamily="34" charset="-122"/>
                <a:cs typeface="Trebuchet MS" pitchFamily="34" charset="-120"/>
              </a:rPr>
              <a:t> a</a:t>
            </a:r>
            <a:r>
              <a:rPr lang="en-US" sz="2000" b="1" dirty="0" err="1">
                <a:solidFill>
                  <a:srgbClr val="1E3A3A"/>
                </a:solidFill>
                <a:latin typeface="+mj-lt"/>
                <a:ea typeface="Trebuchet MS" pitchFamily="34" charset="-122"/>
                <a:cs typeface="Trebuchet MS" pitchFamily="34" charset="-120"/>
              </a:rPr>
              <a:t>pproach</a:t>
            </a:r>
            <a:r>
              <a:rPr lang="en-US" sz="2000" b="1" dirty="0">
                <a:solidFill>
                  <a:srgbClr val="1E3A3A"/>
                </a:solidFill>
                <a:latin typeface="+mj-lt"/>
                <a:ea typeface="Trebuchet MS" pitchFamily="34" charset="-122"/>
                <a:cs typeface="Trebuchet MS" pitchFamily="34" charset="-120"/>
              </a:rPr>
              <a:t> for </a:t>
            </a:r>
            <a:r>
              <a:rPr lang="sl-SI" sz="2000" b="1" dirty="0">
                <a:solidFill>
                  <a:srgbClr val="1E3A3A"/>
                </a:solidFill>
                <a:latin typeface="+mj-lt"/>
                <a:ea typeface="Trebuchet MS" pitchFamily="34" charset="-122"/>
                <a:cs typeface="Trebuchet MS" pitchFamily="34" charset="-120"/>
              </a:rPr>
              <a:t>b</a:t>
            </a:r>
            <a:r>
              <a:rPr lang="en-US" sz="2000" b="1" dirty="0" err="1">
                <a:solidFill>
                  <a:srgbClr val="1E3A3A"/>
                </a:solidFill>
                <a:latin typeface="+mj-lt"/>
                <a:ea typeface="Trebuchet MS" pitchFamily="34" charset="-122"/>
                <a:cs typeface="Trebuchet MS" pitchFamily="34" charset="-120"/>
              </a:rPr>
              <a:t>usiness</a:t>
            </a:r>
            <a:r>
              <a:rPr lang="en-US" sz="2000" b="1" dirty="0">
                <a:solidFill>
                  <a:srgbClr val="1E3A3A"/>
                </a:solidFill>
                <a:latin typeface="+mj-lt"/>
                <a:ea typeface="Trebuchet MS" pitchFamily="34" charset="-122"/>
                <a:cs typeface="Trebuchet MS" pitchFamily="34" charset="-120"/>
              </a:rPr>
              <a:t> and </a:t>
            </a:r>
            <a:r>
              <a:rPr lang="sl-SI" sz="2000" b="1" dirty="0">
                <a:solidFill>
                  <a:srgbClr val="1E3A3A"/>
                </a:solidFill>
                <a:latin typeface="+mj-lt"/>
                <a:ea typeface="Trebuchet MS" pitchFamily="34" charset="-122"/>
                <a:cs typeface="Trebuchet MS" pitchFamily="34" charset="-120"/>
              </a:rPr>
              <a:t>s</a:t>
            </a:r>
            <a:r>
              <a:rPr lang="en-US" sz="2000" b="1" dirty="0" err="1">
                <a:solidFill>
                  <a:srgbClr val="1E3A3A"/>
                </a:solidFill>
                <a:latin typeface="+mj-lt"/>
                <a:ea typeface="Trebuchet MS" pitchFamily="34" charset="-122"/>
                <a:cs typeface="Trebuchet MS" pitchFamily="34" charset="-120"/>
              </a:rPr>
              <a:t>cience</a:t>
            </a:r>
            <a:endParaRPr lang="en-US" sz="2000" b="1" dirty="0">
              <a:solidFill>
                <a:srgbClr val="1E3A3A"/>
              </a:solidFill>
              <a:latin typeface="+mj-lt"/>
              <a:ea typeface="Trebuchet MS" pitchFamily="34" charset="-122"/>
              <a:cs typeface="Trebuchet MS" pitchFamily="34" charset="-120"/>
            </a:endParaRPr>
          </a:p>
        </p:txBody>
      </p:sp>
      <p:sp>
        <p:nvSpPr>
          <p:cNvPr id="11" name="Text 5">
            <a:extLst>
              <a:ext uri="{FF2B5EF4-FFF2-40B4-BE49-F238E27FC236}">
                <a16:creationId xmlns:a16="http://schemas.microsoft.com/office/drawing/2014/main" id="{C2B8598D-6ED3-4825-A6B8-1D6918B77989}"/>
              </a:ext>
            </a:extLst>
          </p:cNvPr>
          <p:cNvSpPr/>
          <p:nvPr/>
        </p:nvSpPr>
        <p:spPr>
          <a:xfrm>
            <a:off x="548640" y="1261872"/>
            <a:ext cx="11091672" cy="292608"/>
          </a:xfrm>
          <a:prstGeom prst="rect">
            <a:avLst/>
          </a:prstGeom>
          <a:noFill/>
          <a:ln/>
        </p:spPr>
        <p:txBody>
          <a:bodyPr wrap="square" lIns="0" tIns="0" rIns="0" bIns="0" rtlCol="0" anchor="ctr"/>
          <a:lstStyle/>
          <a:p>
            <a:r>
              <a:rPr lang="en-US" sz="1400" b="1" dirty="0">
                <a:solidFill>
                  <a:srgbClr val="1E3A3A"/>
                </a:solidFill>
                <a:latin typeface="Roboto Condensed" panose="02000000000000000000" pitchFamily="2" charset="0"/>
                <a:ea typeface="Roboto Condensed" panose="02000000000000000000" pitchFamily="2" charset="0"/>
                <a:cs typeface="Calibri" pitchFamily="34" charset="-120"/>
              </a:rPr>
              <a:t>Course provider: </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University of Ljubljana, Faculty of Computer and Information Science (UL FRI) </a:t>
            </a:r>
            <a:r>
              <a:rPr lang="en-US" sz="1400" b="1" dirty="0">
                <a:solidFill>
                  <a:srgbClr val="1E3A3A"/>
                </a:solidFill>
                <a:latin typeface="Roboto Condensed" panose="02000000000000000000" pitchFamily="2" charset="0"/>
                <a:ea typeface="Roboto Condensed" panose="02000000000000000000" pitchFamily="2" charset="0"/>
                <a:cs typeface="Calibri" pitchFamily="34" charset="-120"/>
              </a:rPr>
              <a:t>    Instructors: </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Marko </a:t>
            </a:r>
            <a:r>
              <a:rPr lang="en-US" sz="1400" dirty="0" err="1">
                <a:solidFill>
                  <a:srgbClr val="1E3A3A"/>
                </a:solidFill>
                <a:latin typeface="Roboto Condensed" panose="02000000000000000000" pitchFamily="2" charset="0"/>
                <a:ea typeface="Roboto Condensed" panose="02000000000000000000" pitchFamily="2" charset="0"/>
                <a:cs typeface="Calibri" pitchFamily="34" charset="-120"/>
              </a:rPr>
              <a:t>Robnik-Šikonja</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 </a:t>
            </a:r>
            <a:r>
              <a:rPr lang="en-US" sz="1400" dirty="0" err="1">
                <a:solidFill>
                  <a:srgbClr val="1E3A3A"/>
                </a:solidFill>
                <a:latin typeface="Roboto Condensed" panose="02000000000000000000" pitchFamily="2" charset="0"/>
                <a:ea typeface="Roboto Condensed" panose="02000000000000000000" pitchFamily="2" charset="0"/>
                <a:cs typeface="Calibri" pitchFamily="34" charset="-120"/>
              </a:rPr>
              <a:t>Aleš</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 </a:t>
            </a:r>
            <a:r>
              <a:rPr lang="en-US" sz="1400" dirty="0" err="1">
                <a:solidFill>
                  <a:srgbClr val="1E3A3A"/>
                </a:solidFill>
                <a:latin typeface="Roboto Condensed" panose="02000000000000000000" pitchFamily="2" charset="0"/>
                <a:ea typeface="Roboto Condensed" panose="02000000000000000000" pitchFamily="2" charset="0"/>
                <a:cs typeface="Calibri" pitchFamily="34" charset="-120"/>
              </a:rPr>
              <a:t>Žagar</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 Matej </a:t>
            </a:r>
            <a:r>
              <a:rPr lang="en-US" sz="1400" dirty="0" err="1">
                <a:solidFill>
                  <a:srgbClr val="1E3A3A"/>
                </a:solidFill>
                <a:latin typeface="Roboto Condensed" panose="02000000000000000000" pitchFamily="2" charset="0"/>
                <a:ea typeface="Roboto Condensed" panose="02000000000000000000" pitchFamily="2" charset="0"/>
                <a:cs typeface="Calibri" pitchFamily="34" charset="-120"/>
              </a:rPr>
              <a:t>Klemen</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 </a:t>
            </a:r>
            <a:r>
              <a:rPr lang="en-US" sz="1400" dirty="0" err="1">
                <a:solidFill>
                  <a:srgbClr val="1E3A3A"/>
                </a:solidFill>
                <a:latin typeface="Roboto Condensed" panose="02000000000000000000" pitchFamily="2" charset="0"/>
                <a:ea typeface="Roboto Condensed" panose="02000000000000000000" pitchFamily="2" charset="0"/>
                <a:cs typeface="Calibri" pitchFamily="34" charset="-120"/>
              </a:rPr>
              <a:t>Domen</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 </a:t>
            </a:r>
            <a:r>
              <a:rPr lang="en-US" sz="1400" dirty="0" err="1">
                <a:solidFill>
                  <a:srgbClr val="1E3A3A"/>
                </a:solidFill>
                <a:latin typeface="Roboto Condensed" panose="02000000000000000000" pitchFamily="2" charset="0"/>
                <a:ea typeface="Roboto Condensed" panose="02000000000000000000" pitchFamily="2" charset="0"/>
                <a:cs typeface="Calibri" pitchFamily="34" charset="-120"/>
              </a:rPr>
              <a:t>Vreš</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 </a:t>
            </a:r>
            <a:r>
              <a:rPr lang="en-US" sz="1400" dirty="0" err="1">
                <a:solidFill>
                  <a:srgbClr val="1E3A3A"/>
                </a:solidFill>
                <a:latin typeface="Roboto Condensed" panose="02000000000000000000" pitchFamily="2" charset="0"/>
                <a:ea typeface="Roboto Condensed" panose="02000000000000000000" pitchFamily="2" charset="0"/>
                <a:cs typeface="Calibri" pitchFamily="34" charset="-120"/>
              </a:rPr>
              <a:t>Tjaša</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 </a:t>
            </a:r>
            <a:r>
              <a:rPr lang="en-US" sz="1400" dirty="0" err="1">
                <a:solidFill>
                  <a:srgbClr val="1E3A3A"/>
                </a:solidFill>
                <a:latin typeface="Roboto Condensed" panose="02000000000000000000" pitchFamily="2" charset="0"/>
                <a:ea typeface="Roboto Condensed" panose="02000000000000000000" pitchFamily="2" charset="0"/>
                <a:cs typeface="Calibri" pitchFamily="34" charset="-120"/>
              </a:rPr>
              <a:t>Arčon</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 </a:t>
            </a:r>
            <a:r>
              <a:rPr lang="en-US" sz="1400" dirty="0" err="1">
                <a:solidFill>
                  <a:srgbClr val="1E3A3A"/>
                </a:solidFill>
                <a:latin typeface="Roboto Condensed" panose="02000000000000000000" pitchFamily="2" charset="0"/>
                <a:ea typeface="Roboto Condensed" panose="02000000000000000000" pitchFamily="2" charset="0"/>
                <a:cs typeface="Calibri" pitchFamily="34" charset="-120"/>
              </a:rPr>
              <a:t>Živa</a:t>
            </a:r>
            <a:r>
              <a:rPr lang="en-US" sz="1400" dirty="0">
                <a:solidFill>
                  <a:srgbClr val="1E3A3A"/>
                </a:solidFill>
                <a:latin typeface="Roboto Condensed" panose="02000000000000000000" pitchFamily="2" charset="0"/>
                <a:ea typeface="Roboto Condensed" panose="02000000000000000000" pitchFamily="2" charset="0"/>
                <a:cs typeface="Calibri" pitchFamily="34" charset="-120"/>
              </a:rPr>
              <a:t> </a:t>
            </a:r>
            <a:r>
              <a:rPr lang="en-US" sz="1400" dirty="0" err="1">
                <a:solidFill>
                  <a:srgbClr val="1E3A3A"/>
                </a:solidFill>
                <a:latin typeface="Roboto Condensed" panose="02000000000000000000" pitchFamily="2" charset="0"/>
                <a:ea typeface="Roboto Condensed" panose="02000000000000000000" pitchFamily="2" charset="0"/>
                <a:cs typeface="Calibri" pitchFamily="34" charset="-120"/>
              </a:rPr>
              <a:t>Štebljaj</a:t>
            </a:r>
            <a:endParaRPr lang="en-US" sz="1400" dirty="0">
              <a:solidFill>
                <a:srgbClr val="1E3A3A"/>
              </a:solidFill>
              <a:latin typeface="Roboto Condensed" panose="02000000000000000000" pitchFamily="2" charset="0"/>
              <a:ea typeface="Roboto Condensed" panose="02000000000000000000" pitchFamily="2" charset="0"/>
              <a:cs typeface="Calibri" pitchFamily="34" charset="-120"/>
            </a:endParaRPr>
          </a:p>
        </p:txBody>
      </p:sp>
      <p:sp>
        <p:nvSpPr>
          <p:cNvPr id="12" name="Shape 6">
            <a:extLst>
              <a:ext uri="{FF2B5EF4-FFF2-40B4-BE49-F238E27FC236}">
                <a16:creationId xmlns:a16="http://schemas.microsoft.com/office/drawing/2014/main" id="{87039A51-35B1-4135-AEA4-288C0E300CFE}"/>
              </a:ext>
            </a:extLst>
          </p:cNvPr>
          <p:cNvSpPr/>
          <p:nvPr/>
        </p:nvSpPr>
        <p:spPr>
          <a:xfrm>
            <a:off x="548641" y="1733515"/>
            <a:ext cx="1891364" cy="3474720"/>
          </a:xfrm>
          <a:prstGeom prst="rect">
            <a:avLst/>
          </a:prstGeom>
          <a:solidFill>
            <a:srgbClr val="EDF5F5"/>
          </a:solidFill>
          <a:ln/>
          <a:effectLst>
            <a:outerShdw blurRad="50800" dist="19050" dir="8100000" algn="bl" rotWithShape="0">
              <a:srgbClr val="000000">
                <a:alpha val="8000"/>
              </a:srgbClr>
            </a:outerShdw>
          </a:effectLst>
        </p:spPr>
      </p:sp>
      <p:sp>
        <p:nvSpPr>
          <p:cNvPr id="13" name="Shape 7">
            <a:extLst>
              <a:ext uri="{FF2B5EF4-FFF2-40B4-BE49-F238E27FC236}">
                <a16:creationId xmlns:a16="http://schemas.microsoft.com/office/drawing/2014/main" id="{D8C98929-E867-4E86-B4C2-F87A4B5DB18B}"/>
              </a:ext>
            </a:extLst>
          </p:cNvPr>
          <p:cNvSpPr/>
          <p:nvPr/>
        </p:nvSpPr>
        <p:spPr>
          <a:xfrm>
            <a:off x="548640" y="1733515"/>
            <a:ext cx="45720" cy="3474720"/>
          </a:xfrm>
          <a:prstGeom prst="rect">
            <a:avLst/>
          </a:prstGeom>
          <a:solidFill>
            <a:srgbClr val="3B9DA5"/>
          </a:solidFill>
          <a:ln/>
        </p:spPr>
      </p:sp>
      <p:sp>
        <p:nvSpPr>
          <p:cNvPr id="14" name="Text 8">
            <a:extLst>
              <a:ext uri="{FF2B5EF4-FFF2-40B4-BE49-F238E27FC236}">
                <a16:creationId xmlns:a16="http://schemas.microsoft.com/office/drawing/2014/main" id="{EB6C7901-B8E5-478B-9AE7-B219D9BA767C}"/>
              </a:ext>
            </a:extLst>
          </p:cNvPr>
          <p:cNvSpPr/>
          <p:nvPr/>
        </p:nvSpPr>
        <p:spPr>
          <a:xfrm>
            <a:off x="731520" y="1806667"/>
            <a:ext cx="3291840" cy="274320"/>
          </a:xfrm>
          <a:prstGeom prst="rect">
            <a:avLst/>
          </a:prstGeom>
          <a:noFill/>
          <a:ln/>
        </p:spPr>
        <p:txBody>
          <a:bodyPr wrap="square" lIns="0" tIns="0" rIns="0" bIns="0" rtlCol="0" anchor="ctr"/>
          <a:lstStyle/>
          <a:p>
            <a:pPr marL="0" indent="0">
              <a:buNone/>
            </a:pPr>
            <a:r>
              <a:rPr lang="en-US" sz="1400" b="1" dirty="0">
                <a:solidFill>
                  <a:srgbClr val="2A7A82"/>
                </a:solidFill>
                <a:latin typeface="Roboto Condensed" panose="02000000000000000000" pitchFamily="2" charset="0"/>
                <a:ea typeface="Roboto Condensed" panose="02000000000000000000" pitchFamily="2" charset="0"/>
                <a:cs typeface="Trebuchet MS" pitchFamily="34" charset="-120"/>
              </a:rPr>
              <a:t>Learning Objectives</a:t>
            </a:r>
            <a:endParaRPr lang="en-US" sz="1400" dirty="0">
              <a:latin typeface="Roboto Condensed" panose="02000000000000000000" pitchFamily="2" charset="0"/>
              <a:ea typeface="Roboto Condensed" panose="02000000000000000000" pitchFamily="2" charset="0"/>
            </a:endParaRPr>
          </a:p>
        </p:txBody>
      </p:sp>
      <p:sp>
        <p:nvSpPr>
          <p:cNvPr id="15" name="Text 9">
            <a:extLst>
              <a:ext uri="{FF2B5EF4-FFF2-40B4-BE49-F238E27FC236}">
                <a16:creationId xmlns:a16="http://schemas.microsoft.com/office/drawing/2014/main" id="{5F530BC2-A7DB-4CF2-AFB0-581430E1D24D}"/>
              </a:ext>
            </a:extLst>
          </p:cNvPr>
          <p:cNvSpPr/>
          <p:nvPr/>
        </p:nvSpPr>
        <p:spPr>
          <a:xfrm>
            <a:off x="731520" y="2082433"/>
            <a:ext cx="1723775" cy="3063240"/>
          </a:xfrm>
          <a:prstGeom prst="rect">
            <a:avLst/>
          </a:prstGeom>
          <a:noFill/>
          <a:ln/>
        </p:spPr>
        <p:txBody>
          <a:bodyPr wrap="square" lIns="0" tIns="0" rIns="0" bIns="0" rtlCol="0" anchor="t"/>
          <a:lstStyle/>
          <a:p>
            <a:pPr>
              <a:lnSpc>
                <a:spcPct val="112000"/>
              </a:lnSpc>
            </a:pP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Get practical knowledge on how to use large language models (LLMs) via API calls, their fine-tuning for specific tasks, and efficient inference.</a:t>
            </a:r>
          </a:p>
        </p:txBody>
      </p:sp>
      <p:sp>
        <p:nvSpPr>
          <p:cNvPr id="16" name="Shape 10">
            <a:extLst>
              <a:ext uri="{FF2B5EF4-FFF2-40B4-BE49-F238E27FC236}">
                <a16:creationId xmlns:a16="http://schemas.microsoft.com/office/drawing/2014/main" id="{7ABB9E34-17DE-47BD-A95E-F00BA0E53C3E}"/>
              </a:ext>
            </a:extLst>
          </p:cNvPr>
          <p:cNvSpPr/>
          <p:nvPr/>
        </p:nvSpPr>
        <p:spPr>
          <a:xfrm>
            <a:off x="2541069" y="1733515"/>
            <a:ext cx="7026414" cy="3474720"/>
          </a:xfrm>
          <a:prstGeom prst="rect">
            <a:avLst/>
          </a:prstGeom>
          <a:solidFill>
            <a:srgbClr val="EDF5F5"/>
          </a:solidFill>
          <a:ln/>
          <a:effectLst>
            <a:outerShdw blurRad="50800" dist="19050" dir="8100000" algn="bl" rotWithShape="0">
              <a:srgbClr val="000000">
                <a:alpha val="8000"/>
              </a:srgbClr>
            </a:outerShdw>
          </a:effectLst>
        </p:spPr>
      </p:sp>
      <p:sp>
        <p:nvSpPr>
          <p:cNvPr id="17" name="Shape 11">
            <a:extLst>
              <a:ext uri="{FF2B5EF4-FFF2-40B4-BE49-F238E27FC236}">
                <a16:creationId xmlns:a16="http://schemas.microsoft.com/office/drawing/2014/main" id="{06A052C0-E805-4593-93AE-00D695C141F6}"/>
              </a:ext>
            </a:extLst>
          </p:cNvPr>
          <p:cNvSpPr/>
          <p:nvPr/>
        </p:nvSpPr>
        <p:spPr>
          <a:xfrm>
            <a:off x="2527103" y="1733515"/>
            <a:ext cx="45720" cy="3474720"/>
          </a:xfrm>
          <a:prstGeom prst="rect">
            <a:avLst/>
          </a:prstGeom>
          <a:solidFill>
            <a:srgbClr val="3B9DA5"/>
          </a:solidFill>
          <a:ln/>
        </p:spPr>
      </p:sp>
      <p:sp>
        <p:nvSpPr>
          <p:cNvPr id="18" name="Text 12">
            <a:extLst>
              <a:ext uri="{FF2B5EF4-FFF2-40B4-BE49-F238E27FC236}">
                <a16:creationId xmlns:a16="http://schemas.microsoft.com/office/drawing/2014/main" id="{D73525AC-8A4C-43E4-AAAF-84857348AD12}"/>
              </a:ext>
            </a:extLst>
          </p:cNvPr>
          <p:cNvSpPr/>
          <p:nvPr/>
        </p:nvSpPr>
        <p:spPr>
          <a:xfrm>
            <a:off x="2854033" y="1806667"/>
            <a:ext cx="5247551" cy="283464"/>
          </a:xfrm>
          <a:prstGeom prst="rect">
            <a:avLst/>
          </a:prstGeom>
          <a:noFill/>
          <a:ln/>
        </p:spPr>
        <p:txBody>
          <a:bodyPr wrap="square" lIns="0" tIns="0" rIns="0" bIns="0" rtlCol="0" anchor="ctr"/>
          <a:lstStyle/>
          <a:p>
            <a:pPr marL="0" indent="0">
              <a:buNone/>
            </a:pPr>
            <a:r>
              <a:rPr lang="en-US" sz="1400" b="1" dirty="0">
                <a:solidFill>
                  <a:srgbClr val="2A7A82"/>
                </a:solidFill>
                <a:latin typeface="Roboto Condensed" panose="02000000000000000000" pitchFamily="2" charset="0"/>
                <a:ea typeface="Roboto Condensed" panose="02000000000000000000" pitchFamily="2" charset="0"/>
                <a:cs typeface="Trebuchet MS" pitchFamily="34" charset="-120"/>
              </a:rPr>
              <a:t>Course Content</a:t>
            </a:r>
            <a:endParaRPr lang="en-US" sz="1400" dirty="0">
              <a:latin typeface="Roboto Condensed" panose="02000000000000000000" pitchFamily="2" charset="0"/>
              <a:ea typeface="Roboto Condensed" panose="02000000000000000000" pitchFamily="2" charset="0"/>
            </a:endParaRPr>
          </a:p>
        </p:txBody>
      </p:sp>
      <p:sp>
        <p:nvSpPr>
          <p:cNvPr id="19" name="Text 13">
            <a:extLst>
              <a:ext uri="{FF2B5EF4-FFF2-40B4-BE49-F238E27FC236}">
                <a16:creationId xmlns:a16="http://schemas.microsoft.com/office/drawing/2014/main" id="{231CF591-DC73-4713-9839-5D9B75124A6A}"/>
              </a:ext>
            </a:extLst>
          </p:cNvPr>
          <p:cNvSpPr/>
          <p:nvPr/>
        </p:nvSpPr>
        <p:spPr>
          <a:xfrm>
            <a:off x="2865526" y="2053555"/>
            <a:ext cx="6457144" cy="3063240"/>
          </a:xfrm>
          <a:prstGeom prst="rect">
            <a:avLst/>
          </a:prstGeom>
          <a:noFill/>
          <a:ln/>
        </p:spPr>
        <p:txBody>
          <a:bodyPr wrap="square" lIns="0" tIns="0" rIns="0" bIns="0" rtlCol="0" anchor="t"/>
          <a:lstStyle/>
          <a:p>
            <a:pPr>
              <a:lnSpc>
                <a:spcPct val="112000"/>
              </a:lnSpc>
            </a:pP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To use large language models (LLMs) in a research or business setting, it is necessary to </a:t>
            </a:r>
            <a:r>
              <a:rPr lang="en-US" sz="1300" dirty="0" err="1">
                <a:solidFill>
                  <a:srgbClr val="4A6363"/>
                </a:solidFill>
                <a:latin typeface="Roboto Condensed" panose="02000000000000000000" pitchFamily="2" charset="0"/>
                <a:ea typeface="Roboto Condensed" panose="02000000000000000000" pitchFamily="2" charset="0"/>
                <a:cs typeface="Calibri" pitchFamily="34" charset="-120"/>
              </a:rPr>
              <a:t>i</a:t>
            </a: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 access them on local computers or on GPU servers via API, ii) adapt them to specific needs by fine-tuning them. The hands-on workshop will present theoretically and practically, step-by-step:</a:t>
            </a:r>
          </a:p>
          <a:p>
            <a:pPr>
              <a:lnSpc>
                <a:spcPct val="112000"/>
              </a:lnSpc>
            </a:pPr>
            <a:r>
              <a:rPr lang="sl-SI" sz="1300" dirty="0">
                <a:solidFill>
                  <a:srgbClr val="4A6363"/>
                </a:solidFill>
                <a:latin typeface="Roboto Condensed" panose="02000000000000000000" pitchFamily="2" charset="0"/>
                <a:ea typeface="Roboto Condensed" panose="02000000000000000000" pitchFamily="2" charset="0"/>
                <a:cs typeface="Calibri" pitchFamily="34" charset="-120"/>
              </a:rPr>
              <a:t>     </a:t>
            </a: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1. How LLMs can be used via API on a local or remote server.</a:t>
            </a:r>
          </a:p>
          <a:p>
            <a:pPr>
              <a:lnSpc>
                <a:spcPct val="112000"/>
              </a:lnSpc>
            </a:pPr>
            <a:r>
              <a:rPr lang="sl-SI" sz="1300" dirty="0">
                <a:solidFill>
                  <a:srgbClr val="4A6363"/>
                </a:solidFill>
                <a:latin typeface="Roboto Condensed" panose="02000000000000000000" pitchFamily="2" charset="0"/>
                <a:ea typeface="Roboto Condensed" panose="02000000000000000000" pitchFamily="2" charset="0"/>
                <a:cs typeface="Calibri" pitchFamily="34" charset="-120"/>
              </a:rPr>
              <a:t>     </a:t>
            </a: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2. How to fine-tune encoder-only models such as BERT.</a:t>
            </a:r>
          </a:p>
          <a:p>
            <a:pPr>
              <a:lnSpc>
                <a:spcPct val="112000"/>
              </a:lnSpc>
            </a:pPr>
            <a:r>
              <a:rPr lang="sl-SI" sz="1300" dirty="0">
                <a:solidFill>
                  <a:srgbClr val="4A6363"/>
                </a:solidFill>
                <a:latin typeface="Roboto Condensed" panose="02000000000000000000" pitchFamily="2" charset="0"/>
                <a:ea typeface="Roboto Condensed" panose="02000000000000000000" pitchFamily="2" charset="0"/>
                <a:cs typeface="Calibri" pitchFamily="34" charset="-120"/>
              </a:rPr>
              <a:t>     </a:t>
            </a: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3. How to fine-tune generative models such as Llama, Gemma, and </a:t>
            </a:r>
            <a:r>
              <a:rPr lang="en-US" sz="1300" dirty="0" err="1">
                <a:solidFill>
                  <a:srgbClr val="4A6363"/>
                </a:solidFill>
                <a:latin typeface="Roboto Condensed" panose="02000000000000000000" pitchFamily="2" charset="0"/>
                <a:ea typeface="Roboto Condensed" panose="02000000000000000000" pitchFamily="2" charset="0"/>
                <a:cs typeface="Calibri" pitchFamily="34" charset="-120"/>
              </a:rPr>
              <a:t>GaMS</a:t>
            </a: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 using compute-</a:t>
            </a:r>
            <a:r>
              <a:rPr lang="sl-SI" sz="1300" dirty="0">
                <a:solidFill>
                  <a:srgbClr val="4A6363"/>
                </a:solidFill>
                <a:latin typeface="Roboto Condensed" panose="02000000000000000000" pitchFamily="2" charset="0"/>
                <a:ea typeface="Roboto Condensed" panose="02000000000000000000" pitchFamily="2" charset="0"/>
                <a:cs typeface="Calibri" pitchFamily="34" charset="-120"/>
              </a:rPr>
              <a:t>  </a:t>
            </a:r>
            <a:br>
              <a:rPr lang="sl-SI" sz="1300" dirty="0">
                <a:solidFill>
                  <a:srgbClr val="4A6363"/>
                </a:solidFill>
                <a:latin typeface="Roboto Condensed" panose="02000000000000000000" pitchFamily="2" charset="0"/>
                <a:ea typeface="Roboto Condensed" panose="02000000000000000000" pitchFamily="2" charset="0"/>
                <a:cs typeface="Calibri" pitchFamily="34" charset="-120"/>
              </a:rPr>
            </a:br>
            <a:r>
              <a:rPr lang="sl-SI" sz="1300" dirty="0">
                <a:solidFill>
                  <a:srgbClr val="4A6363"/>
                </a:solidFill>
                <a:latin typeface="Roboto Condensed" panose="02000000000000000000" pitchFamily="2" charset="0"/>
                <a:ea typeface="Roboto Condensed" panose="02000000000000000000" pitchFamily="2" charset="0"/>
                <a:cs typeface="Calibri" pitchFamily="34" charset="-120"/>
              </a:rPr>
              <a:t>         </a:t>
            </a: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efficient techniques such as </a:t>
            </a:r>
            <a:r>
              <a:rPr lang="en-US" sz="1300" dirty="0" err="1">
                <a:solidFill>
                  <a:srgbClr val="4A6363"/>
                </a:solidFill>
                <a:latin typeface="Roboto Condensed" panose="02000000000000000000" pitchFamily="2" charset="0"/>
                <a:ea typeface="Roboto Condensed" panose="02000000000000000000" pitchFamily="2" charset="0"/>
                <a:cs typeface="Calibri" pitchFamily="34" charset="-120"/>
              </a:rPr>
              <a:t>LoRA</a:t>
            </a: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a:t>
            </a:r>
          </a:p>
          <a:p>
            <a:pPr>
              <a:lnSpc>
                <a:spcPct val="112000"/>
              </a:lnSpc>
            </a:pPr>
            <a:r>
              <a:rPr lang="sl-SI" sz="1300" dirty="0">
                <a:solidFill>
                  <a:srgbClr val="4A6363"/>
                </a:solidFill>
                <a:latin typeface="Roboto Condensed" panose="02000000000000000000" pitchFamily="2" charset="0"/>
                <a:ea typeface="Roboto Condensed" panose="02000000000000000000" pitchFamily="2" charset="0"/>
                <a:cs typeface="Calibri" pitchFamily="34" charset="-120"/>
              </a:rPr>
              <a:t>     </a:t>
            </a: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4. How to implement efficient LLM inference.</a:t>
            </a:r>
          </a:p>
          <a:p>
            <a:pPr>
              <a:lnSpc>
                <a:spcPct val="112000"/>
              </a:lnSpc>
            </a:pP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The work will be based on practical datasets and problems from business and research environments. The use cases will cover popular tasks such as sentiment prediction, information retrieval, and question answering.</a:t>
            </a:r>
          </a:p>
          <a:p>
            <a:pPr>
              <a:lnSpc>
                <a:spcPct val="112000"/>
              </a:lnSpc>
            </a:pP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The independent work consists of an assignment using the dataset of your choice, preferably from your business or scientific domain (to be approved by the workshop team). The assignment shall fine-tune a suitable LLM on the prepared data, evaluate the results, and write a report, presenting the problem, methodology, evaluation, results, and conclusions.</a:t>
            </a:r>
          </a:p>
        </p:txBody>
      </p:sp>
      <p:sp>
        <p:nvSpPr>
          <p:cNvPr id="20" name="Shape 14">
            <a:extLst>
              <a:ext uri="{FF2B5EF4-FFF2-40B4-BE49-F238E27FC236}">
                <a16:creationId xmlns:a16="http://schemas.microsoft.com/office/drawing/2014/main" id="{89A66C83-AE8F-4773-BBE1-7D6553F30EF8}"/>
              </a:ext>
            </a:extLst>
          </p:cNvPr>
          <p:cNvSpPr/>
          <p:nvPr/>
        </p:nvSpPr>
        <p:spPr>
          <a:xfrm>
            <a:off x="9646919" y="1733515"/>
            <a:ext cx="1993392" cy="3474720"/>
          </a:xfrm>
          <a:prstGeom prst="rect">
            <a:avLst/>
          </a:prstGeom>
          <a:solidFill>
            <a:srgbClr val="EDF5F5"/>
          </a:solidFill>
          <a:ln/>
          <a:effectLst>
            <a:outerShdw blurRad="50800" dist="19050" dir="8100000" algn="bl" rotWithShape="0">
              <a:srgbClr val="000000">
                <a:alpha val="8000"/>
              </a:srgbClr>
            </a:outerShdw>
          </a:effectLst>
        </p:spPr>
      </p:sp>
      <p:sp>
        <p:nvSpPr>
          <p:cNvPr id="21" name="Shape 15">
            <a:extLst>
              <a:ext uri="{FF2B5EF4-FFF2-40B4-BE49-F238E27FC236}">
                <a16:creationId xmlns:a16="http://schemas.microsoft.com/office/drawing/2014/main" id="{7452D3B6-70E7-4E9C-BD57-A372BDCD0D72}"/>
              </a:ext>
            </a:extLst>
          </p:cNvPr>
          <p:cNvSpPr/>
          <p:nvPr/>
        </p:nvSpPr>
        <p:spPr>
          <a:xfrm>
            <a:off x="9632483" y="1733515"/>
            <a:ext cx="45720" cy="3474720"/>
          </a:xfrm>
          <a:prstGeom prst="rect">
            <a:avLst/>
          </a:prstGeom>
          <a:solidFill>
            <a:srgbClr val="3B9DA5"/>
          </a:solidFill>
          <a:ln/>
        </p:spPr>
      </p:sp>
      <p:sp>
        <p:nvSpPr>
          <p:cNvPr id="22" name="Text 16">
            <a:extLst>
              <a:ext uri="{FF2B5EF4-FFF2-40B4-BE49-F238E27FC236}">
                <a16:creationId xmlns:a16="http://schemas.microsoft.com/office/drawing/2014/main" id="{7EBB0456-6B8A-4909-86AD-2F5C67BEBEDA}"/>
              </a:ext>
            </a:extLst>
          </p:cNvPr>
          <p:cNvSpPr/>
          <p:nvPr/>
        </p:nvSpPr>
        <p:spPr>
          <a:xfrm>
            <a:off x="9704643" y="1806667"/>
            <a:ext cx="1798508" cy="274320"/>
          </a:xfrm>
          <a:prstGeom prst="rect">
            <a:avLst/>
          </a:prstGeom>
          <a:noFill/>
          <a:ln/>
        </p:spPr>
        <p:txBody>
          <a:bodyPr wrap="square" lIns="0" tIns="0" rIns="0" bIns="0" rtlCol="0" anchor="ctr"/>
          <a:lstStyle/>
          <a:p>
            <a:pPr marL="0" indent="0">
              <a:buNone/>
            </a:pPr>
            <a:r>
              <a:rPr lang="en-US" sz="1400" b="1" dirty="0">
                <a:solidFill>
                  <a:srgbClr val="2A7A82"/>
                </a:solidFill>
                <a:latin typeface="Roboto Condensed" panose="02000000000000000000" pitchFamily="2" charset="0"/>
                <a:ea typeface="Roboto Condensed" panose="02000000000000000000" pitchFamily="2" charset="0"/>
                <a:cs typeface="Trebuchet MS" pitchFamily="34" charset="-120"/>
              </a:rPr>
              <a:t>Learning Outcomes</a:t>
            </a:r>
            <a:endParaRPr lang="en-US" sz="1400" dirty="0">
              <a:latin typeface="Roboto Condensed" panose="02000000000000000000" pitchFamily="2" charset="0"/>
              <a:ea typeface="Roboto Condensed" panose="02000000000000000000" pitchFamily="2" charset="0"/>
            </a:endParaRPr>
          </a:p>
        </p:txBody>
      </p:sp>
      <p:sp>
        <p:nvSpPr>
          <p:cNvPr id="23" name="Text 17">
            <a:extLst>
              <a:ext uri="{FF2B5EF4-FFF2-40B4-BE49-F238E27FC236}">
                <a16:creationId xmlns:a16="http://schemas.microsoft.com/office/drawing/2014/main" id="{6E9554AF-652F-4C9C-9233-EA7E813C79C5}"/>
              </a:ext>
            </a:extLst>
          </p:cNvPr>
          <p:cNvSpPr/>
          <p:nvPr/>
        </p:nvSpPr>
        <p:spPr>
          <a:xfrm>
            <a:off x="9704643" y="2053555"/>
            <a:ext cx="1798508" cy="3063240"/>
          </a:xfrm>
          <a:prstGeom prst="rect">
            <a:avLst/>
          </a:prstGeom>
          <a:noFill/>
          <a:ln/>
        </p:spPr>
        <p:txBody>
          <a:bodyPr wrap="square" lIns="0" tIns="0" rIns="0" bIns="0" rtlCol="0" anchor="t"/>
          <a:lstStyle/>
          <a:p>
            <a:pPr>
              <a:lnSpc>
                <a:spcPct val="112000"/>
              </a:lnSpc>
            </a:pP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Practical knowledge of LLM API use and fine-tuning. Practical problem-solving skills with LLMs. Ability to independently solve problems with LLMs.</a:t>
            </a:r>
          </a:p>
        </p:txBody>
      </p:sp>
      <p:sp>
        <p:nvSpPr>
          <p:cNvPr id="24" name="Text 18">
            <a:extLst>
              <a:ext uri="{FF2B5EF4-FFF2-40B4-BE49-F238E27FC236}">
                <a16:creationId xmlns:a16="http://schemas.microsoft.com/office/drawing/2014/main" id="{F6BF14F5-928C-47CB-88DA-1E93ADE7F51F}"/>
              </a:ext>
            </a:extLst>
          </p:cNvPr>
          <p:cNvSpPr/>
          <p:nvPr/>
        </p:nvSpPr>
        <p:spPr>
          <a:xfrm>
            <a:off x="548640" y="5317963"/>
            <a:ext cx="11091672" cy="27432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Calibri" panose="020F0502020204030204" pitchFamily="34" charset="0"/>
              </a:rPr>
              <a:t>Prerequisites: </a:t>
            </a:r>
            <a:r>
              <a:rPr lang="en-US" sz="1200" dirty="0">
                <a:solidFill>
                  <a:srgbClr val="4A6363"/>
                </a:solidFill>
                <a:latin typeface="Roboto Condensed" panose="02000000000000000000" pitchFamily="2" charset="0"/>
                <a:ea typeface="Roboto Condensed" panose="02000000000000000000" pitchFamily="2" charset="0"/>
                <a:cs typeface="Calibri" panose="020F0502020204030204" pitchFamily="34" charset="0"/>
              </a:rPr>
              <a:t>/</a:t>
            </a:r>
            <a:endParaRPr lang="en-US" sz="1200" dirty="0">
              <a:latin typeface="Roboto Condensed" panose="02000000000000000000" pitchFamily="2" charset="0"/>
              <a:ea typeface="Roboto Condensed" panose="02000000000000000000" pitchFamily="2" charset="0"/>
              <a:cs typeface="Calibri" panose="020F0502020204030204" pitchFamily="34" charset="0"/>
            </a:endParaRPr>
          </a:p>
        </p:txBody>
      </p:sp>
      <p:sp>
        <p:nvSpPr>
          <p:cNvPr id="26" name="Shape 20">
            <a:extLst>
              <a:ext uri="{FF2B5EF4-FFF2-40B4-BE49-F238E27FC236}">
                <a16:creationId xmlns:a16="http://schemas.microsoft.com/office/drawing/2014/main" id="{CA4A9506-C151-497D-B05E-FEFFA995DA77}"/>
              </a:ext>
            </a:extLst>
          </p:cNvPr>
          <p:cNvSpPr/>
          <p:nvPr/>
        </p:nvSpPr>
        <p:spPr>
          <a:xfrm>
            <a:off x="548640" y="5638003"/>
            <a:ext cx="11091672" cy="36576"/>
          </a:xfrm>
          <a:prstGeom prst="rect">
            <a:avLst/>
          </a:prstGeom>
          <a:solidFill>
            <a:srgbClr val="A0B72F"/>
          </a:solidFill>
          <a:ln/>
        </p:spPr>
      </p:sp>
      <p:sp>
        <p:nvSpPr>
          <p:cNvPr id="27" name="Text 21">
            <a:extLst>
              <a:ext uri="{FF2B5EF4-FFF2-40B4-BE49-F238E27FC236}">
                <a16:creationId xmlns:a16="http://schemas.microsoft.com/office/drawing/2014/main" id="{D32C5C13-E970-41DC-90E7-9704F9ABBEDD}"/>
              </a:ext>
            </a:extLst>
          </p:cNvPr>
          <p:cNvSpPr/>
          <p:nvPr/>
        </p:nvSpPr>
        <p:spPr>
          <a:xfrm>
            <a:off x="658368" y="5692867"/>
            <a:ext cx="1714500"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Target audience</a:t>
            </a:r>
            <a:endParaRPr lang="en-US" sz="1200" dirty="0">
              <a:latin typeface="Roboto Condensed" panose="02000000000000000000" pitchFamily="2" charset="0"/>
              <a:ea typeface="Roboto Condensed" panose="02000000000000000000" pitchFamily="2" charset="0"/>
            </a:endParaRPr>
          </a:p>
          <a:p>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Advanced users of large language models</a:t>
            </a:r>
          </a:p>
        </p:txBody>
      </p:sp>
      <p:sp>
        <p:nvSpPr>
          <p:cNvPr id="28" name="Shape 22">
            <a:extLst>
              <a:ext uri="{FF2B5EF4-FFF2-40B4-BE49-F238E27FC236}">
                <a16:creationId xmlns:a16="http://schemas.microsoft.com/office/drawing/2014/main" id="{180EE7C0-5824-461A-AAC3-09D471606EEC}"/>
              </a:ext>
            </a:extLst>
          </p:cNvPr>
          <p:cNvSpPr/>
          <p:nvPr/>
        </p:nvSpPr>
        <p:spPr>
          <a:xfrm>
            <a:off x="2098865" y="5729443"/>
            <a:ext cx="9144" cy="384048"/>
          </a:xfrm>
          <a:prstGeom prst="rect">
            <a:avLst/>
          </a:prstGeom>
          <a:solidFill>
            <a:srgbClr val="D4ECEE"/>
          </a:solidFill>
          <a:ln/>
        </p:spPr>
      </p:sp>
      <p:sp>
        <p:nvSpPr>
          <p:cNvPr id="29" name="Text 23">
            <a:extLst>
              <a:ext uri="{FF2B5EF4-FFF2-40B4-BE49-F238E27FC236}">
                <a16:creationId xmlns:a16="http://schemas.microsoft.com/office/drawing/2014/main" id="{E00918F9-5BCE-4172-89B6-1C6B5384EB31}"/>
              </a:ext>
            </a:extLst>
          </p:cNvPr>
          <p:cNvSpPr/>
          <p:nvPr/>
        </p:nvSpPr>
        <p:spPr>
          <a:xfrm>
            <a:off x="2336609" y="5692867"/>
            <a:ext cx="1259551"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Language</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English</a:t>
            </a:r>
            <a:endParaRPr lang="en-US" sz="1200" dirty="0">
              <a:latin typeface="Roboto Condensed" panose="02000000000000000000" pitchFamily="2" charset="0"/>
              <a:ea typeface="Roboto Condensed" panose="02000000000000000000" pitchFamily="2" charset="0"/>
            </a:endParaRPr>
          </a:p>
        </p:txBody>
      </p:sp>
      <p:sp>
        <p:nvSpPr>
          <p:cNvPr id="30" name="Shape 24">
            <a:extLst>
              <a:ext uri="{FF2B5EF4-FFF2-40B4-BE49-F238E27FC236}">
                <a16:creationId xmlns:a16="http://schemas.microsoft.com/office/drawing/2014/main" id="{41EAE327-073F-40D7-BB3C-FB53D52F15D2}"/>
              </a:ext>
            </a:extLst>
          </p:cNvPr>
          <p:cNvSpPr/>
          <p:nvPr/>
        </p:nvSpPr>
        <p:spPr>
          <a:xfrm>
            <a:off x="3625029" y="5729443"/>
            <a:ext cx="9144" cy="384048"/>
          </a:xfrm>
          <a:prstGeom prst="rect">
            <a:avLst/>
          </a:prstGeom>
          <a:solidFill>
            <a:srgbClr val="D4ECEE"/>
          </a:solidFill>
          <a:ln/>
        </p:spPr>
      </p:sp>
      <p:sp>
        <p:nvSpPr>
          <p:cNvPr id="31" name="Text 25">
            <a:extLst>
              <a:ext uri="{FF2B5EF4-FFF2-40B4-BE49-F238E27FC236}">
                <a16:creationId xmlns:a16="http://schemas.microsoft.com/office/drawing/2014/main" id="{8DB147FB-C268-4DCF-AB24-6F1722A058AA}"/>
              </a:ext>
            </a:extLst>
          </p:cNvPr>
          <p:cNvSpPr/>
          <p:nvPr/>
        </p:nvSpPr>
        <p:spPr>
          <a:xfrm>
            <a:off x="3846893" y="5692867"/>
            <a:ext cx="1942703"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Format</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Hands-on sessions; Home assignments</a:t>
            </a:r>
            <a:endParaRPr lang="en-US" sz="1200" dirty="0">
              <a:latin typeface="Roboto Condensed" panose="02000000000000000000" pitchFamily="2" charset="0"/>
              <a:ea typeface="Roboto Condensed" panose="02000000000000000000" pitchFamily="2" charset="0"/>
            </a:endParaRPr>
          </a:p>
        </p:txBody>
      </p:sp>
      <p:sp>
        <p:nvSpPr>
          <p:cNvPr id="32" name="Shape 26">
            <a:extLst>
              <a:ext uri="{FF2B5EF4-FFF2-40B4-BE49-F238E27FC236}">
                <a16:creationId xmlns:a16="http://schemas.microsoft.com/office/drawing/2014/main" id="{A0447F1A-091D-4E24-8881-C5106EE2646F}"/>
              </a:ext>
            </a:extLst>
          </p:cNvPr>
          <p:cNvSpPr/>
          <p:nvPr/>
        </p:nvSpPr>
        <p:spPr>
          <a:xfrm>
            <a:off x="5834591" y="5729443"/>
            <a:ext cx="9144" cy="384048"/>
          </a:xfrm>
          <a:prstGeom prst="rect">
            <a:avLst/>
          </a:prstGeom>
          <a:solidFill>
            <a:srgbClr val="D4ECEE"/>
          </a:solidFill>
          <a:ln/>
        </p:spPr>
      </p:sp>
      <p:sp>
        <p:nvSpPr>
          <p:cNvPr id="33" name="Text 27">
            <a:extLst>
              <a:ext uri="{FF2B5EF4-FFF2-40B4-BE49-F238E27FC236}">
                <a16:creationId xmlns:a16="http://schemas.microsoft.com/office/drawing/2014/main" id="{7817ED81-DD4E-49D8-83F4-F7326CE73EE0}"/>
              </a:ext>
            </a:extLst>
          </p:cNvPr>
          <p:cNvSpPr/>
          <p:nvPr/>
        </p:nvSpPr>
        <p:spPr>
          <a:xfrm>
            <a:off x="6040329" y="5692867"/>
            <a:ext cx="1573254"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Tentative date</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Fall 202</a:t>
            </a:r>
            <a:r>
              <a:rPr lang="sl-SI" sz="1200" dirty="0">
                <a:solidFill>
                  <a:srgbClr val="4A6363"/>
                </a:solidFill>
                <a:latin typeface="Roboto Condensed" panose="02000000000000000000" pitchFamily="2" charset="0"/>
                <a:ea typeface="Roboto Condensed" panose="02000000000000000000" pitchFamily="2" charset="0"/>
                <a:cs typeface="Calibri" pitchFamily="34" charset="-120"/>
              </a:rPr>
              <a:t>6</a:t>
            </a: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 S</a:t>
            </a:r>
            <a:r>
              <a:rPr lang="sl-SI" sz="1200" dirty="0" err="1">
                <a:solidFill>
                  <a:srgbClr val="4A6363"/>
                </a:solidFill>
                <a:latin typeface="Roboto Condensed" panose="02000000000000000000" pitchFamily="2" charset="0"/>
                <a:ea typeface="Roboto Condensed" panose="02000000000000000000" pitchFamily="2" charset="0"/>
                <a:cs typeface="Calibri" pitchFamily="34" charset="-120"/>
              </a:rPr>
              <a:t>pring</a:t>
            </a: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 202</a:t>
            </a:r>
            <a:r>
              <a:rPr lang="sl-SI" sz="1200" dirty="0">
                <a:solidFill>
                  <a:srgbClr val="4A6363"/>
                </a:solidFill>
                <a:latin typeface="Roboto Condensed" panose="02000000000000000000" pitchFamily="2" charset="0"/>
                <a:ea typeface="Roboto Condensed" panose="02000000000000000000" pitchFamily="2" charset="0"/>
                <a:cs typeface="Calibri" pitchFamily="34" charset="-120"/>
              </a:rPr>
              <a:t>7&amp;28</a:t>
            </a:r>
            <a:endParaRPr lang="en-US" sz="1200" dirty="0">
              <a:latin typeface="Roboto Condensed" panose="02000000000000000000" pitchFamily="2" charset="0"/>
              <a:ea typeface="Roboto Condensed" panose="02000000000000000000" pitchFamily="2" charset="0"/>
            </a:endParaRPr>
          </a:p>
        </p:txBody>
      </p:sp>
      <p:sp>
        <p:nvSpPr>
          <p:cNvPr id="34" name="Shape 28">
            <a:extLst>
              <a:ext uri="{FF2B5EF4-FFF2-40B4-BE49-F238E27FC236}">
                <a16:creationId xmlns:a16="http://schemas.microsoft.com/office/drawing/2014/main" id="{D7FF52C4-00E5-407E-A83E-E3E422A44443}"/>
              </a:ext>
            </a:extLst>
          </p:cNvPr>
          <p:cNvSpPr/>
          <p:nvPr/>
        </p:nvSpPr>
        <p:spPr>
          <a:xfrm>
            <a:off x="7683203" y="5729443"/>
            <a:ext cx="9144" cy="384048"/>
          </a:xfrm>
          <a:prstGeom prst="rect">
            <a:avLst/>
          </a:prstGeom>
          <a:solidFill>
            <a:srgbClr val="D4ECEE"/>
          </a:solidFill>
          <a:ln/>
        </p:spPr>
      </p:sp>
      <p:sp>
        <p:nvSpPr>
          <p:cNvPr id="35" name="Text 29">
            <a:extLst>
              <a:ext uri="{FF2B5EF4-FFF2-40B4-BE49-F238E27FC236}">
                <a16:creationId xmlns:a16="http://schemas.microsoft.com/office/drawing/2014/main" id="{823ECCEF-B433-42CB-84D8-C279B9408FE6}"/>
              </a:ext>
            </a:extLst>
          </p:cNvPr>
          <p:cNvSpPr/>
          <p:nvPr/>
        </p:nvSpPr>
        <p:spPr>
          <a:xfrm>
            <a:off x="7846349" y="5692867"/>
            <a:ext cx="2793417"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Duration</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Contact hours: 6h, Independent work: </a:t>
            </a:r>
            <a:r>
              <a:rPr lang="sl-SI" sz="1200" dirty="0">
                <a:solidFill>
                  <a:srgbClr val="4A6363"/>
                </a:solidFill>
                <a:latin typeface="Roboto Condensed" panose="02000000000000000000" pitchFamily="2" charset="0"/>
                <a:ea typeface="Roboto Condensed" panose="02000000000000000000" pitchFamily="2" charset="0"/>
                <a:cs typeface="Calibri" pitchFamily="34" charset="-120"/>
              </a:rPr>
              <a:t>54</a:t>
            </a: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h</a:t>
            </a:r>
            <a:endParaRPr lang="en-US" sz="1200" dirty="0">
              <a:latin typeface="Roboto Condensed" panose="02000000000000000000" pitchFamily="2" charset="0"/>
              <a:ea typeface="Roboto Condensed" panose="02000000000000000000" pitchFamily="2" charset="0"/>
            </a:endParaRPr>
          </a:p>
        </p:txBody>
      </p:sp>
      <p:sp>
        <p:nvSpPr>
          <p:cNvPr id="36" name="Shape 30">
            <a:extLst>
              <a:ext uri="{FF2B5EF4-FFF2-40B4-BE49-F238E27FC236}">
                <a16:creationId xmlns:a16="http://schemas.microsoft.com/office/drawing/2014/main" id="{8C55355E-714F-4FFB-9FED-9D0B57E6BE03}"/>
              </a:ext>
            </a:extLst>
          </p:cNvPr>
          <p:cNvSpPr/>
          <p:nvPr/>
        </p:nvSpPr>
        <p:spPr>
          <a:xfrm>
            <a:off x="10571350" y="5729443"/>
            <a:ext cx="9144" cy="384048"/>
          </a:xfrm>
          <a:prstGeom prst="rect">
            <a:avLst/>
          </a:prstGeom>
          <a:solidFill>
            <a:srgbClr val="D4ECEE"/>
          </a:solidFill>
          <a:ln/>
        </p:spPr>
      </p:sp>
      <p:sp>
        <p:nvSpPr>
          <p:cNvPr id="37" name="Text 31">
            <a:extLst>
              <a:ext uri="{FF2B5EF4-FFF2-40B4-BE49-F238E27FC236}">
                <a16:creationId xmlns:a16="http://schemas.microsoft.com/office/drawing/2014/main" id="{F34DBAFD-8907-4EFA-AC52-017E29D3047E}"/>
              </a:ext>
            </a:extLst>
          </p:cNvPr>
          <p:cNvSpPr/>
          <p:nvPr/>
        </p:nvSpPr>
        <p:spPr>
          <a:xfrm>
            <a:off x="10712918" y="5692867"/>
            <a:ext cx="854242"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ECTS credits</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2</a:t>
            </a:r>
            <a:endParaRPr lang="en-US" sz="1200" dirty="0">
              <a:latin typeface="Roboto Condensed" panose="02000000000000000000" pitchFamily="2" charset="0"/>
              <a:ea typeface="Roboto Condensed" panose="02000000000000000000" pitchFamily="2" charset="0"/>
            </a:endParaRPr>
          </a:p>
        </p:txBody>
      </p:sp>
    </p:spTree>
    <p:extLst>
      <p:ext uri="{BB962C8B-B14F-4D97-AF65-F5344CB8AC3E}">
        <p14:creationId xmlns:p14="http://schemas.microsoft.com/office/powerpoint/2010/main" val="1964871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hape 19">
            <a:extLst>
              <a:ext uri="{FF2B5EF4-FFF2-40B4-BE49-F238E27FC236}">
                <a16:creationId xmlns:a16="http://schemas.microsoft.com/office/drawing/2014/main" id="{4D338D2D-B9D3-49D1-976D-F9D017088831}"/>
              </a:ext>
            </a:extLst>
          </p:cNvPr>
          <p:cNvSpPr/>
          <p:nvPr/>
        </p:nvSpPr>
        <p:spPr>
          <a:xfrm>
            <a:off x="543827" y="5532120"/>
            <a:ext cx="11091672" cy="566928"/>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en-SI" dirty="0"/>
          </a:p>
        </p:txBody>
      </p:sp>
      <p:sp>
        <p:nvSpPr>
          <p:cNvPr id="2" name="Date Placeholder 1">
            <a:extLst>
              <a:ext uri="{FF2B5EF4-FFF2-40B4-BE49-F238E27FC236}">
                <a16:creationId xmlns:a16="http://schemas.microsoft.com/office/drawing/2014/main" id="{C735078D-BBB1-4EB2-A286-F354C1A873E8}"/>
              </a:ext>
            </a:extLst>
          </p:cNvPr>
          <p:cNvSpPr>
            <a:spLocks noGrp="1"/>
          </p:cNvSpPr>
          <p:nvPr>
            <p:ph type="dt" sz="half" idx="10"/>
          </p:nvPr>
        </p:nvSpPr>
        <p:spPr/>
        <p:txBody>
          <a:bodyPr/>
          <a:lstStyle/>
          <a:p>
            <a:pPr>
              <a:defRPr/>
            </a:pPr>
            <a:fld id="{B7761311-E397-A883-1E63-9C2AB11E5243}" type="datetime1">
              <a:rPr lang="en-US" smtClean="0"/>
              <a:t>4/22/2026</a:t>
            </a:fld>
            <a:endParaRPr lang="en-US" dirty="0"/>
          </a:p>
        </p:txBody>
      </p:sp>
      <p:sp>
        <p:nvSpPr>
          <p:cNvPr id="3" name="Footer Placeholder 2">
            <a:extLst>
              <a:ext uri="{FF2B5EF4-FFF2-40B4-BE49-F238E27FC236}">
                <a16:creationId xmlns:a16="http://schemas.microsoft.com/office/drawing/2014/main" id="{32123921-9D9F-4117-AF3B-EBB060FA5E3B}"/>
              </a:ext>
            </a:extLst>
          </p:cNvPr>
          <p:cNvSpPr>
            <a:spLocks noGrp="1"/>
          </p:cNvSpPr>
          <p:nvPr>
            <p:ph type="ftr" sz="quarter" idx="11"/>
          </p:nvPr>
        </p:nvSpPr>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4" name="Slide Number Placeholder 3">
            <a:extLst>
              <a:ext uri="{FF2B5EF4-FFF2-40B4-BE49-F238E27FC236}">
                <a16:creationId xmlns:a16="http://schemas.microsoft.com/office/drawing/2014/main" id="{B45984AB-FD74-491E-B6E7-D9221B0E130D}"/>
              </a:ext>
            </a:extLst>
          </p:cNvPr>
          <p:cNvSpPr>
            <a:spLocks noGrp="1"/>
          </p:cNvSpPr>
          <p:nvPr>
            <p:ph type="sldNum" sz="quarter" idx="12"/>
          </p:nvPr>
        </p:nvSpPr>
        <p:spPr/>
        <p:txBody>
          <a:bodyPr/>
          <a:lstStyle/>
          <a:p>
            <a:pPr>
              <a:defRPr/>
            </a:pPr>
            <a:fld id="{0CE68F04-8C45-4A80-901C-428EAFDC5CAA}" type="slidenum">
              <a:rPr lang="en-US" smtClean="0"/>
              <a:t>9</a:t>
            </a:fld>
            <a:endParaRPr lang="en-US"/>
          </a:p>
        </p:txBody>
      </p:sp>
      <p:sp>
        <p:nvSpPr>
          <p:cNvPr id="5" name="TextBox 4">
            <a:extLst>
              <a:ext uri="{FF2B5EF4-FFF2-40B4-BE49-F238E27FC236}">
                <a16:creationId xmlns:a16="http://schemas.microsoft.com/office/drawing/2014/main" id="{8433D100-A962-4E29-A264-1E4A311247D9}"/>
              </a:ext>
            </a:extLst>
          </p:cNvPr>
          <p:cNvSpPr txBox="1"/>
          <p:nvPr/>
        </p:nvSpPr>
        <p:spPr>
          <a:xfrm>
            <a:off x="502919" y="347472"/>
            <a:ext cx="11247120" cy="533095"/>
          </a:xfrm>
          <a:prstGeom prst="rect">
            <a:avLst/>
          </a:prstGeom>
          <a:noFill/>
        </p:spPr>
        <p:txBody>
          <a:bodyPr wrap="square" lIns="0" tIns="0" rIns="0" bIns="0" anchor="t">
            <a:spAutoFit/>
          </a:bodyPr>
          <a:lstStyle/>
          <a:p>
            <a:pPr algn="l">
              <a:lnSpc>
                <a:spcPct val="115000"/>
              </a:lnSpc>
            </a:pPr>
            <a:r>
              <a:rPr lang="sl-SI" sz="3200" b="1" i="0" dirty="0" err="1">
                <a:solidFill>
                  <a:srgbClr val="145B6E"/>
                </a:solidFill>
                <a:latin typeface="+mj-lt"/>
              </a:rPr>
              <a:t>Training</a:t>
            </a:r>
            <a:r>
              <a:rPr lang="sl-SI" sz="3200" b="1" i="0" dirty="0">
                <a:solidFill>
                  <a:srgbClr val="145B6E"/>
                </a:solidFill>
                <a:latin typeface="+mj-lt"/>
              </a:rPr>
              <a:t> </a:t>
            </a:r>
            <a:r>
              <a:rPr lang="sl-SI" sz="3200" b="1" i="0" dirty="0" err="1">
                <a:solidFill>
                  <a:srgbClr val="145B6E"/>
                </a:solidFill>
                <a:latin typeface="+mj-lt"/>
              </a:rPr>
              <a:t>example</a:t>
            </a:r>
            <a:endParaRPr sz="3200" b="1" i="0" dirty="0">
              <a:solidFill>
                <a:srgbClr val="145B6E"/>
              </a:solidFill>
              <a:latin typeface="+mj-lt"/>
            </a:endParaRPr>
          </a:p>
        </p:txBody>
      </p:sp>
      <p:sp>
        <p:nvSpPr>
          <p:cNvPr id="9" name="Shape 2">
            <a:extLst>
              <a:ext uri="{FF2B5EF4-FFF2-40B4-BE49-F238E27FC236}">
                <a16:creationId xmlns:a16="http://schemas.microsoft.com/office/drawing/2014/main" id="{077769FD-590E-4E5D-829C-DA494AFBFBB9}"/>
              </a:ext>
            </a:extLst>
          </p:cNvPr>
          <p:cNvSpPr/>
          <p:nvPr/>
        </p:nvSpPr>
        <p:spPr>
          <a:xfrm>
            <a:off x="548640" y="1170432"/>
            <a:ext cx="11091672" cy="13716"/>
          </a:xfrm>
          <a:prstGeom prst="rect">
            <a:avLst/>
          </a:prstGeom>
          <a:solidFill>
            <a:srgbClr val="D4ECEE"/>
          </a:solidFill>
          <a:ln/>
        </p:spPr>
      </p:sp>
      <p:sp>
        <p:nvSpPr>
          <p:cNvPr id="10" name="Text 3">
            <a:extLst>
              <a:ext uri="{FF2B5EF4-FFF2-40B4-BE49-F238E27FC236}">
                <a16:creationId xmlns:a16="http://schemas.microsoft.com/office/drawing/2014/main" id="{CD36B047-33B7-4830-9B93-F628013299ED}"/>
              </a:ext>
            </a:extLst>
          </p:cNvPr>
          <p:cNvSpPr/>
          <p:nvPr/>
        </p:nvSpPr>
        <p:spPr>
          <a:xfrm>
            <a:off x="4841507" y="182880"/>
            <a:ext cx="4745254" cy="868680"/>
          </a:xfrm>
          <a:prstGeom prst="rect">
            <a:avLst/>
          </a:prstGeom>
          <a:noFill/>
          <a:ln/>
        </p:spPr>
        <p:txBody>
          <a:bodyPr wrap="square" lIns="0" tIns="0" rIns="0" bIns="0" rtlCol="0" anchor="ctr"/>
          <a:lstStyle/>
          <a:p>
            <a:pPr marL="0" indent="0">
              <a:buNone/>
            </a:pPr>
            <a:r>
              <a:rPr lang="en-US" sz="2000" b="1" dirty="0">
                <a:solidFill>
                  <a:srgbClr val="1E3A3A"/>
                </a:solidFill>
                <a:latin typeface="+mj-lt"/>
                <a:ea typeface="Trebuchet MS" pitchFamily="34" charset="-122"/>
                <a:cs typeface="Trebuchet MS" pitchFamily="34" charset="-120"/>
              </a:rPr>
              <a:t>From </a:t>
            </a:r>
            <a:r>
              <a:rPr lang="sl-SI" sz="2000" b="1" dirty="0">
                <a:solidFill>
                  <a:srgbClr val="1E3A3A"/>
                </a:solidFill>
                <a:latin typeface="+mj-lt"/>
                <a:ea typeface="Trebuchet MS" pitchFamily="34" charset="-122"/>
                <a:cs typeface="Trebuchet MS" pitchFamily="34" charset="-120"/>
              </a:rPr>
              <a:t>e</a:t>
            </a:r>
            <a:r>
              <a:rPr lang="en-US" sz="2000" b="1" dirty="0" err="1">
                <a:solidFill>
                  <a:srgbClr val="1E3A3A"/>
                </a:solidFill>
                <a:latin typeface="+mj-lt"/>
                <a:ea typeface="Trebuchet MS" pitchFamily="34" charset="-122"/>
                <a:cs typeface="Trebuchet MS" pitchFamily="34" charset="-120"/>
              </a:rPr>
              <a:t>xploratory</a:t>
            </a:r>
            <a:r>
              <a:rPr lang="en-US" sz="2000" b="1" dirty="0">
                <a:solidFill>
                  <a:srgbClr val="1E3A3A"/>
                </a:solidFill>
                <a:latin typeface="+mj-lt"/>
                <a:ea typeface="Trebuchet MS" pitchFamily="34" charset="-122"/>
                <a:cs typeface="Trebuchet MS" pitchFamily="34" charset="-120"/>
              </a:rPr>
              <a:t> </a:t>
            </a:r>
            <a:r>
              <a:rPr lang="sl-SI" sz="2000" b="1" dirty="0">
                <a:solidFill>
                  <a:srgbClr val="1E3A3A"/>
                </a:solidFill>
                <a:latin typeface="+mj-lt"/>
                <a:ea typeface="Trebuchet MS" pitchFamily="34" charset="-122"/>
                <a:cs typeface="Trebuchet MS" pitchFamily="34" charset="-120"/>
              </a:rPr>
              <a:t>d</a:t>
            </a:r>
            <a:r>
              <a:rPr lang="en-US" sz="2000" b="1" dirty="0" err="1">
                <a:solidFill>
                  <a:srgbClr val="1E3A3A"/>
                </a:solidFill>
                <a:latin typeface="+mj-lt"/>
                <a:ea typeface="Trebuchet MS" pitchFamily="34" charset="-122"/>
                <a:cs typeface="Trebuchet MS" pitchFamily="34" charset="-120"/>
              </a:rPr>
              <a:t>ata</a:t>
            </a:r>
            <a:r>
              <a:rPr lang="en-US" sz="2000" b="1" dirty="0">
                <a:solidFill>
                  <a:srgbClr val="1E3A3A"/>
                </a:solidFill>
                <a:latin typeface="+mj-lt"/>
                <a:ea typeface="Trebuchet MS" pitchFamily="34" charset="-122"/>
                <a:cs typeface="Trebuchet MS" pitchFamily="34" charset="-120"/>
              </a:rPr>
              <a:t> </a:t>
            </a:r>
            <a:r>
              <a:rPr lang="sl-SI" sz="2000" b="1" dirty="0">
                <a:solidFill>
                  <a:srgbClr val="1E3A3A"/>
                </a:solidFill>
                <a:latin typeface="+mj-lt"/>
                <a:ea typeface="Trebuchet MS" pitchFamily="34" charset="-122"/>
                <a:cs typeface="Trebuchet MS" pitchFamily="34" charset="-120"/>
              </a:rPr>
              <a:t>a</a:t>
            </a:r>
            <a:r>
              <a:rPr lang="en-US" sz="2000" b="1" dirty="0" err="1">
                <a:solidFill>
                  <a:srgbClr val="1E3A3A"/>
                </a:solidFill>
                <a:latin typeface="+mj-lt"/>
                <a:ea typeface="Trebuchet MS" pitchFamily="34" charset="-122"/>
                <a:cs typeface="Trebuchet MS" pitchFamily="34" charset="-120"/>
              </a:rPr>
              <a:t>nalysis</a:t>
            </a:r>
            <a:r>
              <a:rPr lang="en-US" sz="2000" b="1" dirty="0">
                <a:solidFill>
                  <a:srgbClr val="1E3A3A"/>
                </a:solidFill>
                <a:latin typeface="+mj-lt"/>
                <a:ea typeface="Trebuchet MS" pitchFamily="34" charset="-122"/>
                <a:cs typeface="Trebuchet MS" pitchFamily="34" charset="-120"/>
              </a:rPr>
              <a:t> to </a:t>
            </a:r>
            <a:r>
              <a:rPr lang="sl-SI" sz="2000" b="1" dirty="0">
                <a:solidFill>
                  <a:srgbClr val="1E3A3A"/>
                </a:solidFill>
                <a:latin typeface="+mj-lt"/>
                <a:ea typeface="Trebuchet MS" pitchFamily="34" charset="-122"/>
                <a:cs typeface="Trebuchet MS" pitchFamily="34" charset="-120"/>
              </a:rPr>
              <a:t>c</a:t>
            </a:r>
            <a:r>
              <a:rPr lang="en-US" sz="2000" b="1" dirty="0">
                <a:solidFill>
                  <a:srgbClr val="1E3A3A"/>
                </a:solidFill>
                <a:latin typeface="+mj-lt"/>
                <a:ea typeface="Trebuchet MS" pitchFamily="34" charset="-122"/>
                <a:cs typeface="Trebuchet MS" pitchFamily="34" charset="-120"/>
              </a:rPr>
              <a:t>hanging</a:t>
            </a:r>
            <a:r>
              <a:rPr lang="sl-SI" sz="2000" b="1" dirty="0">
                <a:solidFill>
                  <a:srgbClr val="1E3A3A"/>
                </a:solidFill>
                <a:latin typeface="+mj-lt"/>
                <a:ea typeface="Trebuchet MS" pitchFamily="34" charset="-122"/>
                <a:cs typeface="Trebuchet MS" pitchFamily="34" charset="-120"/>
              </a:rPr>
              <a:t> b</a:t>
            </a:r>
            <a:r>
              <a:rPr lang="en-US" sz="2000" b="1" dirty="0" err="1">
                <a:solidFill>
                  <a:srgbClr val="1E3A3A"/>
                </a:solidFill>
                <a:latin typeface="+mj-lt"/>
                <a:ea typeface="Trebuchet MS" pitchFamily="34" charset="-122"/>
                <a:cs typeface="Trebuchet MS" pitchFamily="34" charset="-120"/>
              </a:rPr>
              <a:t>usiness</a:t>
            </a:r>
            <a:r>
              <a:rPr lang="en-US" sz="2000" b="1" dirty="0">
                <a:solidFill>
                  <a:srgbClr val="1E3A3A"/>
                </a:solidFill>
                <a:latin typeface="+mj-lt"/>
                <a:ea typeface="Trebuchet MS" pitchFamily="34" charset="-122"/>
                <a:cs typeface="Trebuchet MS" pitchFamily="34" charset="-120"/>
              </a:rPr>
              <a:t> </a:t>
            </a:r>
            <a:r>
              <a:rPr lang="sl-SI" sz="2000" b="1" dirty="0">
                <a:solidFill>
                  <a:srgbClr val="1E3A3A"/>
                </a:solidFill>
                <a:latin typeface="+mj-lt"/>
                <a:ea typeface="Trebuchet MS" pitchFamily="34" charset="-122"/>
                <a:cs typeface="Trebuchet MS" pitchFamily="34" charset="-120"/>
              </a:rPr>
              <a:t>p</a:t>
            </a:r>
            <a:r>
              <a:rPr lang="en-US" sz="2000" b="1" dirty="0" err="1">
                <a:solidFill>
                  <a:srgbClr val="1E3A3A"/>
                </a:solidFill>
                <a:latin typeface="+mj-lt"/>
                <a:ea typeface="Trebuchet MS" pitchFamily="34" charset="-122"/>
                <a:cs typeface="Trebuchet MS" pitchFamily="34" charset="-120"/>
              </a:rPr>
              <a:t>rocesses</a:t>
            </a:r>
            <a:r>
              <a:rPr lang="en-US" sz="2000" b="1" dirty="0">
                <a:solidFill>
                  <a:srgbClr val="1E3A3A"/>
                </a:solidFill>
                <a:latin typeface="+mj-lt"/>
                <a:ea typeface="Trebuchet MS" pitchFamily="34" charset="-122"/>
                <a:cs typeface="Trebuchet MS" pitchFamily="34" charset="-120"/>
              </a:rPr>
              <a:t> </a:t>
            </a:r>
            <a:r>
              <a:rPr lang="sl-SI" sz="2000" b="1" dirty="0">
                <a:solidFill>
                  <a:srgbClr val="1E3A3A"/>
                </a:solidFill>
                <a:latin typeface="+mj-lt"/>
                <a:ea typeface="Trebuchet MS" pitchFamily="34" charset="-122"/>
                <a:cs typeface="Trebuchet MS" pitchFamily="34" charset="-120"/>
              </a:rPr>
              <a:t>u</a:t>
            </a:r>
            <a:r>
              <a:rPr lang="en-US" sz="2000" b="1" dirty="0">
                <a:solidFill>
                  <a:srgbClr val="1E3A3A"/>
                </a:solidFill>
                <a:latin typeface="+mj-lt"/>
                <a:ea typeface="Trebuchet MS" pitchFamily="34" charset="-122"/>
                <a:cs typeface="Trebuchet MS" pitchFamily="34" charset="-120"/>
              </a:rPr>
              <a:t>sing AI</a:t>
            </a:r>
            <a:endParaRPr lang="en-US" sz="2000" dirty="0">
              <a:latin typeface="+mj-lt"/>
            </a:endParaRPr>
          </a:p>
        </p:txBody>
      </p:sp>
      <p:sp>
        <p:nvSpPr>
          <p:cNvPr id="11" name="Text 5">
            <a:extLst>
              <a:ext uri="{FF2B5EF4-FFF2-40B4-BE49-F238E27FC236}">
                <a16:creationId xmlns:a16="http://schemas.microsoft.com/office/drawing/2014/main" id="{C2B8598D-6ED3-4825-A6B8-1D6918B77989}"/>
              </a:ext>
            </a:extLst>
          </p:cNvPr>
          <p:cNvSpPr/>
          <p:nvPr/>
        </p:nvSpPr>
        <p:spPr>
          <a:xfrm>
            <a:off x="548640" y="1261872"/>
            <a:ext cx="11091672" cy="292608"/>
          </a:xfrm>
          <a:prstGeom prst="rect">
            <a:avLst/>
          </a:prstGeom>
          <a:noFill/>
          <a:ln/>
        </p:spPr>
        <p:txBody>
          <a:bodyPr wrap="square" lIns="0" tIns="0" rIns="0" bIns="0" rtlCol="0" anchor="ctr"/>
          <a:lstStyle/>
          <a:p>
            <a:pPr marL="0" indent="0">
              <a:buNone/>
            </a:pPr>
            <a:r>
              <a:rPr lang="en-US" sz="1400" b="1" dirty="0">
                <a:solidFill>
                  <a:srgbClr val="1E3A3A"/>
                </a:solidFill>
                <a:latin typeface="Roboto Condensed" panose="02000000000000000000" pitchFamily="2" charset="0"/>
                <a:ea typeface="Roboto Condensed" panose="02000000000000000000" pitchFamily="2" charset="0"/>
                <a:cs typeface="Calibri" pitchFamily="34" charset="-120"/>
              </a:rPr>
              <a:t>Course provider: </a:t>
            </a:r>
            <a:r>
              <a:rPr lang="en-US" sz="1400" dirty="0">
                <a:solidFill>
                  <a:srgbClr val="4A6363"/>
                </a:solidFill>
                <a:latin typeface="Roboto Condensed" panose="02000000000000000000" pitchFamily="2" charset="0"/>
                <a:ea typeface="Roboto Condensed" panose="02000000000000000000" pitchFamily="2" charset="0"/>
                <a:cs typeface="Calibri" pitchFamily="34" charset="-120"/>
              </a:rPr>
              <a:t>University of Ljubljana, Faculty of Computer and Information Science (UL FRI)   </a:t>
            </a:r>
            <a:r>
              <a:rPr lang="en-US" sz="1400" b="1" dirty="0">
                <a:solidFill>
                  <a:srgbClr val="1E3A3A"/>
                </a:solidFill>
                <a:latin typeface="Roboto Condensed" panose="02000000000000000000" pitchFamily="2" charset="0"/>
                <a:ea typeface="Roboto Condensed" panose="02000000000000000000" pitchFamily="2" charset="0"/>
                <a:cs typeface="Calibri" pitchFamily="34" charset="-120"/>
              </a:rPr>
              <a:t>Instructors: </a:t>
            </a:r>
            <a:r>
              <a:rPr lang="en-US" sz="1400" dirty="0">
                <a:solidFill>
                  <a:srgbClr val="4A6363"/>
                </a:solidFill>
                <a:latin typeface="Roboto Condensed" panose="02000000000000000000" pitchFamily="2" charset="0"/>
                <a:ea typeface="Roboto Condensed" panose="02000000000000000000" pitchFamily="2" charset="0"/>
                <a:cs typeface="Calibri" pitchFamily="34" charset="-120"/>
              </a:rPr>
              <a:t>Slavko Žitnik, Timotej Knez, Miha </a:t>
            </a:r>
            <a:r>
              <a:rPr lang="en-US" sz="1400" dirty="0" err="1">
                <a:solidFill>
                  <a:srgbClr val="4A6363"/>
                </a:solidFill>
                <a:latin typeface="Roboto Condensed" panose="02000000000000000000" pitchFamily="2" charset="0"/>
                <a:ea typeface="Roboto Condensed" panose="02000000000000000000" pitchFamily="2" charset="0"/>
                <a:cs typeface="Calibri" pitchFamily="34" charset="-120"/>
              </a:rPr>
              <a:t>Malenšek</a:t>
            </a:r>
            <a:r>
              <a:rPr lang="en-US" sz="1400" dirty="0">
                <a:solidFill>
                  <a:srgbClr val="4A6363"/>
                </a:solidFill>
                <a:latin typeface="Roboto Condensed" panose="02000000000000000000" pitchFamily="2" charset="0"/>
                <a:ea typeface="Roboto Condensed" panose="02000000000000000000" pitchFamily="2" charset="0"/>
                <a:cs typeface="Calibri" pitchFamily="34" charset="-120"/>
              </a:rPr>
              <a:t> </a:t>
            </a:r>
            <a:endParaRPr lang="en-US" sz="1400" dirty="0">
              <a:latin typeface="Roboto Condensed" panose="02000000000000000000" pitchFamily="2" charset="0"/>
              <a:ea typeface="Roboto Condensed" panose="02000000000000000000" pitchFamily="2" charset="0"/>
            </a:endParaRPr>
          </a:p>
        </p:txBody>
      </p:sp>
      <p:sp>
        <p:nvSpPr>
          <p:cNvPr id="12" name="Shape 6">
            <a:extLst>
              <a:ext uri="{FF2B5EF4-FFF2-40B4-BE49-F238E27FC236}">
                <a16:creationId xmlns:a16="http://schemas.microsoft.com/office/drawing/2014/main" id="{87039A51-35B1-4135-AEA4-288C0E300CFE}"/>
              </a:ext>
            </a:extLst>
          </p:cNvPr>
          <p:cNvSpPr/>
          <p:nvPr/>
        </p:nvSpPr>
        <p:spPr>
          <a:xfrm>
            <a:off x="548640" y="1627632"/>
            <a:ext cx="3126339" cy="3474720"/>
          </a:xfrm>
          <a:prstGeom prst="rect">
            <a:avLst/>
          </a:prstGeom>
          <a:solidFill>
            <a:srgbClr val="EDF5F5"/>
          </a:solidFill>
          <a:ln/>
          <a:effectLst>
            <a:outerShdw blurRad="50800" dist="19050" dir="8100000" algn="bl" rotWithShape="0">
              <a:srgbClr val="000000">
                <a:alpha val="8000"/>
              </a:srgbClr>
            </a:outerShdw>
          </a:effectLst>
        </p:spPr>
      </p:sp>
      <p:sp>
        <p:nvSpPr>
          <p:cNvPr id="13" name="Shape 7">
            <a:extLst>
              <a:ext uri="{FF2B5EF4-FFF2-40B4-BE49-F238E27FC236}">
                <a16:creationId xmlns:a16="http://schemas.microsoft.com/office/drawing/2014/main" id="{D8C98929-E867-4E86-B4C2-F87A4B5DB18B}"/>
              </a:ext>
            </a:extLst>
          </p:cNvPr>
          <p:cNvSpPr/>
          <p:nvPr/>
        </p:nvSpPr>
        <p:spPr>
          <a:xfrm>
            <a:off x="548640" y="1627632"/>
            <a:ext cx="45720" cy="3474720"/>
          </a:xfrm>
          <a:prstGeom prst="rect">
            <a:avLst/>
          </a:prstGeom>
          <a:solidFill>
            <a:srgbClr val="3B9DA5"/>
          </a:solidFill>
          <a:ln/>
        </p:spPr>
      </p:sp>
      <p:sp>
        <p:nvSpPr>
          <p:cNvPr id="14" name="Text 8">
            <a:extLst>
              <a:ext uri="{FF2B5EF4-FFF2-40B4-BE49-F238E27FC236}">
                <a16:creationId xmlns:a16="http://schemas.microsoft.com/office/drawing/2014/main" id="{EB6C7901-B8E5-478B-9AE7-B219D9BA767C}"/>
              </a:ext>
            </a:extLst>
          </p:cNvPr>
          <p:cNvSpPr/>
          <p:nvPr/>
        </p:nvSpPr>
        <p:spPr>
          <a:xfrm>
            <a:off x="731520" y="1700784"/>
            <a:ext cx="3291840" cy="274320"/>
          </a:xfrm>
          <a:prstGeom prst="rect">
            <a:avLst/>
          </a:prstGeom>
          <a:noFill/>
          <a:ln/>
        </p:spPr>
        <p:txBody>
          <a:bodyPr wrap="square" lIns="0" tIns="0" rIns="0" bIns="0" rtlCol="0" anchor="ctr"/>
          <a:lstStyle/>
          <a:p>
            <a:pPr marL="0" indent="0">
              <a:buNone/>
            </a:pPr>
            <a:r>
              <a:rPr lang="en-US" sz="1400" b="1" dirty="0">
                <a:solidFill>
                  <a:srgbClr val="2A7A82"/>
                </a:solidFill>
                <a:latin typeface="Roboto Condensed" panose="02000000000000000000" pitchFamily="2" charset="0"/>
                <a:ea typeface="Roboto Condensed" panose="02000000000000000000" pitchFamily="2" charset="0"/>
                <a:cs typeface="Trebuchet MS" pitchFamily="34" charset="-120"/>
              </a:rPr>
              <a:t>Learning Objectives</a:t>
            </a:r>
            <a:endParaRPr lang="en-US" sz="1400" dirty="0">
              <a:latin typeface="Roboto Condensed" panose="02000000000000000000" pitchFamily="2" charset="0"/>
              <a:ea typeface="Roboto Condensed" panose="02000000000000000000" pitchFamily="2" charset="0"/>
            </a:endParaRPr>
          </a:p>
        </p:txBody>
      </p:sp>
      <p:sp>
        <p:nvSpPr>
          <p:cNvPr id="15" name="Text 9">
            <a:extLst>
              <a:ext uri="{FF2B5EF4-FFF2-40B4-BE49-F238E27FC236}">
                <a16:creationId xmlns:a16="http://schemas.microsoft.com/office/drawing/2014/main" id="{5F530BC2-A7DB-4CF2-AFB0-581430E1D24D}"/>
              </a:ext>
            </a:extLst>
          </p:cNvPr>
          <p:cNvSpPr/>
          <p:nvPr/>
        </p:nvSpPr>
        <p:spPr>
          <a:xfrm>
            <a:off x="731520" y="1976550"/>
            <a:ext cx="2849322" cy="3063240"/>
          </a:xfrm>
          <a:prstGeom prst="rect">
            <a:avLst/>
          </a:prstGeom>
          <a:noFill/>
          <a:ln/>
        </p:spPr>
        <p:txBody>
          <a:bodyPr wrap="square" lIns="0" tIns="0" rIns="0" bIns="0" rtlCol="0" anchor="t"/>
          <a:lstStyle/>
          <a:p>
            <a:pPr marL="0" indent="0">
              <a:lnSpc>
                <a:spcPct val="112000"/>
              </a:lnSpc>
              <a:buNone/>
            </a:pP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Understand the transition from exploratory data analysis (EDA) to production-grade AI in business processes. Connect data-driven insights with decision-making and business process transformation. Use modern AI frameworks and large language models (LLMs) to support analysis, automation, and decision-making. Assess when and how AI can meaningfully transform existing workflows. Address organizational, technical, and ethical challenges of deploying AI in business environments.</a:t>
            </a:r>
            <a:endParaRPr lang="en-US" sz="1300" dirty="0">
              <a:latin typeface="Roboto Condensed" panose="02000000000000000000" pitchFamily="2" charset="0"/>
              <a:ea typeface="Roboto Condensed" panose="02000000000000000000" pitchFamily="2" charset="0"/>
            </a:endParaRPr>
          </a:p>
        </p:txBody>
      </p:sp>
      <p:sp>
        <p:nvSpPr>
          <p:cNvPr id="16" name="Shape 10">
            <a:extLst>
              <a:ext uri="{FF2B5EF4-FFF2-40B4-BE49-F238E27FC236}">
                <a16:creationId xmlns:a16="http://schemas.microsoft.com/office/drawing/2014/main" id="{7ABB9E34-17DE-47BD-A95E-F00BA0E53C3E}"/>
              </a:ext>
            </a:extLst>
          </p:cNvPr>
          <p:cNvSpPr/>
          <p:nvPr/>
        </p:nvSpPr>
        <p:spPr>
          <a:xfrm>
            <a:off x="3812139" y="1627632"/>
            <a:ext cx="4633493" cy="3474720"/>
          </a:xfrm>
          <a:prstGeom prst="rect">
            <a:avLst/>
          </a:prstGeom>
          <a:solidFill>
            <a:srgbClr val="EDF5F5"/>
          </a:solidFill>
          <a:ln/>
          <a:effectLst>
            <a:outerShdw blurRad="50800" dist="19050" dir="8100000" algn="bl" rotWithShape="0">
              <a:srgbClr val="000000">
                <a:alpha val="8000"/>
              </a:srgbClr>
            </a:outerShdw>
          </a:effectLst>
        </p:spPr>
      </p:sp>
      <p:sp>
        <p:nvSpPr>
          <p:cNvPr id="17" name="Shape 11">
            <a:extLst>
              <a:ext uri="{FF2B5EF4-FFF2-40B4-BE49-F238E27FC236}">
                <a16:creationId xmlns:a16="http://schemas.microsoft.com/office/drawing/2014/main" id="{06A052C0-E805-4593-93AE-00D695C141F6}"/>
              </a:ext>
            </a:extLst>
          </p:cNvPr>
          <p:cNvSpPr/>
          <p:nvPr/>
        </p:nvSpPr>
        <p:spPr>
          <a:xfrm>
            <a:off x="3773577" y="1627632"/>
            <a:ext cx="45720" cy="3474720"/>
          </a:xfrm>
          <a:prstGeom prst="rect">
            <a:avLst/>
          </a:prstGeom>
          <a:solidFill>
            <a:srgbClr val="3B9DA5"/>
          </a:solidFill>
          <a:ln/>
        </p:spPr>
      </p:sp>
      <p:sp>
        <p:nvSpPr>
          <p:cNvPr id="18" name="Text 12">
            <a:extLst>
              <a:ext uri="{FF2B5EF4-FFF2-40B4-BE49-F238E27FC236}">
                <a16:creationId xmlns:a16="http://schemas.microsoft.com/office/drawing/2014/main" id="{D73525AC-8A4C-43E4-AAAF-84857348AD12}"/>
              </a:ext>
            </a:extLst>
          </p:cNvPr>
          <p:cNvSpPr/>
          <p:nvPr/>
        </p:nvSpPr>
        <p:spPr>
          <a:xfrm>
            <a:off x="4043387" y="1700784"/>
            <a:ext cx="4058197" cy="274320"/>
          </a:xfrm>
          <a:prstGeom prst="rect">
            <a:avLst/>
          </a:prstGeom>
          <a:noFill/>
          <a:ln/>
        </p:spPr>
        <p:txBody>
          <a:bodyPr wrap="square" lIns="0" tIns="0" rIns="0" bIns="0" rtlCol="0" anchor="ctr"/>
          <a:lstStyle/>
          <a:p>
            <a:pPr marL="0" indent="0">
              <a:buNone/>
            </a:pPr>
            <a:r>
              <a:rPr lang="en-US" sz="1400" b="1" dirty="0">
                <a:solidFill>
                  <a:srgbClr val="2A7A82"/>
                </a:solidFill>
                <a:latin typeface="Roboto Condensed" panose="02000000000000000000" pitchFamily="2" charset="0"/>
                <a:ea typeface="Roboto Condensed" panose="02000000000000000000" pitchFamily="2" charset="0"/>
                <a:cs typeface="Trebuchet MS" pitchFamily="34" charset="-120"/>
              </a:rPr>
              <a:t>Course Content</a:t>
            </a:r>
            <a:endParaRPr lang="en-US" sz="1400" dirty="0">
              <a:latin typeface="Roboto Condensed" panose="02000000000000000000" pitchFamily="2" charset="0"/>
              <a:ea typeface="Roboto Condensed" panose="02000000000000000000" pitchFamily="2" charset="0"/>
            </a:endParaRPr>
          </a:p>
        </p:txBody>
      </p:sp>
      <p:sp>
        <p:nvSpPr>
          <p:cNvPr id="19" name="Text 13">
            <a:extLst>
              <a:ext uri="{FF2B5EF4-FFF2-40B4-BE49-F238E27FC236}">
                <a16:creationId xmlns:a16="http://schemas.microsoft.com/office/drawing/2014/main" id="{231CF591-DC73-4713-9839-5D9B75124A6A}"/>
              </a:ext>
            </a:extLst>
          </p:cNvPr>
          <p:cNvSpPr/>
          <p:nvPr/>
        </p:nvSpPr>
        <p:spPr>
          <a:xfrm>
            <a:off x="4033617" y="1947672"/>
            <a:ext cx="4258094" cy="3063240"/>
          </a:xfrm>
          <a:prstGeom prst="rect">
            <a:avLst/>
          </a:prstGeom>
          <a:noFill/>
          <a:ln/>
        </p:spPr>
        <p:txBody>
          <a:bodyPr wrap="square" lIns="0" tIns="0" rIns="0" bIns="0" rtlCol="0" anchor="t"/>
          <a:lstStyle/>
          <a:p>
            <a:pPr marL="0" indent="0">
              <a:lnSpc>
                <a:spcPct val="112000"/>
              </a:lnSpc>
              <a:buNone/>
            </a:pP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Candidates will get to know how to get from a research analysis to business insights (exploratory data analysis, hypothesis generation, visualization, interpretation), link data to business processes (identifying processes where AI adds value, measurable impact, KPIs), use LLMs for analysis and decision support (such as ChatGPT, Gemini, GaMS, and related LLMs for text analysis, summarization, decision support, and user interaction), use frameworks for building AI-powered solutions (such as LangChain and similar tools to connect models, data sources, tools, and business logic), how to come from a prototype to a process change (integration of AI solutions into existing IT systems, task automation, human-in-the-loop approaches, change management), and get to know risks, limitations, and responsible AI.</a:t>
            </a:r>
            <a:endParaRPr lang="en-US" sz="1300" dirty="0">
              <a:latin typeface="Roboto Condensed" panose="02000000000000000000" pitchFamily="2" charset="0"/>
              <a:ea typeface="Roboto Condensed" panose="02000000000000000000" pitchFamily="2" charset="0"/>
            </a:endParaRPr>
          </a:p>
        </p:txBody>
      </p:sp>
      <p:sp>
        <p:nvSpPr>
          <p:cNvPr id="20" name="Shape 14">
            <a:extLst>
              <a:ext uri="{FF2B5EF4-FFF2-40B4-BE49-F238E27FC236}">
                <a16:creationId xmlns:a16="http://schemas.microsoft.com/office/drawing/2014/main" id="{89A66C83-AE8F-4773-BBE1-7D6553F30EF8}"/>
              </a:ext>
            </a:extLst>
          </p:cNvPr>
          <p:cNvSpPr/>
          <p:nvPr/>
        </p:nvSpPr>
        <p:spPr>
          <a:xfrm>
            <a:off x="8582793" y="1627632"/>
            <a:ext cx="3057518" cy="3474720"/>
          </a:xfrm>
          <a:prstGeom prst="rect">
            <a:avLst/>
          </a:prstGeom>
          <a:solidFill>
            <a:srgbClr val="EDF5F5"/>
          </a:solidFill>
          <a:ln/>
          <a:effectLst>
            <a:outerShdw blurRad="50800" dist="19050" dir="8100000" algn="bl" rotWithShape="0">
              <a:srgbClr val="000000">
                <a:alpha val="8000"/>
              </a:srgbClr>
            </a:outerShdw>
          </a:effectLst>
        </p:spPr>
      </p:sp>
      <p:sp>
        <p:nvSpPr>
          <p:cNvPr id="21" name="Shape 15">
            <a:extLst>
              <a:ext uri="{FF2B5EF4-FFF2-40B4-BE49-F238E27FC236}">
                <a16:creationId xmlns:a16="http://schemas.microsoft.com/office/drawing/2014/main" id="{7452D3B6-70E7-4E9C-BD57-A372BDCD0D72}"/>
              </a:ext>
            </a:extLst>
          </p:cNvPr>
          <p:cNvSpPr/>
          <p:nvPr/>
        </p:nvSpPr>
        <p:spPr>
          <a:xfrm>
            <a:off x="8525579" y="1627632"/>
            <a:ext cx="45720" cy="3474720"/>
          </a:xfrm>
          <a:prstGeom prst="rect">
            <a:avLst/>
          </a:prstGeom>
          <a:solidFill>
            <a:srgbClr val="3B9DA5"/>
          </a:solidFill>
          <a:ln/>
        </p:spPr>
      </p:sp>
      <p:sp>
        <p:nvSpPr>
          <p:cNvPr id="22" name="Text 16">
            <a:extLst>
              <a:ext uri="{FF2B5EF4-FFF2-40B4-BE49-F238E27FC236}">
                <a16:creationId xmlns:a16="http://schemas.microsoft.com/office/drawing/2014/main" id="{7EBB0456-6B8A-4909-86AD-2F5C67BEBEDA}"/>
              </a:ext>
            </a:extLst>
          </p:cNvPr>
          <p:cNvSpPr/>
          <p:nvPr/>
        </p:nvSpPr>
        <p:spPr>
          <a:xfrm>
            <a:off x="8744552" y="1700784"/>
            <a:ext cx="2758599" cy="274320"/>
          </a:xfrm>
          <a:prstGeom prst="rect">
            <a:avLst/>
          </a:prstGeom>
          <a:noFill/>
          <a:ln/>
        </p:spPr>
        <p:txBody>
          <a:bodyPr wrap="square" lIns="0" tIns="0" rIns="0" bIns="0" rtlCol="0" anchor="ctr"/>
          <a:lstStyle/>
          <a:p>
            <a:pPr marL="0" indent="0">
              <a:buNone/>
            </a:pPr>
            <a:r>
              <a:rPr lang="en-US" sz="1400" b="1" dirty="0">
                <a:solidFill>
                  <a:srgbClr val="2A7A82"/>
                </a:solidFill>
                <a:latin typeface="Roboto Condensed" panose="02000000000000000000" pitchFamily="2" charset="0"/>
                <a:ea typeface="Roboto Condensed" panose="02000000000000000000" pitchFamily="2" charset="0"/>
                <a:cs typeface="Trebuchet MS" pitchFamily="34" charset="-120"/>
              </a:rPr>
              <a:t>Learning Outcomes</a:t>
            </a:r>
            <a:endParaRPr lang="en-US" sz="1400" dirty="0">
              <a:latin typeface="Roboto Condensed" panose="02000000000000000000" pitchFamily="2" charset="0"/>
              <a:ea typeface="Roboto Condensed" panose="02000000000000000000" pitchFamily="2" charset="0"/>
            </a:endParaRPr>
          </a:p>
        </p:txBody>
      </p:sp>
      <p:sp>
        <p:nvSpPr>
          <p:cNvPr id="23" name="Text 17">
            <a:extLst>
              <a:ext uri="{FF2B5EF4-FFF2-40B4-BE49-F238E27FC236}">
                <a16:creationId xmlns:a16="http://schemas.microsoft.com/office/drawing/2014/main" id="{6E9554AF-652F-4C9C-9233-EA7E813C79C5}"/>
              </a:ext>
            </a:extLst>
          </p:cNvPr>
          <p:cNvSpPr/>
          <p:nvPr/>
        </p:nvSpPr>
        <p:spPr>
          <a:xfrm>
            <a:off x="8744552" y="1947672"/>
            <a:ext cx="2758599" cy="3063240"/>
          </a:xfrm>
          <a:prstGeom prst="rect">
            <a:avLst/>
          </a:prstGeom>
          <a:noFill/>
          <a:ln/>
        </p:spPr>
        <p:txBody>
          <a:bodyPr wrap="square" lIns="0" tIns="0" rIns="0" bIns="0" rtlCol="0" anchor="t"/>
          <a:lstStyle/>
          <a:p>
            <a:pPr marL="0" indent="0">
              <a:lnSpc>
                <a:spcPct val="112000"/>
              </a:lnSpc>
              <a:buNone/>
            </a:pPr>
            <a:r>
              <a:rPr lang="en-US" sz="1300" dirty="0">
                <a:solidFill>
                  <a:srgbClr val="4A6363"/>
                </a:solidFill>
                <a:latin typeface="Roboto Condensed" panose="02000000000000000000" pitchFamily="2" charset="0"/>
                <a:ea typeface="Roboto Condensed" panose="02000000000000000000" pitchFamily="2" charset="0"/>
                <a:cs typeface="Calibri" pitchFamily="34" charset="-120"/>
              </a:rPr>
              <a:t>By the end of the training, candidates will have learned to perform exploratory data analysis and link results to concrete business questions, identify business processes suitable for AI-enabled support or transformation, apply LLMs and AI frameworks to support analysis, decision-making, and automation, plan the transition from experimental AI solutions to changes in business processes, critically evaluate the impact of AI on organizations, employees, and business performance.</a:t>
            </a:r>
            <a:endParaRPr lang="en-US" sz="1300" dirty="0">
              <a:latin typeface="Roboto Condensed" panose="02000000000000000000" pitchFamily="2" charset="0"/>
              <a:ea typeface="Roboto Condensed" panose="02000000000000000000" pitchFamily="2" charset="0"/>
            </a:endParaRPr>
          </a:p>
        </p:txBody>
      </p:sp>
      <p:sp>
        <p:nvSpPr>
          <p:cNvPr id="24" name="Text 18">
            <a:extLst>
              <a:ext uri="{FF2B5EF4-FFF2-40B4-BE49-F238E27FC236}">
                <a16:creationId xmlns:a16="http://schemas.microsoft.com/office/drawing/2014/main" id="{F6BF14F5-928C-47CB-88DA-1E93ADE7F51F}"/>
              </a:ext>
            </a:extLst>
          </p:cNvPr>
          <p:cNvSpPr/>
          <p:nvPr/>
        </p:nvSpPr>
        <p:spPr>
          <a:xfrm>
            <a:off x="548640" y="5212080"/>
            <a:ext cx="11091672" cy="27432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Calibri" panose="020F0502020204030204" pitchFamily="34" charset="0"/>
              </a:rPr>
              <a:t>Prerequisites: </a:t>
            </a:r>
            <a:r>
              <a:rPr lang="en-US" sz="1200" dirty="0">
                <a:solidFill>
                  <a:srgbClr val="4A6363"/>
                </a:solidFill>
                <a:latin typeface="Roboto Condensed" panose="02000000000000000000" pitchFamily="2" charset="0"/>
                <a:ea typeface="Roboto Condensed" panose="02000000000000000000" pitchFamily="2" charset="0"/>
                <a:cs typeface="Calibri" panose="020F0502020204030204" pitchFamily="34" charset="0"/>
              </a:rPr>
              <a:t>/</a:t>
            </a:r>
            <a:endParaRPr lang="en-US" sz="1200" dirty="0">
              <a:latin typeface="Roboto Condensed" panose="02000000000000000000" pitchFamily="2" charset="0"/>
              <a:ea typeface="Roboto Condensed" panose="02000000000000000000" pitchFamily="2" charset="0"/>
              <a:cs typeface="Calibri" panose="020F0502020204030204" pitchFamily="34" charset="0"/>
            </a:endParaRPr>
          </a:p>
        </p:txBody>
      </p:sp>
      <p:sp>
        <p:nvSpPr>
          <p:cNvPr id="26" name="Shape 20">
            <a:extLst>
              <a:ext uri="{FF2B5EF4-FFF2-40B4-BE49-F238E27FC236}">
                <a16:creationId xmlns:a16="http://schemas.microsoft.com/office/drawing/2014/main" id="{CA4A9506-C151-497D-B05E-FEFFA995DA77}"/>
              </a:ext>
            </a:extLst>
          </p:cNvPr>
          <p:cNvSpPr/>
          <p:nvPr/>
        </p:nvSpPr>
        <p:spPr>
          <a:xfrm>
            <a:off x="548640" y="5532120"/>
            <a:ext cx="11091672" cy="36576"/>
          </a:xfrm>
          <a:prstGeom prst="rect">
            <a:avLst/>
          </a:prstGeom>
          <a:solidFill>
            <a:srgbClr val="A0B72F"/>
          </a:solidFill>
          <a:ln/>
        </p:spPr>
      </p:sp>
      <p:sp>
        <p:nvSpPr>
          <p:cNvPr id="27" name="Text 21">
            <a:extLst>
              <a:ext uri="{FF2B5EF4-FFF2-40B4-BE49-F238E27FC236}">
                <a16:creationId xmlns:a16="http://schemas.microsoft.com/office/drawing/2014/main" id="{D32C5C13-E970-41DC-90E7-9704F9ABBEDD}"/>
              </a:ext>
            </a:extLst>
          </p:cNvPr>
          <p:cNvSpPr/>
          <p:nvPr/>
        </p:nvSpPr>
        <p:spPr>
          <a:xfrm>
            <a:off x="658368" y="5586984"/>
            <a:ext cx="1714500"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Target audience</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Team leads, chief information officers</a:t>
            </a:r>
            <a:endParaRPr lang="en-US" sz="1100" dirty="0">
              <a:latin typeface="Roboto Condensed" panose="02000000000000000000" pitchFamily="2" charset="0"/>
              <a:ea typeface="Roboto Condensed" panose="02000000000000000000" pitchFamily="2" charset="0"/>
            </a:endParaRPr>
          </a:p>
        </p:txBody>
      </p:sp>
      <p:sp>
        <p:nvSpPr>
          <p:cNvPr id="28" name="Shape 22">
            <a:extLst>
              <a:ext uri="{FF2B5EF4-FFF2-40B4-BE49-F238E27FC236}">
                <a16:creationId xmlns:a16="http://schemas.microsoft.com/office/drawing/2014/main" id="{180EE7C0-5824-461A-AAC3-09D471606EEC}"/>
              </a:ext>
            </a:extLst>
          </p:cNvPr>
          <p:cNvSpPr/>
          <p:nvPr/>
        </p:nvSpPr>
        <p:spPr>
          <a:xfrm>
            <a:off x="2098865" y="5623560"/>
            <a:ext cx="9144" cy="384048"/>
          </a:xfrm>
          <a:prstGeom prst="rect">
            <a:avLst/>
          </a:prstGeom>
          <a:solidFill>
            <a:srgbClr val="D4ECEE"/>
          </a:solidFill>
          <a:ln/>
        </p:spPr>
      </p:sp>
      <p:sp>
        <p:nvSpPr>
          <p:cNvPr id="29" name="Text 23">
            <a:extLst>
              <a:ext uri="{FF2B5EF4-FFF2-40B4-BE49-F238E27FC236}">
                <a16:creationId xmlns:a16="http://schemas.microsoft.com/office/drawing/2014/main" id="{E00918F9-5BCE-4172-89B6-1C6B5384EB31}"/>
              </a:ext>
            </a:extLst>
          </p:cNvPr>
          <p:cNvSpPr/>
          <p:nvPr/>
        </p:nvSpPr>
        <p:spPr>
          <a:xfrm>
            <a:off x="2336609" y="5586984"/>
            <a:ext cx="1259551"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Language</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Slovenian, English</a:t>
            </a:r>
            <a:endParaRPr lang="en-US" sz="1200" dirty="0">
              <a:latin typeface="Roboto Condensed" panose="02000000000000000000" pitchFamily="2" charset="0"/>
              <a:ea typeface="Roboto Condensed" panose="02000000000000000000" pitchFamily="2" charset="0"/>
            </a:endParaRPr>
          </a:p>
        </p:txBody>
      </p:sp>
      <p:sp>
        <p:nvSpPr>
          <p:cNvPr id="30" name="Shape 24">
            <a:extLst>
              <a:ext uri="{FF2B5EF4-FFF2-40B4-BE49-F238E27FC236}">
                <a16:creationId xmlns:a16="http://schemas.microsoft.com/office/drawing/2014/main" id="{41EAE327-073F-40D7-BB3C-FB53D52F15D2}"/>
              </a:ext>
            </a:extLst>
          </p:cNvPr>
          <p:cNvSpPr/>
          <p:nvPr/>
        </p:nvSpPr>
        <p:spPr>
          <a:xfrm>
            <a:off x="3625029" y="5623560"/>
            <a:ext cx="9144" cy="384048"/>
          </a:xfrm>
          <a:prstGeom prst="rect">
            <a:avLst/>
          </a:prstGeom>
          <a:solidFill>
            <a:srgbClr val="D4ECEE"/>
          </a:solidFill>
          <a:ln/>
        </p:spPr>
      </p:sp>
      <p:sp>
        <p:nvSpPr>
          <p:cNvPr id="31" name="Text 25">
            <a:extLst>
              <a:ext uri="{FF2B5EF4-FFF2-40B4-BE49-F238E27FC236}">
                <a16:creationId xmlns:a16="http://schemas.microsoft.com/office/drawing/2014/main" id="{8DB147FB-C268-4DCF-AB24-6F1722A058AA}"/>
              </a:ext>
            </a:extLst>
          </p:cNvPr>
          <p:cNvSpPr/>
          <p:nvPr/>
        </p:nvSpPr>
        <p:spPr>
          <a:xfrm>
            <a:off x="3846893" y="5586984"/>
            <a:ext cx="1942703"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Format</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Lectures; Hands-on sessions; Home assignments</a:t>
            </a:r>
            <a:endParaRPr lang="en-US" sz="1200" dirty="0">
              <a:latin typeface="Roboto Condensed" panose="02000000000000000000" pitchFamily="2" charset="0"/>
              <a:ea typeface="Roboto Condensed" panose="02000000000000000000" pitchFamily="2" charset="0"/>
            </a:endParaRPr>
          </a:p>
        </p:txBody>
      </p:sp>
      <p:sp>
        <p:nvSpPr>
          <p:cNvPr id="32" name="Shape 26">
            <a:extLst>
              <a:ext uri="{FF2B5EF4-FFF2-40B4-BE49-F238E27FC236}">
                <a16:creationId xmlns:a16="http://schemas.microsoft.com/office/drawing/2014/main" id="{A0447F1A-091D-4E24-8881-C5106EE2646F}"/>
              </a:ext>
            </a:extLst>
          </p:cNvPr>
          <p:cNvSpPr/>
          <p:nvPr/>
        </p:nvSpPr>
        <p:spPr>
          <a:xfrm>
            <a:off x="5834591" y="5623560"/>
            <a:ext cx="9144" cy="384048"/>
          </a:xfrm>
          <a:prstGeom prst="rect">
            <a:avLst/>
          </a:prstGeom>
          <a:solidFill>
            <a:srgbClr val="D4ECEE"/>
          </a:solidFill>
          <a:ln/>
        </p:spPr>
      </p:sp>
      <p:sp>
        <p:nvSpPr>
          <p:cNvPr id="33" name="Text 27">
            <a:extLst>
              <a:ext uri="{FF2B5EF4-FFF2-40B4-BE49-F238E27FC236}">
                <a16:creationId xmlns:a16="http://schemas.microsoft.com/office/drawing/2014/main" id="{7817ED81-DD4E-49D8-83F4-F7326CE73EE0}"/>
              </a:ext>
            </a:extLst>
          </p:cNvPr>
          <p:cNvSpPr/>
          <p:nvPr/>
        </p:nvSpPr>
        <p:spPr>
          <a:xfrm>
            <a:off x="6040329" y="5586984"/>
            <a:ext cx="1555287"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Tentative date</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Fall 2027, Summer 2028</a:t>
            </a:r>
            <a:endParaRPr lang="en-US" sz="1200" dirty="0">
              <a:latin typeface="Roboto Condensed" panose="02000000000000000000" pitchFamily="2" charset="0"/>
              <a:ea typeface="Roboto Condensed" panose="02000000000000000000" pitchFamily="2" charset="0"/>
            </a:endParaRPr>
          </a:p>
        </p:txBody>
      </p:sp>
      <p:sp>
        <p:nvSpPr>
          <p:cNvPr id="34" name="Shape 28">
            <a:extLst>
              <a:ext uri="{FF2B5EF4-FFF2-40B4-BE49-F238E27FC236}">
                <a16:creationId xmlns:a16="http://schemas.microsoft.com/office/drawing/2014/main" id="{D7FF52C4-00E5-407E-A83E-E3E422A44443}"/>
              </a:ext>
            </a:extLst>
          </p:cNvPr>
          <p:cNvSpPr/>
          <p:nvPr/>
        </p:nvSpPr>
        <p:spPr>
          <a:xfrm>
            <a:off x="7683203" y="5623560"/>
            <a:ext cx="9144" cy="384048"/>
          </a:xfrm>
          <a:prstGeom prst="rect">
            <a:avLst/>
          </a:prstGeom>
          <a:solidFill>
            <a:srgbClr val="D4ECEE"/>
          </a:solidFill>
          <a:ln/>
        </p:spPr>
      </p:sp>
      <p:sp>
        <p:nvSpPr>
          <p:cNvPr id="35" name="Text 29">
            <a:extLst>
              <a:ext uri="{FF2B5EF4-FFF2-40B4-BE49-F238E27FC236}">
                <a16:creationId xmlns:a16="http://schemas.microsoft.com/office/drawing/2014/main" id="{823ECCEF-B433-42CB-84D8-C279B9408FE6}"/>
              </a:ext>
            </a:extLst>
          </p:cNvPr>
          <p:cNvSpPr/>
          <p:nvPr/>
        </p:nvSpPr>
        <p:spPr>
          <a:xfrm>
            <a:off x="7846349" y="5586984"/>
            <a:ext cx="2793417"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Duration</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Contact hours: 16h, Independent work: 32h</a:t>
            </a:r>
            <a:endParaRPr lang="en-US" sz="1200" dirty="0">
              <a:latin typeface="Roboto Condensed" panose="02000000000000000000" pitchFamily="2" charset="0"/>
              <a:ea typeface="Roboto Condensed" panose="02000000000000000000" pitchFamily="2" charset="0"/>
            </a:endParaRPr>
          </a:p>
        </p:txBody>
      </p:sp>
      <p:sp>
        <p:nvSpPr>
          <p:cNvPr id="36" name="Shape 30">
            <a:extLst>
              <a:ext uri="{FF2B5EF4-FFF2-40B4-BE49-F238E27FC236}">
                <a16:creationId xmlns:a16="http://schemas.microsoft.com/office/drawing/2014/main" id="{8C55355E-714F-4FFB-9FED-9D0B57E6BE03}"/>
              </a:ext>
            </a:extLst>
          </p:cNvPr>
          <p:cNvSpPr/>
          <p:nvPr/>
        </p:nvSpPr>
        <p:spPr>
          <a:xfrm>
            <a:off x="10571350" y="5623560"/>
            <a:ext cx="9144" cy="384048"/>
          </a:xfrm>
          <a:prstGeom prst="rect">
            <a:avLst/>
          </a:prstGeom>
          <a:solidFill>
            <a:srgbClr val="D4ECEE"/>
          </a:solidFill>
          <a:ln/>
        </p:spPr>
      </p:sp>
      <p:sp>
        <p:nvSpPr>
          <p:cNvPr id="37" name="Text 31">
            <a:extLst>
              <a:ext uri="{FF2B5EF4-FFF2-40B4-BE49-F238E27FC236}">
                <a16:creationId xmlns:a16="http://schemas.microsoft.com/office/drawing/2014/main" id="{F34DBAFD-8907-4EFA-AC52-017E29D3047E}"/>
              </a:ext>
            </a:extLst>
          </p:cNvPr>
          <p:cNvSpPr/>
          <p:nvPr/>
        </p:nvSpPr>
        <p:spPr>
          <a:xfrm>
            <a:off x="10712918" y="5586984"/>
            <a:ext cx="854242" cy="457200"/>
          </a:xfrm>
          <a:prstGeom prst="rect">
            <a:avLst/>
          </a:prstGeom>
          <a:noFill/>
          <a:ln/>
        </p:spPr>
        <p:txBody>
          <a:bodyPr wrap="square" lIns="0" tIns="0" rIns="0" bIns="0" rtlCol="0" anchor="ctr"/>
          <a:lstStyle/>
          <a:p>
            <a:pPr marL="0" indent="0">
              <a:buNone/>
            </a:pPr>
            <a:r>
              <a:rPr lang="en-US" sz="1200" b="1" dirty="0">
                <a:solidFill>
                  <a:srgbClr val="1E3A3A"/>
                </a:solidFill>
                <a:latin typeface="Roboto Condensed" panose="02000000000000000000" pitchFamily="2" charset="0"/>
                <a:ea typeface="Roboto Condensed" panose="02000000000000000000" pitchFamily="2" charset="0"/>
                <a:cs typeface="Trebuchet MS" pitchFamily="34" charset="-120"/>
              </a:rPr>
              <a:t>ECTS credits</a:t>
            </a:r>
            <a:endParaRPr lang="en-US" sz="1200" dirty="0">
              <a:latin typeface="Roboto Condensed" panose="02000000000000000000" pitchFamily="2" charset="0"/>
              <a:ea typeface="Roboto Condensed" panose="02000000000000000000" pitchFamily="2" charset="0"/>
            </a:endParaRPr>
          </a:p>
          <a:p>
            <a:pPr marL="0" indent="0">
              <a:buNone/>
            </a:pPr>
            <a:r>
              <a:rPr lang="en-US" sz="1200" dirty="0">
                <a:solidFill>
                  <a:srgbClr val="4A6363"/>
                </a:solidFill>
                <a:latin typeface="Roboto Condensed" panose="02000000000000000000" pitchFamily="2" charset="0"/>
                <a:ea typeface="Roboto Condensed" panose="02000000000000000000" pitchFamily="2" charset="0"/>
                <a:cs typeface="Calibri" pitchFamily="34" charset="-120"/>
              </a:rPr>
              <a:t>2</a:t>
            </a:r>
            <a:endParaRPr lang="en-US" sz="1200" dirty="0">
              <a:latin typeface="Roboto Condensed" panose="02000000000000000000" pitchFamily="2" charset="0"/>
              <a:ea typeface="Roboto Condensed" panose="02000000000000000000" pitchFamily="2" charset="0"/>
            </a:endParaRPr>
          </a:p>
        </p:txBody>
      </p:sp>
    </p:spTree>
    <p:extLst>
      <p:ext uri="{BB962C8B-B14F-4D97-AF65-F5344CB8AC3E}">
        <p14:creationId xmlns:p14="http://schemas.microsoft.com/office/powerpoint/2010/main" val="3937274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rPr>
              <a:t>Training IT infrastructure — operational by M7</a:t>
            </a:r>
          </a:p>
        </p:txBody>
      </p:sp>
      <p:sp>
        <p:nvSpPr>
          <p:cNvPr id="3" name="TextBox 2"/>
          <p:cNvSpPr txBox="1"/>
          <p:nvPr/>
        </p:nvSpPr>
        <p:spPr>
          <a:xfrm>
            <a:off x="502920" y="1005840"/>
            <a:ext cx="11247120" cy="411480"/>
          </a:xfrm>
          <a:prstGeom prst="rect">
            <a:avLst/>
          </a:prstGeom>
          <a:noFill/>
        </p:spPr>
        <p:txBody>
          <a:bodyPr wrap="square" lIns="0" tIns="0" rIns="0" bIns="0" anchor="t">
            <a:spAutoFit/>
          </a:bodyPr>
          <a:lstStyle/>
          <a:p>
            <a:pPr algn="l">
              <a:lnSpc>
                <a:spcPct val="115000"/>
              </a:lnSpc>
            </a:pPr>
            <a:r>
              <a:rPr sz="1600" b="0" i="1" dirty="0">
                <a:solidFill>
                  <a:srgbClr val="556670"/>
                </a:solidFill>
                <a:latin typeface="Calibri"/>
              </a:rPr>
              <a:t>Two platforms, one registry — all discoverable, manageable and KPI-reportable</a:t>
            </a:r>
          </a:p>
        </p:txBody>
      </p:sp>
      <p:sp>
        <p:nvSpPr>
          <p:cNvPr id="4" name="Rounded Rectangle 3"/>
          <p:cNvSpPr/>
          <p:nvPr/>
        </p:nvSpPr>
        <p:spPr>
          <a:xfrm>
            <a:off x="495147" y="1783080"/>
            <a:ext cx="5486400" cy="4160520"/>
          </a:xfrm>
          <a:prstGeom prst="roundRect">
            <a:avLst>
              <a:gd name="adj" fmla="val 4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5" name="Rectangle 4"/>
          <p:cNvSpPr/>
          <p:nvPr/>
        </p:nvSpPr>
        <p:spPr>
          <a:xfrm>
            <a:off x="495147" y="1783080"/>
            <a:ext cx="5486400" cy="685800"/>
          </a:xfrm>
          <a:prstGeom prst="rect">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6" name="TextBox 5"/>
          <p:cNvSpPr txBox="1"/>
          <p:nvPr/>
        </p:nvSpPr>
        <p:spPr>
          <a:xfrm>
            <a:off x="495147" y="1901952"/>
            <a:ext cx="5486400" cy="362535"/>
          </a:xfrm>
          <a:prstGeom prst="rect">
            <a:avLst/>
          </a:prstGeom>
          <a:noFill/>
        </p:spPr>
        <p:txBody>
          <a:bodyPr wrap="square" lIns="0" tIns="0" rIns="0" bIns="0" anchor="t">
            <a:spAutoFit/>
          </a:bodyPr>
          <a:lstStyle/>
          <a:p>
            <a:pPr algn="ctr">
              <a:lnSpc>
                <a:spcPct val="115000"/>
              </a:lnSpc>
            </a:pPr>
            <a:r>
              <a:rPr sz="2200" b="1" i="0">
                <a:solidFill>
                  <a:srgbClr val="FFFFFF"/>
                </a:solidFill>
                <a:latin typeface="Roboto Condensed" panose="02000000000000000000" pitchFamily="2" charset="0"/>
                <a:ea typeface="Roboto Condensed" panose="02000000000000000000" pitchFamily="2" charset="0"/>
              </a:rPr>
              <a:t>MOOC platform</a:t>
            </a:r>
          </a:p>
        </p:txBody>
      </p:sp>
      <p:sp>
        <p:nvSpPr>
          <p:cNvPr id="7" name="TextBox 6"/>
          <p:cNvSpPr txBox="1"/>
          <p:nvPr/>
        </p:nvSpPr>
        <p:spPr>
          <a:xfrm>
            <a:off x="495147" y="2560320"/>
            <a:ext cx="5486400" cy="296620"/>
          </a:xfrm>
          <a:prstGeom prst="rect">
            <a:avLst/>
          </a:prstGeom>
          <a:noFill/>
        </p:spPr>
        <p:txBody>
          <a:bodyPr wrap="square" lIns="0" tIns="0" rIns="0" bIns="0" anchor="t">
            <a:spAutoFit/>
          </a:bodyPr>
          <a:lstStyle/>
          <a:p>
            <a:pPr algn="ctr">
              <a:lnSpc>
                <a:spcPct val="115000"/>
              </a:lnSpc>
            </a:pPr>
            <a:r>
              <a:rPr sz="1800" b="1" i="1">
                <a:solidFill>
                  <a:srgbClr val="145B6E"/>
                </a:solidFill>
                <a:latin typeface="Roboto Condensed" panose="02000000000000000000" pitchFamily="2" charset="0"/>
                <a:ea typeface="Roboto Condensed" panose="02000000000000000000" pitchFamily="2" charset="0"/>
              </a:rPr>
              <a:t>edu.slaif.si</a:t>
            </a:r>
          </a:p>
        </p:txBody>
      </p:sp>
      <p:grpSp>
        <p:nvGrpSpPr>
          <p:cNvPr id="33" name="Group 32">
            <a:extLst>
              <a:ext uri="{FF2B5EF4-FFF2-40B4-BE49-F238E27FC236}">
                <a16:creationId xmlns:a16="http://schemas.microsoft.com/office/drawing/2014/main" id="{4E57F354-0298-4ECB-8FE8-884F6A0AF886}"/>
              </a:ext>
            </a:extLst>
          </p:cNvPr>
          <p:cNvGrpSpPr/>
          <p:nvPr/>
        </p:nvGrpSpPr>
        <p:grpSpPr>
          <a:xfrm>
            <a:off x="815187" y="3163662"/>
            <a:ext cx="5029200" cy="499817"/>
            <a:chOff x="815187" y="3163662"/>
            <a:chExt cx="5029200" cy="499817"/>
          </a:xfrm>
        </p:grpSpPr>
        <p:sp>
          <p:nvSpPr>
            <p:cNvPr id="8" name="Oval 7"/>
            <p:cNvSpPr/>
            <p:nvPr/>
          </p:nvSpPr>
          <p:spPr>
            <a:xfrm>
              <a:off x="815187" y="3221304"/>
              <a:ext cx="137160" cy="137160"/>
            </a:xfrm>
            <a:prstGeom prst="ellipse">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9" name="TextBox 8"/>
            <p:cNvSpPr txBox="1"/>
            <p:nvPr/>
          </p:nvSpPr>
          <p:spPr>
            <a:xfrm>
              <a:off x="1043787" y="3163662"/>
              <a:ext cx="4800600" cy="499817"/>
            </a:xfrm>
            <a:prstGeom prst="rect">
              <a:avLst/>
            </a:prstGeom>
            <a:noFill/>
          </p:spPr>
          <p:txBody>
            <a:bodyPr wrap="square" lIns="0" tIns="0" rIns="0" bIns="0" anchor="t">
              <a:spAutoFit/>
            </a:bodyPr>
            <a:lstStyle/>
            <a:p>
              <a:pPr algn="l">
                <a:lnSpc>
                  <a:spcPct val="120000"/>
                </a:lnSpc>
              </a:pPr>
              <a:r>
                <a:rPr sz="1400" b="0" i="0" dirty="0">
                  <a:solidFill>
                    <a:srgbClr val="1C2B33"/>
                  </a:solidFill>
                  <a:latin typeface="Roboto Condensed" panose="02000000000000000000" pitchFamily="2" charset="0"/>
                  <a:ea typeface="Roboto Condensed" panose="02000000000000000000" pitchFamily="2" charset="0"/>
                </a:rPr>
                <a:t>Central repository: lecture notes, source code, </a:t>
              </a:r>
              <a:r>
                <a:rPr sz="1400" b="0" i="0" dirty="0" err="1">
                  <a:solidFill>
                    <a:srgbClr val="1C2B33"/>
                  </a:solidFill>
                  <a:latin typeface="Roboto Condensed" panose="02000000000000000000" pitchFamily="2" charset="0"/>
                  <a:ea typeface="Roboto Condensed" panose="02000000000000000000" pitchFamily="2" charset="0"/>
                </a:rPr>
                <a:t>Jupyter</a:t>
              </a:r>
              <a:r>
                <a:rPr sz="1400" b="0" i="0" dirty="0">
                  <a:solidFill>
                    <a:srgbClr val="1C2B33"/>
                  </a:solidFill>
                  <a:latin typeface="Roboto Condensed" panose="02000000000000000000" pitchFamily="2" charset="0"/>
                  <a:ea typeface="Roboto Condensed" panose="02000000000000000000" pitchFamily="2" charset="0"/>
                </a:rPr>
                <a:t> notebooks, supplementary materials</a:t>
              </a:r>
            </a:p>
          </p:txBody>
        </p:sp>
      </p:grpSp>
      <p:grpSp>
        <p:nvGrpSpPr>
          <p:cNvPr id="34" name="Group 33">
            <a:extLst>
              <a:ext uri="{FF2B5EF4-FFF2-40B4-BE49-F238E27FC236}">
                <a16:creationId xmlns:a16="http://schemas.microsoft.com/office/drawing/2014/main" id="{48A3A21B-B176-470C-A709-F21CB1AC2C59}"/>
              </a:ext>
            </a:extLst>
          </p:cNvPr>
          <p:cNvGrpSpPr/>
          <p:nvPr/>
        </p:nvGrpSpPr>
        <p:grpSpPr>
          <a:xfrm>
            <a:off x="815187" y="3772714"/>
            <a:ext cx="5029200" cy="502920"/>
            <a:chOff x="815187" y="3752304"/>
            <a:chExt cx="5029200" cy="502920"/>
          </a:xfrm>
        </p:grpSpPr>
        <p:sp>
          <p:nvSpPr>
            <p:cNvPr id="10" name="Oval 9"/>
            <p:cNvSpPr/>
            <p:nvPr/>
          </p:nvSpPr>
          <p:spPr>
            <a:xfrm>
              <a:off x="815187" y="3822192"/>
              <a:ext cx="137160" cy="137160"/>
            </a:xfrm>
            <a:prstGeom prst="ellipse">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1" name="TextBox 10"/>
            <p:cNvSpPr txBox="1"/>
            <p:nvPr/>
          </p:nvSpPr>
          <p:spPr>
            <a:xfrm>
              <a:off x="1043787" y="3752304"/>
              <a:ext cx="4800600" cy="502920"/>
            </a:xfrm>
            <a:prstGeom prst="rect">
              <a:avLst/>
            </a:prstGeom>
            <a:noFill/>
          </p:spPr>
          <p:txBody>
            <a:bodyPr wrap="square" lIns="0" tIns="0" rIns="0" bIns="0" anchor="t">
              <a:spAutoFit/>
            </a:bodyPr>
            <a:lstStyle/>
            <a:p>
              <a:pPr algn="l">
                <a:lnSpc>
                  <a:spcPct val="120000"/>
                </a:lnSpc>
              </a:pPr>
              <a:r>
                <a:rPr sz="1400" b="0" i="0" dirty="0">
                  <a:solidFill>
                    <a:srgbClr val="1C2B33"/>
                  </a:solidFill>
                  <a:latin typeface="Roboto Condensed" panose="02000000000000000000" pitchFamily="2" charset="0"/>
                  <a:ea typeface="Roboto Condensed" panose="02000000000000000000" pitchFamily="2" charset="0"/>
                </a:rPr>
                <a:t>Interactive teaching: integrated quizzes, assignments, homework submission, remote assessment</a:t>
              </a:r>
            </a:p>
          </p:txBody>
        </p:sp>
      </p:grpSp>
      <p:grpSp>
        <p:nvGrpSpPr>
          <p:cNvPr id="35" name="Group 34">
            <a:extLst>
              <a:ext uri="{FF2B5EF4-FFF2-40B4-BE49-F238E27FC236}">
                <a16:creationId xmlns:a16="http://schemas.microsoft.com/office/drawing/2014/main" id="{55196EF9-D860-4578-BC1D-346E5165D96D}"/>
              </a:ext>
            </a:extLst>
          </p:cNvPr>
          <p:cNvGrpSpPr/>
          <p:nvPr/>
        </p:nvGrpSpPr>
        <p:grpSpPr>
          <a:xfrm>
            <a:off x="815187" y="4417147"/>
            <a:ext cx="5029200" cy="241285"/>
            <a:chOff x="815187" y="4357274"/>
            <a:chExt cx="5029200" cy="241285"/>
          </a:xfrm>
        </p:grpSpPr>
        <p:sp>
          <p:nvSpPr>
            <p:cNvPr id="12" name="Oval 11"/>
            <p:cNvSpPr/>
            <p:nvPr/>
          </p:nvSpPr>
          <p:spPr>
            <a:xfrm>
              <a:off x="815187" y="4406752"/>
              <a:ext cx="137160" cy="137160"/>
            </a:xfrm>
            <a:prstGeom prst="ellipse">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3" name="TextBox 12"/>
            <p:cNvSpPr txBox="1"/>
            <p:nvPr/>
          </p:nvSpPr>
          <p:spPr>
            <a:xfrm>
              <a:off x="1043787" y="4357274"/>
              <a:ext cx="4800600" cy="241285"/>
            </a:xfrm>
            <a:prstGeom prst="rect">
              <a:avLst/>
            </a:prstGeom>
            <a:noFill/>
          </p:spPr>
          <p:txBody>
            <a:bodyPr wrap="square" lIns="0" tIns="0" rIns="0" bIns="0" anchor="t">
              <a:spAutoFit/>
            </a:bodyPr>
            <a:lstStyle/>
            <a:p>
              <a:pPr algn="l">
                <a:lnSpc>
                  <a:spcPct val="120000"/>
                </a:lnSpc>
              </a:pPr>
              <a:r>
                <a:rPr sz="1400" b="0" i="0" dirty="0">
                  <a:solidFill>
                    <a:srgbClr val="1C2B33"/>
                  </a:solidFill>
                  <a:latin typeface="Roboto Condensed" panose="02000000000000000000" pitchFamily="2" charset="0"/>
                  <a:ea typeface="Roboto Condensed" panose="02000000000000000000" pitchFamily="2" charset="0"/>
                </a:rPr>
                <a:t>Dedicated GitHub </a:t>
              </a:r>
              <a:r>
                <a:rPr sz="1400" b="0" i="0" dirty="0" err="1">
                  <a:solidFill>
                    <a:srgbClr val="1C2B33"/>
                  </a:solidFill>
                  <a:latin typeface="Roboto Condensed" panose="02000000000000000000" pitchFamily="2" charset="0"/>
                  <a:ea typeface="Roboto Condensed" panose="02000000000000000000" pitchFamily="2" charset="0"/>
                </a:rPr>
                <a:t>organisation</a:t>
              </a:r>
              <a:r>
                <a:rPr sz="1400" b="0" i="0" dirty="0">
                  <a:solidFill>
                    <a:srgbClr val="1C2B33"/>
                  </a:solidFill>
                  <a:latin typeface="Roboto Condensed" panose="02000000000000000000" pitchFamily="2" charset="0"/>
                  <a:ea typeface="Roboto Condensed" panose="02000000000000000000" pitchFamily="2" charset="0"/>
                </a:rPr>
                <a:t> for source code management</a:t>
              </a:r>
            </a:p>
          </p:txBody>
        </p:sp>
      </p:grpSp>
      <p:grpSp>
        <p:nvGrpSpPr>
          <p:cNvPr id="36" name="Group 35">
            <a:extLst>
              <a:ext uri="{FF2B5EF4-FFF2-40B4-BE49-F238E27FC236}">
                <a16:creationId xmlns:a16="http://schemas.microsoft.com/office/drawing/2014/main" id="{F9FD5516-9838-479A-89AE-8A264A8BDCF5}"/>
              </a:ext>
            </a:extLst>
          </p:cNvPr>
          <p:cNvGrpSpPr/>
          <p:nvPr/>
        </p:nvGrpSpPr>
        <p:grpSpPr>
          <a:xfrm>
            <a:off x="815187" y="4783805"/>
            <a:ext cx="5029200" cy="502920"/>
            <a:chOff x="815187" y="4758144"/>
            <a:chExt cx="5029200" cy="502920"/>
          </a:xfrm>
        </p:grpSpPr>
        <p:sp>
          <p:nvSpPr>
            <p:cNvPr id="14" name="Oval 13"/>
            <p:cNvSpPr/>
            <p:nvPr/>
          </p:nvSpPr>
          <p:spPr>
            <a:xfrm>
              <a:off x="815187" y="4828032"/>
              <a:ext cx="137160" cy="137160"/>
            </a:xfrm>
            <a:prstGeom prst="ellipse">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5" name="TextBox 14"/>
            <p:cNvSpPr txBox="1"/>
            <p:nvPr/>
          </p:nvSpPr>
          <p:spPr>
            <a:xfrm>
              <a:off x="1043787" y="4758144"/>
              <a:ext cx="4800600" cy="502920"/>
            </a:xfrm>
            <a:prstGeom prst="rect">
              <a:avLst/>
            </a:prstGeom>
            <a:noFill/>
          </p:spPr>
          <p:txBody>
            <a:bodyPr wrap="square" lIns="0" tIns="0" rIns="0" bIns="0" anchor="t">
              <a:spAutoFit/>
            </a:bodyPr>
            <a:lstStyle/>
            <a:p>
              <a:pPr algn="l">
                <a:lnSpc>
                  <a:spcPct val="120000"/>
                </a:lnSpc>
              </a:pPr>
              <a:r>
                <a:rPr sz="1400" b="0" i="0" dirty="0" err="1">
                  <a:solidFill>
                    <a:srgbClr val="1C2B33"/>
                  </a:solidFill>
                  <a:latin typeface="Roboto Condensed" panose="02000000000000000000" pitchFamily="2" charset="0"/>
                  <a:ea typeface="Roboto Condensed" panose="02000000000000000000" pitchFamily="2" charset="0"/>
                </a:rPr>
                <a:t>Standardised</a:t>
              </a:r>
              <a:r>
                <a:rPr sz="1400" b="0" i="0" dirty="0">
                  <a:solidFill>
                    <a:srgbClr val="1C2B33"/>
                  </a:solidFill>
                  <a:latin typeface="Roboto Condensed" panose="02000000000000000000" pitchFamily="2" charset="0"/>
                  <a:ea typeface="Roboto Condensed" panose="02000000000000000000" pitchFamily="2" charset="0"/>
                </a:rPr>
                <a:t> content structure: landing pages, code blocks, callouts, example annotations</a:t>
              </a:r>
            </a:p>
          </p:txBody>
        </p:sp>
      </p:grpSp>
      <p:grpSp>
        <p:nvGrpSpPr>
          <p:cNvPr id="37" name="Group 36">
            <a:extLst>
              <a:ext uri="{FF2B5EF4-FFF2-40B4-BE49-F238E27FC236}">
                <a16:creationId xmlns:a16="http://schemas.microsoft.com/office/drawing/2014/main" id="{70D5EDAA-8B91-4120-8A1A-91968B5F5954}"/>
              </a:ext>
            </a:extLst>
          </p:cNvPr>
          <p:cNvGrpSpPr/>
          <p:nvPr/>
        </p:nvGrpSpPr>
        <p:grpSpPr>
          <a:xfrm>
            <a:off x="815187" y="5412098"/>
            <a:ext cx="5029200" cy="241285"/>
            <a:chOff x="815187" y="5330458"/>
            <a:chExt cx="5029200" cy="241285"/>
          </a:xfrm>
        </p:grpSpPr>
        <p:sp>
          <p:nvSpPr>
            <p:cNvPr id="16" name="Oval 15"/>
            <p:cNvSpPr/>
            <p:nvPr/>
          </p:nvSpPr>
          <p:spPr>
            <a:xfrm>
              <a:off x="815187" y="5388100"/>
              <a:ext cx="137160" cy="137160"/>
            </a:xfrm>
            <a:prstGeom prst="ellipse">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7" name="TextBox 16"/>
            <p:cNvSpPr txBox="1"/>
            <p:nvPr/>
          </p:nvSpPr>
          <p:spPr>
            <a:xfrm>
              <a:off x="1043787" y="5330458"/>
              <a:ext cx="4800600" cy="241285"/>
            </a:xfrm>
            <a:prstGeom prst="rect">
              <a:avLst/>
            </a:prstGeom>
            <a:noFill/>
          </p:spPr>
          <p:txBody>
            <a:bodyPr wrap="square" lIns="0" tIns="0" rIns="0" bIns="0" anchor="t">
              <a:spAutoFit/>
            </a:bodyPr>
            <a:lstStyle/>
            <a:p>
              <a:pPr algn="l">
                <a:lnSpc>
                  <a:spcPct val="120000"/>
                </a:lnSpc>
              </a:pPr>
              <a:r>
                <a:rPr sz="1400" b="0" i="0" dirty="0">
                  <a:solidFill>
                    <a:srgbClr val="1C2B33"/>
                  </a:solidFill>
                  <a:latin typeface="Roboto Condensed" panose="02000000000000000000" pitchFamily="2" charset="0"/>
                  <a:ea typeface="Roboto Condensed" panose="02000000000000000000" pitchFamily="2" charset="0"/>
                </a:rPr>
                <a:t>Consortium-wide onboarding target: May 2026</a:t>
              </a:r>
            </a:p>
          </p:txBody>
        </p:sp>
      </p:grpSp>
      <p:sp>
        <p:nvSpPr>
          <p:cNvPr id="18" name="Rounded Rectangle 17"/>
          <p:cNvSpPr/>
          <p:nvPr/>
        </p:nvSpPr>
        <p:spPr>
          <a:xfrm>
            <a:off x="6210147" y="1783080"/>
            <a:ext cx="5486400" cy="4160520"/>
          </a:xfrm>
          <a:prstGeom prst="roundRect">
            <a:avLst>
              <a:gd name="adj" fmla="val 4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9" name="Rectangle 18"/>
          <p:cNvSpPr/>
          <p:nvPr/>
        </p:nvSpPr>
        <p:spPr>
          <a:xfrm>
            <a:off x="6210147" y="1783080"/>
            <a:ext cx="5486400" cy="685800"/>
          </a:xfrm>
          <a:prstGeom prst="rect">
            <a:avLst/>
          </a:prstGeom>
          <a:solidFill>
            <a:srgbClr val="6F9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0" name="TextBox 19"/>
          <p:cNvSpPr txBox="1"/>
          <p:nvPr/>
        </p:nvSpPr>
        <p:spPr>
          <a:xfrm>
            <a:off x="6210147" y="1901952"/>
            <a:ext cx="5486400" cy="362535"/>
          </a:xfrm>
          <a:prstGeom prst="rect">
            <a:avLst/>
          </a:prstGeom>
          <a:noFill/>
        </p:spPr>
        <p:txBody>
          <a:bodyPr wrap="square" lIns="0" tIns="0" rIns="0" bIns="0" anchor="t">
            <a:spAutoFit/>
          </a:bodyPr>
          <a:lstStyle/>
          <a:p>
            <a:pPr algn="ctr">
              <a:lnSpc>
                <a:spcPct val="115000"/>
              </a:lnSpc>
            </a:pPr>
            <a:r>
              <a:rPr sz="2200" b="1" i="0">
                <a:solidFill>
                  <a:srgbClr val="FFFFFF"/>
                </a:solidFill>
                <a:latin typeface="Roboto Condensed" panose="02000000000000000000" pitchFamily="2" charset="0"/>
                <a:ea typeface="Roboto Condensed" panose="02000000000000000000" pitchFamily="2" charset="0"/>
              </a:rPr>
              <a:t>Indico event system</a:t>
            </a:r>
          </a:p>
        </p:txBody>
      </p:sp>
      <p:sp>
        <p:nvSpPr>
          <p:cNvPr id="21" name="TextBox 20"/>
          <p:cNvSpPr txBox="1"/>
          <p:nvPr/>
        </p:nvSpPr>
        <p:spPr>
          <a:xfrm>
            <a:off x="6210147" y="2560320"/>
            <a:ext cx="5486400" cy="296620"/>
          </a:xfrm>
          <a:prstGeom prst="rect">
            <a:avLst/>
          </a:prstGeom>
          <a:noFill/>
        </p:spPr>
        <p:txBody>
          <a:bodyPr wrap="square" lIns="0" tIns="0" rIns="0" bIns="0" anchor="t">
            <a:spAutoFit/>
          </a:bodyPr>
          <a:lstStyle/>
          <a:p>
            <a:pPr algn="ctr">
              <a:lnSpc>
                <a:spcPct val="115000"/>
              </a:lnSpc>
            </a:pPr>
            <a:r>
              <a:rPr sz="1800" b="1" i="1">
                <a:solidFill>
                  <a:srgbClr val="6F921E"/>
                </a:solidFill>
                <a:latin typeface="Roboto Condensed" panose="02000000000000000000" pitchFamily="2" charset="0"/>
                <a:ea typeface="Roboto Condensed" panose="02000000000000000000" pitchFamily="2" charset="0"/>
              </a:rPr>
              <a:t>indico.slaif.si</a:t>
            </a:r>
          </a:p>
        </p:txBody>
      </p:sp>
      <p:grpSp>
        <p:nvGrpSpPr>
          <p:cNvPr id="38" name="Group 37">
            <a:extLst>
              <a:ext uri="{FF2B5EF4-FFF2-40B4-BE49-F238E27FC236}">
                <a16:creationId xmlns:a16="http://schemas.microsoft.com/office/drawing/2014/main" id="{37FA81CE-2261-47E7-8654-905B2401C867}"/>
              </a:ext>
            </a:extLst>
          </p:cNvPr>
          <p:cNvGrpSpPr/>
          <p:nvPr/>
        </p:nvGrpSpPr>
        <p:grpSpPr>
          <a:xfrm>
            <a:off x="6530187" y="3163662"/>
            <a:ext cx="5029200" cy="502920"/>
            <a:chOff x="6530187" y="3269794"/>
            <a:chExt cx="5029200" cy="502920"/>
          </a:xfrm>
        </p:grpSpPr>
        <p:sp>
          <p:nvSpPr>
            <p:cNvPr id="22" name="Oval 21"/>
            <p:cNvSpPr/>
            <p:nvPr/>
          </p:nvSpPr>
          <p:spPr>
            <a:xfrm>
              <a:off x="6530187" y="3331518"/>
              <a:ext cx="137160" cy="137160"/>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3" name="TextBox 22"/>
            <p:cNvSpPr txBox="1"/>
            <p:nvPr/>
          </p:nvSpPr>
          <p:spPr>
            <a:xfrm>
              <a:off x="6758787" y="3269794"/>
              <a:ext cx="4800600" cy="502920"/>
            </a:xfrm>
            <a:prstGeom prst="rect">
              <a:avLst/>
            </a:prstGeom>
            <a:noFill/>
          </p:spPr>
          <p:txBody>
            <a:bodyPr wrap="square" lIns="0" tIns="0" rIns="0" bIns="0" anchor="t">
              <a:spAutoFit/>
            </a:bodyPr>
            <a:lstStyle/>
            <a:p>
              <a:pPr algn="l">
                <a:lnSpc>
                  <a:spcPct val="120000"/>
                </a:lnSpc>
              </a:pPr>
              <a:r>
                <a:rPr sz="1400" b="0" i="0" dirty="0">
                  <a:solidFill>
                    <a:srgbClr val="1C2B33"/>
                  </a:solidFill>
                  <a:latin typeface="Roboto Condensed" panose="02000000000000000000" pitchFamily="2" charset="0"/>
                  <a:ea typeface="Roboto Condensed" panose="02000000000000000000" pitchFamily="2" charset="0"/>
                </a:rPr>
                <a:t>Open-source event management, hosted at JSI, </a:t>
              </a:r>
              <a:r>
                <a:rPr sz="1400" b="0" i="0" dirty="0" err="1">
                  <a:solidFill>
                    <a:srgbClr val="1C2B33"/>
                  </a:solidFill>
                  <a:latin typeface="Roboto Condensed" panose="02000000000000000000" pitchFamily="2" charset="0"/>
                  <a:ea typeface="Roboto Condensed" panose="02000000000000000000" pitchFamily="2" charset="0"/>
                </a:rPr>
                <a:t>customised</a:t>
              </a:r>
              <a:r>
                <a:rPr sz="1400" b="0" i="0" dirty="0">
                  <a:solidFill>
                    <a:srgbClr val="1C2B33"/>
                  </a:solidFill>
                  <a:latin typeface="Roboto Condensed" panose="02000000000000000000" pitchFamily="2" charset="0"/>
                  <a:ea typeface="Roboto Condensed" panose="02000000000000000000" pitchFamily="2" charset="0"/>
                </a:rPr>
                <a:t> with SLAIF identity</a:t>
              </a:r>
            </a:p>
          </p:txBody>
        </p:sp>
      </p:grpSp>
      <p:grpSp>
        <p:nvGrpSpPr>
          <p:cNvPr id="39" name="Group 38">
            <a:extLst>
              <a:ext uri="{FF2B5EF4-FFF2-40B4-BE49-F238E27FC236}">
                <a16:creationId xmlns:a16="http://schemas.microsoft.com/office/drawing/2014/main" id="{AEDD2452-3C0D-4980-91CA-6025A94F96F2}"/>
              </a:ext>
            </a:extLst>
          </p:cNvPr>
          <p:cNvGrpSpPr/>
          <p:nvPr/>
        </p:nvGrpSpPr>
        <p:grpSpPr>
          <a:xfrm>
            <a:off x="6530187" y="3772714"/>
            <a:ext cx="5029200" cy="502920"/>
            <a:chOff x="6530187" y="3772714"/>
            <a:chExt cx="5029200" cy="502920"/>
          </a:xfrm>
        </p:grpSpPr>
        <p:sp>
          <p:nvSpPr>
            <p:cNvPr id="24" name="Oval 23"/>
            <p:cNvSpPr/>
            <p:nvPr/>
          </p:nvSpPr>
          <p:spPr>
            <a:xfrm>
              <a:off x="6530187" y="3838520"/>
              <a:ext cx="137160" cy="137160"/>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5" name="TextBox 24"/>
            <p:cNvSpPr txBox="1"/>
            <p:nvPr/>
          </p:nvSpPr>
          <p:spPr>
            <a:xfrm>
              <a:off x="6758787" y="3772714"/>
              <a:ext cx="4800600" cy="502920"/>
            </a:xfrm>
            <a:prstGeom prst="rect">
              <a:avLst/>
            </a:prstGeom>
            <a:noFill/>
          </p:spPr>
          <p:txBody>
            <a:bodyPr wrap="square" lIns="0" tIns="0" rIns="0" bIns="0" anchor="t">
              <a:spAutoFit/>
            </a:bodyPr>
            <a:lstStyle/>
            <a:p>
              <a:pPr algn="l">
                <a:lnSpc>
                  <a:spcPct val="120000"/>
                </a:lnSpc>
              </a:pPr>
              <a:r>
                <a:rPr sz="1400" b="0" i="0" dirty="0">
                  <a:solidFill>
                    <a:srgbClr val="1C2B33"/>
                  </a:solidFill>
                  <a:latin typeface="Roboto Condensed" panose="02000000000000000000" pitchFamily="2" charset="0"/>
                  <a:ea typeface="Roboto Condensed" panose="02000000000000000000" pitchFamily="2" charset="0"/>
                </a:rPr>
                <a:t>Participant registration, event scheduling, automated notifications, attendance tracking</a:t>
              </a:r>
            </a:p>
          </p:txBody>
        </p:sp>
      </p:grpSp>
      <p:grpSp>
        <p:nvGrpSpPr>
          <p:cNvPr id="40" name="Group 39">
            <a:extLst>
              <a:ext uri="{FF2B5EF4-FFF2-40B4-BE49-F238E27FC236}">
                <a16:creationId xmlns:a16="http://schemas.microsoft.com/office/drawing/2014/main" id="{88E30C00-714A-4346-BAC9-0CDBECF5003C}"/>
              </a:ext>
            </a:extLst>
          </p:cNvPr>
          <p:cNvGrpSpPr/>
          <p:nvPr/>
        </p:nvGrpSpPr>
        <p:grpSpPr>
          <a:xfrm>
            <a:off x="6530187" y="4417147"/>
            <a:ext cx="5029200" cy="241285"/>
            <a:chOff x="6530187" y="4275634"/>
            <a:chExt cx="5029200" cy="241285"/>
          </a:xfrm>
        </p:grpSpPr>
        <p:sp>
          <p:nvSpPr>
            <p:cNvPr id="26" name="Oval 25"/>
            <p:cNvSpPr/>
            <p:nvPr/>
          </p:nvSpPr>
          <p:spPr>
            <a:xfrm>
              <a:off x="6530187" y="4325112"/>
              <a:ext cx="137160" cy="137160"/>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7" name="TextBox 26"/>
            <p:cNvSpPr txBox="1"/>
            <p:nvPr/>
          </p:nvSpPr>
          <p:spPr>
            <a:xfrm>
              <a:off x="6758787" y="4275634"/>
              <a:ext cx="4800600" cy="241285"/>
            </a:xfrm>
            <a:prstGeom prst="rect">
              <a:avLst/>
            </a:prstGeom>
            <a:noFill/>
          </p:spPr>
          <p:txBody>
            <a:bodyPr wrap="square" lIns="0" tIns="0" rIns="0" bIns="0" anchor="t">
              <a:spAutoFit/>
            </a:bodyPr>
            <a:lstStyle/>
            <a:p>
              <a:pPr algn="l">
                <a:lnSpc>
                  <a:spcPct val="120000"/>
                </a:lnSpc>
              </a:pPr>
              <a:r>
                <a:rPr sz="1400" b="0" i="0" dirty="0" err="1">
                  <a:solidFill>
                    <a:srgbClr val="1C2B33"/>
                  </a:solidFill>
                  <a:latin typeface="Roboto Condensed" panose="02000000000000000000" pitchFamily="2" charset="0"/>
                  <a:ea typeface="Roboto Condensed" panose="02000000000000000000" pitchFamily="2" charset="0"/>
                </a:rPr>
                <a:t>Synchronised</a:t>
              </a:r>
              <a:r>
                <a:rPr sz="1400" b="0" i="0" dirty="0">
                  <a:solidFill>
                    <a:srgbClr val="1C2B33"/>
                  </a:solidFill>
                  <a:latin typeface="Roboto Condensed" panose="02000000000000000000" pitchFamily="2" charset="0"/>
                  <a:ea typeface="Roboto Condensed" panose="02000000000000000000" pitchFamily="2" charset="0"/>
                </a:rPr>
                <a:t> with the SLAIF website, filterable by topic tags</a:t>
              </a:r>
            </a:p>
          </p:txBody>
        </p:sp>
      </p:grpSp>
      <p:grpSp>
        <p:nvGrpSpPr>
          <p:cNvPr id="41" name="Group 40">
            <a:extLst>
              <a:ext uri="{FF2B5EF4-FFF2-40B4-BE49-F238E27FC236}">
                <a16:creationId xmlns:a16="http://schemas.microsoft.com/office/drawing/2014/main" id="{7BAD36B2-3D75-4482-9E57-E65E15764CA7}"/>
              </a:ext>
            </a:extLst>
          </p:cNvPr>
          <p:cNvGrpSpPr/>
          <p:nvPr/>
        </p:nvGrpSpPr>
        <p:grpSpPr>
          <a:xfrm>
            <a:off x="6530187" y="4783805"/>
            <a:ext cx="5029200" cy="502920"/>
            <a:chOff x="6530187" y="4778554"/>
            <a:chExt cx="5029200" cy="502920"/>
          </a:xfrm>
        </p:grpSpPr>
        <p:sp>
          <p:nvSpPr>
            <p:cNvPr id="28" name="Oval 27"/>
            <p:cNvSpPr/>
            <p:nvPr/>
          </p:nvSpPr>
          <p:spPr>
            <a:xfrm>
              <a:off x="6530187" y="4844360"/>
              <a:ext cx="137160" cy="137160"/>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9" name="TextBox 28"/>
            <p:cNvSpPr txBox="1"/>
            <p:nvPr/>
          </p:nvSpPr>
          <p:spPr>
            <a:xfrm>
              <a:off x="6758787" y="4778554"/>
              <a:ext cx="4800600" cy="502920"/>
            </a:xfrm>
            <a:prstGeom prst="rect">
              <a:avLst/>
            </a:prstGeom>
            <a:noFill/>
          </p:spPr>
          <p:txBody>
            <a:bodyPr wrap="square" lIns="0" tIns="0" rIns="0" bIns="0" anchor="t">
              <a:spAutoFit/>
            </a:bodyPr>
            <a:lstStyle/>
            <a:p>
              <a:pPr algn="l">
                <a:lnSpc>
                  <a:spcPct val="120000"/>
                </a:lnSpc>
              </a:pPr>
              <a:r>
                <a:rPr sz="1400" b="0" i="0" dirty="0" err="1">
                  <a:solidFill>
                    <a:srgbClr val="1C2B33"/>
                  </a:solidFill>
                  <a:latin typeface="Roboto Condensed" panose="02000000000000000000" pitchFamily="2" charset="0"/>
                  <a:ea typeface="Roboto Condensed" panose="02000000000000000000" pitchFamily="2" charset="0"/>
                </a:rPr>
                <a:t>Standardised</a:t>
              </a:r>
              <a:r>
                <a:rPr sz="1400" b="0" i="0" dirty="0">
                  <a:solidFill>
                    <a:srgbClr val="1C2B33"/>
                  </a:solidFill>
                  <a:latin typeface="Roboto Condensed" panose="02000000000000000000" pitchFamily="2" charset="0"/>
                  <a:ea typeface="Roboto Condensed" panose="02000000000000000000" pitchFamily="2" charset="0"/>
                </a:rPr>
                <a:t> templates: feedback survey, attendance certificate, sign-in sheet</a:t>
              </a:r>
            </a:p>
          </p:txBody>
        </p:sp>
      </p:grpSp>
      <p:grpSp>
        <p:nvGrpSpPr>
          <p:cNvPr id="42" name="Group 41">
            <a:extLst>
              <a:ext uri="{FF2B5EF4-FFF2-40B4-BE49-F238E27FC236}">
                <a16:creationId xmlns:a16="http://schemas.microsoft.com/office/drawing/2014/main" id="{BF47CF7A-A782-4E28-AAC1-A1E96E2DEBD8}"/>
              </a:ext>
            </a:extLst>
          </p:cNvPr>
          <p:cNvGrpSpPr/>
          <p:nvPr/>
        </p:nvGrpSpPr>
        <p:grpSpPr>
          <a:xfrm>
            <a:off x="6530187" y="5412098"/>
            <a:ext cx="5029200" cy="241285"/>
            <a:chOff x="6530187" y="5281474"/>
            <a:chExt cx="5029200" cy="241285"/>
          </a:xfrm>
        </p:grpSpPr>
        <p:sp>
          <p:nvSpPr>
            <p:cNvPr id="30" name="Oval 29"/>
            <p:cNvSpPr/>
            <p:nvPr/>
          </p:nvSpPr>
          <p:spPr>
            <a:xfrm>
              <a:off x="6530187" y="5359526"/>
              <a:ext cx="137160" cy="137160"/>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1" name="TextBox 30"/>
            <p:cNvSpPr txBox="1"/>
            <p:nvPr/>
          </p:nvSpPr>
          <p:spPr>
            <a:xfrm>
              <a:off x="6758787" y="5281474"/>
              <a:ext cx="4800600" cy="241285"/>
            </a:xfrm>
            <a:prstGeom prst="rect">
              <a:avLst/>
            </a:prstGeom>
            <a:noFill/>
          </p:spPr>
          <p:txBody>
            <a:bodyPr wrap="square" lIns="0" tIns="0" rIns="0" bIns="0" anchor="t">
              <a:spAutoFit/>
            </a:bodyPr>
            <a:lstStyle/>
            <a:p>
              <a:pPr algn="l">
                <a:lnSpc>
                  <a:spcPct val="120000"/>
                </a:lnSpc>
              </a:pPr>
              <a:r>
                <a:rPr sz="1400" b="0" i="0" dirty="0">
                  <a:solidFill>
                    <a:srgbClr val="1C2B33"/>
                  </a:solidFill>
                  <a:latin typeface="Roboto Condensed" panose="02000000000000000000" pitchFamily="2" charset="0"/>
                  <a:ea typeface="Roboto Condensed" panose="02000000000000000000" pitchFamily="2" charset="0"/>
                </a:rPr>
                <a:t>Operational in testing since March 2026</a:t>
              </a:r>
            </a:p>
          </p:txBody>
        </p:sp>
      </p:grpSp>
      <p:sp>
        <p:nvSpPr>
          <p:cNvPr id="32" name="TextBox 31"/>
          <p:cNvSpPr txBox="1"/>
          <p:nvPr/>
        </p:nvSpPr>
        <p:spPr>
          <a:xfrm>
            <a:off x="502920" y="6035040"/>
            <a:ext cx="11201400" cy="233205"/>
          </a:xfrm>
          <a:prstGeom prst="rect">
            <a:avLst/>
          </a:prstGeom>
          <a:noFill/>
        </p:spPr>
        <p:txBody>
          <a:bodyPr wrap="square" lIns="0" tIns="0" rIns="0" bIns="0" anchor="t">
            <a:spAutoFit/>
          </a:bodyPr>
          <a:lstStyle/>
          <a:p>
            <a:pPr algn="ctr">
              <a:lnSpc>
                <a:spcPct val="115000"/>
              </a:lnSpc>
            </a:pPr>
            <a:r>
              <a:rPr sz="1400" b="0" i="1" dirty="0">
                <a:solidFill>
                  <a:srgbClr val="556670"/>
                </a:solidFill>
                <a:latin typeface="Roboto Condensed" panose="02000000000000000000" pitchFamily="2" charset="0"/>
                <a:ea typeface="Roboto Condensed" panose="02000000000000000000" pitchFamily="2" charset="0"/>
              </a:rPr>
              <a:t>Both platforms feed a single training registry that is the authoritative source for the training catalogue and KPI reporting.</a:t>
            </a:r>
          </a:p>
        </p:txBody>
      </p:sp>
      <p:sp>
        <p:nvSpPr>
          <p:cNvPr id="43" name="Date Placeholder 1">
            <a:extLst>
              <a:ext uri="{FF2B5EF4-FFF2-40B4-BE49-F238E27FC236}">
                <a16:creationId xmlns:a16="http://schemas.microsoft.com/office/drawing/2014/main" id="{EB90D1AB-3041-4F53-8837-BCEDB1074ECB}"/>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44" name="Footer Placeholder 2">
            <a:extLst>
              <a:ext uri="{FF2B5EF4-FFF2-40B4-BE49-F238E27FC236}">
                <a16:creationId xmlns:a16="http://schemas.microsoft.com/office/drawing/2014/main" id="{960B1B4B-AEA1-4321-882B-0664224BD7F1}"/>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45" name="Slide Number Placeholder 3">
            <a:extLst>
              <a:ext uri="{FF2B5EF4-FFF2-40B4-BE49-F238E27FC236}">
                <a16:creationId xmlns:a16="http://schemas.microsoft.com/office/drawing/2014/main" id="{A0EDF8E6-839D-447C-A03A-2ADC67548359}"/>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rPr>
              <a:t>Micro-credentials — progress across the consortium</a:t>
            </a:r>
          </a:p>
        </p:txBody>
      </p:sp>
      <p:sp>
        <p:nvSpPr>
          <p:cNvPr id="3" name="TextBox 2"/>
          <p:cNvSpPr txBox="1"/>
          <p:nvPr/>
        </p:nvSpPr>
        <p:spPr>
          <a:xfrm>
            <a:off x="502920" y="1005840"/>
            <a:ext cx="11247120" cy="263662"/>
          </a:xfrm>
          <a:prstGeom prst="rect">
            <a:avLst/>
          </a:prstGeom>
          <a:noFill/>
        </p:spPr>
        <p:txBody>
          <a:bodyPr wrap="square" lIns="0" tIns="0" rIns="0" bIns="0" anchor="t">
            <a:spAutoFit/>
          </a:bodyPr>
          <a:lstStyle/>
          <a:p>
            <a:pPr algn="l">
              <a:lnSpc>
                <a:spcPct val="115000"/>
              </a:lnSpc>
            </a:pPr>
            <a:r>
              <a:rPr sz="1600" b="0" i="1" dirty="0">
                <a:solidFill>
                  <a:srgbClr val="556670"/>
                </a:solidFill>
                <a:latin typeface="Roboto Condensed" panose="02000000000000000000" pitchFamily="2" charset="0"/>
                <a:ea typeface="Roboto Condensed" panose="02000000000000000000" pitchFamily="2" charset="0"/>
              </a:rPr>
              <a:t>Governance framework in place; first formal accreditation achieved by Month 7</a:t>
            </a:r>
          </a:p>
        </p:txBody>
      </p:sp>
      <p:sp>
        <p:nvSpPr>
          <p:cNvPr id="4" name="Rounded Rectangle 3"/>
          <p:cNvSpPr/>
          <p:nvPr/>
        </p:nvSpPr>
        <p:spPr>
          <a:xfrm>
            <a:off x="371703" y="1783080"/>
            <a:ext cx="2194560" cy="3291840"/>
          </a:xfrm>
          <a:prstGeom prst="roundRect">
            <a:avLst>
              <a:gd name="adj" fmla="val 6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5" name="Rectangle 4"/>
          <p:cNvSpPr/>
          <p:nvPr/>
        </p:nvSpPr>
        <p:spPr>
          <a:xfrm>
            <a:off x="371703" y="1783080"/>
            <a:ext cx="2194560" cy="685800"/>
          </a:xfrm>
          <a:prstGeom prst="rect">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6" name="TextBox 5"/>
          <p:cNvSpPr txBox="1"/>
          <p:nvPr/>
        </p:nvSpPr>
        <p:spPr>
          <a:xfrm>
            <a:off x="371703" y="1901952"/>
            <a:ext cx="2194560" cy="362535"/>
          </a:xfrm>
          <a:prstGeom prst="rect">
            <a:avLst/>
          </a:prstGeom>
          <a:noFill/>
        </p:spPr>
        <p:txBody>
          <a:bodyPr wrap="square" lIns="0" tIns="0" rIns="0" bIns="0" anchor="t">
            <a:spAutoFit/>
          </a:bodyPr>
          <a:lstStyle/>
          <a:p>
            <a:pPr algn="ctr">
              <a:lnSpc>
                <a:spcPct val="115000"/>
              </a:lnSpc>
            </a:pPr>
            <a:r>
              <a:rPr sz="2200" b="1" i="0">
                <a:solidFill>
                  <a:srgbClr val="FFFFFF"/>
                </a:solidFill>
                <a:latin typeface="Roboto Condensed" panose="02000000000000000000" pitchFamily="2" charset="0"/>
                <a:ea typeface="Roboto Condensed" panose="02000000000000000000" pitchFamily="2" charset="0"/>
              </a:rPr>
              <a:t>UNG</a:t>
            </a:r>
          </a:p>
        </p:txBody>
      </p:sp>
      <p:sp>
        <p:nvSpPr>
          <p:cNvPr id="7" name="Rounded Rectangle 6"/>
          <p:cNvSpPr/>
          <p:nvPr/>
        </p:nvSpPr>
        <p:spPr>
          <a:xfrm>
            <a:off x="600303" y="2651760"/>
            <a:ext cx="1737360" cy="411480"/>
          </a:xfrm>
          <a:prstGeom prst="roundRect">
            <a:avLst>
              <a:gd name="adj" fmla="val 5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8" name="TextBox 7"/>
          <p:cNvSpPr txBox="1"/>
          <p:nvPr/>
        </p:nvSpPr>
        <p:spPr>
          <a:xfrm>
            <a:off x="600303" y="2757537"/>
            <a:ext cx="1737360" cy="199927"/>
          </a:xfrm>
          <a:prstGeom prst="rect">
            <a:avLst/>
          </a:prstGeom>
          <a:noFill/>
        </p:spPr>
        <p:txBody>
          <a:bodyPr wrap="square" lIns="0" tIns="0" rIns="0" bIns="0" anchor="ctr">
            <a:spAutoFit/>
          </a:bodyPr>
          <a:lstStyle/>
          <a:p>
            <a:pPr algn="ctr">
              <a:lnSpc>
                <a:spcPct val="115000"/>
              </a:lnSpc>
            </a:pPr>
            <a:r>
              <a:rPr sz="1200" b="1" i="0" dirty="0">
                <a:solidFill>
                  <a:srgbClr val="145B6E"/>
                </a:solidFill>
                <a:latin typeface="Roboto Condensed" panose="02000000000000000000" pitchFamily="2" charset="0"/>
                <a:ea typeface="Roboto Condensed" panose="02000000000000000000" pitchFamily="2" charset="0"/>
              </a:rPr>
              <a:t>Accredited by Senate</a:t>
            </a:r>
          </a:p>
        </p:txBody>
      </p:sp>
      <p:sp>
        <p:nvSpPr>
          <p:cNvPr id="9" name="TextBox 8"/>
          <p:cNvSpPr txBox="1"/>
          <p:nvPr/>
        </p:nvSpPr>
        <p:spPr>
          <a:xfrm>
            <a:off x="554583" y="3200400"/>
            <a:ext cx="1828800" cy="499817"/>
          </a:xfrm>
          <a:prstGeom prst="rect">
            <a:avLst/>
          </a:prstGeom>
          <a:noFill/>
        </p:spPr>
        <p:txBody>
          <a:bodyPr wrap="square" lIns="0" tIns="0" rIns="0" bIns="0" anchor="t">
            <a:spAutoFit/>
          </a:bodyPr>
          <a:lstStyle/>
          <a:p>
            <a:pPr algn="ctr">
              <a:lnSpc>
                <a:spcPct val="120000"/>
              </a:lnSpc>
            </a:pPr>
            <a:r>
              <a:rPr sz="1400" b="1" i="0" dirty="0">
                <a:solidFill>
                  <a:srgbClr val="1C2B33"/>
                </a:solidFill>
                <a:latin typeface="Roboto Condensed" panose="02000000000000000000" pitchFamily="2" charset="0"/>
                <a:ea typeface="Roboto Condensed" panose="02000000000000000000" pitchFamily="2" charset="0"/>
              </a:rPr>
              <a:t>Hands-on Machine Learning</a:t>
            </a:r>
          </a:p>
        </p:txBody>
      </p:sp>
      <p:sp>
        <p:nvSpPr>
          <p:cNvPr id="10" name="TextBox 9"/>
          <p:cNvSpPr txBox="1"/>
          <p:nvPr/>
        </p:nvSpPr>
        <p:spPr>
          <a:xfrm>
            <a:off x="554583" y="3977640"/>
            <a:ext cx="1828800" cy="675441"/>
          </a:xfrm>
          <a:prstGeom prst="rect">
            <a:avLst/>
          </a:prstGeom>
          <a:noFill/>
        </p:spPr>
        <p:txBody>
          <a:bodyPr wrap="square" lIns="0" tIns="0" rIns="0" bIns="0" anchor="t">
            <a:spAutoFit/>
          </a:bodyPr>
          <a:lstStyle/>
          <a:p>
            <a:pPr algn="ctr">
              <a:lnSpc>
                <a:spcPct val="125000"/>
              </a:lnSpc>
            </a:pPr>
            <a:r>
              <a:rPr sz="1200" b="0" i="0" dirty="0">
                <a:solidFill>
                  <a:srgbClr val="556670"/>
                </a:solidFill>
                <a:latin typeface="Roboto Condensed" panose="02000000000000000000" pitchFamily="2" charset="0"/>
                <a:ea typeface="Roboto Condensed" panose="02000000000000000000" pitchFamily="2" charset="0"/>
              </a:rPr>
              <a:t>First SLAIF micro-credential — formally accredited during M1–M7</a:t>
            </a:r>
          </a:p>
        </p:txBody>
      </p:sp>
      <p:sp>
        <p:nvSpPr>
          <p:cNvPr id="11" name="Rounded Rectangle 10"/>
          <p:cNvSpPr/>
          <p:nvPr/>
        </p:nvSpPr>
        <p:spPr>
          <a:xfrm>
            <a:off x="2685135" y="1783080"/>
            <a:ext cx="2194560" cy="3291840"/>
          </a:xfrm>
          <a:prstGeom prst="roundRect">
            <a:avLst>
              <a:gd name="adj" fmla="val 6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2" name="Rectangle 11"/>
          <p:cNvSpPr/>
          <p:nvPr/>
        </p:nvSpPr>
        <p:spPr>
          <a:xfrm>
            <a:off x="2685135" y="1783080"/>
            <a:ext cx="2194560" cy="685800"/>
          </a:xfrm>
          <a:prstGeom prst="rect">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3" name="TextBox 12"/>
          <p:cNvSpPr txBox="1"/>
          <p:nvPr/>
        </p:nvSpPr>
        <p:spPr>
          <a:xfrm>
            <a:off x="2685135" y="1901952"/>
            <a:ext cx="2194560" cy="362535"/>
          </a:xfrm>
          <a:prstGeom prst="rect">
            <a:avLst/>
          </a:prstGeom>
          <a:noFill/>
        </p:spPr>
        <p:txBody>
          <a:bodyPr wrap="square" lIns="0" tIns="0" rIns="0" bIns="0" anchor="t">
            <a:spAutoFit/>
          </a:bodyPr>
          <a:lstStyle/>
          <a:p>
            <a:pPr algn="ctr">
              <a:lnSpc>
                <a:spcPct val="115000"/>
              </a:lnSpc>
            </a:pPr>
            <a:r>
              <a:rPr sz="2200" b="1" i="0">
                <a:solidFill>
                  <a:srgbClr val="FFFFFF"/>
                </a:solidFill>
                <a:latin typeface="Roboto Condensed" panose="02000000000000000000" pitchFamily="2" charset="0"/>
                <a:ea typeface="Roboto Condensed" panose="02000000000000000000" pitchFamily="2" charset="0"/>
              </a:rPr>
              <a:t>FIS</a:t>
            </a:r>
          </a:p>
        </p:txBody>
      </p:sp>
      <p:sp>
        <p:nvSpPr>
          <p:cNvPr id="14" name="Rounded Rectangle 13"/>
          <p:cNvSpPr/>
          <p:nvPr/>
        </p:nvSpPr>
        <p:spPr>
          <a:xfrm>
            <a:off x="2913735" y="2651760"/>
            <a:ext cx="1737360" cy="411480"/>
          </a:xfrm>
          <a:prstGeom prst="roundRect">
            <a:avLst>
              <a:gd name="adj" fmla="val 5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5" name="TextBox 14"/>
          <p:cNvSpPr txBox="1"/>
          <p:nvPr/>
        </p:nvSpPr>
        <p:spPr>
          <a:xfrm>
            <a:off x="2913735" y="2651354"/>
            <a:ext cx="1737360" cy="412292"/>
          </a:xfrm>
          <a:prstGeom prst="rect">
            <a:avLst/>
          </a:prstGeom>
          <a:noFill/>
        </p:spPr>
        <p:txBody>
          <a:bodyPr wrap="square" lIns="0" tIns="0" rIns="0" bIns="0" anchor="ctr">
            <a:spAutoFit/>
          </a:bodyPr>
          <a:lstStyle/>
          <a:p>
            <a:pPr algn="ctr">
              <a:lnSpc>
                <a:spcPct val="115000"/>
              </a:lnSpc>
            </a:pPr>
            <a:r>
              <a:rPr sz="1200" b="1" i="0" dirty="0">
                <a:solidFill>
                  <a:srgbClr val="145B6E"/>
                </a:solidFill>
                <a:latin typeface="Roboto Condensed" panose="02000000000000000000" pitchFamily="2" charset="0"/>
                <a:ea typeface="Roboto Condensed" panose="02000000000000000000" pitchFamily="2" charset="0"/>
              </a:rPr>
              <a:t>Accreditation</a:t>
            </a:r>
            <a:endParaRPr lang="sl-SI" sz="1200" b="1" i="0" dirty="0">
              <a:solidFill>
                <a:srgbClr val="145B6E"/>
              </a:solidFill>
              <a:latin typeface="Roboto Condensed" panose="02000000000000000000" pitchFamily="2" charset="0"/>
              <a:ea typeface="Roboto Condensed" panose="02000000000000000000" pitchFamily="2" charset="0"/>
            </a:endParaRPr>
          </a:p>
          <a:p>
            <a:pPr algn="ctr">
              <a:lnSpc>
                <a:spcPct val="115000"/>
              </a:lnSpc>
            </a:pPr>
            <a:r>
              <a:rPr sz="1200" b="1" i="0" dirty="0">
                <a:solidFill>
                  <a:srgbClr val="145B6E"/>
                </a:solidFill>
                <a:latin typeface="Roboto Condensed" panose="02000000000000000000" pitchFamily="2" charset="0"/>
                <a:ea typeface="Roboto Condensed" panose="02000000000000000000" pitchFamily="2" charset="0"/>
              </a:rPr>
              <a:t>applications filed</a:t>
            </a:r>
          </a:p>
        </p:txBody>
      </p:sp>
      <p:sp>
        <p:nvSpPr>
          <p:cNvPr id="16" name="TextBox 15"/>
          <p:cNvSpPr txBox="1"/>
          <p:nvPr/>
        </p:nvSpPr>
        <p:spPr>
          <a:xfrm>
            <a:off x="2868015" y="3200400"/>
            <a:ext cx="1828800" cy="241285"/>
          </a:xfrm>
          <a:prstGeom prst="rect">
            <a:avLst/>
          </a:prstGeom>
          <a:noFill/>
        </p:spPr>
        <p:txBody>
          <a:bodyPr wrap="square" lIns="0" tIns="0" rIns="0" bIns="0" anchor="t">
            <a:spAutoFit/>
          </a:bodyPr>
          <a:lstStyle/>
          <a:p>
            <a:pPr algn="ctr">
              <a:lnSpc>
                <a:spcPct val="120000"/>
              </a:lnSpc>
            </a:pPr>
            <a:r>
              <a:rPr sz="1400" b="1" i="0" dirty="0">
                <a:solidFill>
                  <a:srgbClr val="1C2B33"/>
                </a:solidFill>
                <a:latin typeface="Roboto Condensed" panose="02000000000000000000" pitchFamily="2" charset="0"/>
                <a:ea typeface="Roboto Condensed" panose="02000000000000000000" pitchFamily="2" charset="0"/>
              </a:rPr>
              <a:t>4 HPC intensive courses</a:t>
            </a:r>
          </a:p>
        </p:txBody>
      </p:sp>
      <p:sp>
        <p:nvSpPr>
          <p:cNvPr id="17" name="TextBox 16"/>
          <p:cNvSpPr txBox="1"/>
          <p:nvPr/>
        </p:nvSpPr>
        <p:spPr>
          <a:xfrm>
            <a:off x="2868015" y="3977640"/>
            <a:ext cx="1828800" cy="675441"/>
          </a:xfrm>
          <a:prstGeom prst="rect">
            <a:avLst/>
          </a:prstGeom>
          <a:noFill/>
        </p:spPr>
        <p:txBody>
          <a:bodyPr wrap="square" lIns="0" tIns="0" rIns="0" bIns="0" anchor="t">
            <a:spAutoFit/>
          </a:bodyPr>
          <a:lstStyle/>
          <a:p>
            <a:pPr algn="ctr">
              <a:lnSpc>
                <a:spcPct val="125000"/>
              </a:lnSpc>
            </a:pPr>
            <a:r>
              <a:rPr sz="1200" b="0" i="0" dirty="0">
                <a:solidFill>
                  <a:srgbClr val="556670"/>
                </a:solidFill>
                <a:latin typeface="Roboto Condensed" panose="02000000000000000000" pitchFamily="2" charset="0"/>
                <a:ea typeface="Roboto Condensed" panose="02000000000000000000" pitchFamily="2" charset="0"/>
              </a:rPr>
              <a:t>Linux &amp; containers · </a:t>
            </a:r>
            <a:r>
              <a:rPr sz="1200" b="0" i="0" dirty="0" err="1">
                <a:solidFill>
                  <a:srgbClr val="556670"/>
                </a:solidFill>
                <a:latin typeface="Roboto Condensed" panose="02000000000000000000" pitchFamily="2" charset="0"/>
                <a:ea typeface="Roboto Condensed" panose="02000000000000000000" pitchFamily="2" charset="0"/>
              </a:rPr>
              <a:t>BERTopic</a:t>
            </a:r>
            <a:r>
              <a:rPr sz="1200" b="0" i="0" dirty="0">
                <a:solidFill>
                  <a:srgbClr val="556670"/>
                </a:solidFill>
                <a:latin typeface="Roboto Condensed" panose="02000000000000000000" pitchFamily="2" charset="0"/>
                <a:ea typeface="Roboto Condensed" panose="02000000000000000000" pitchFamily="2" charset="0"/>
              </a:rPr>
              <a:t> · RAG · parallel GPU processing</a:t>
            </a:r>
          </a:p>
        </p:txBody>
      </p:sp>
      <p:sp>
        <p:nvSpPr>
          <p:cNvPr id="18" name="Rounded Rectangle 17"/>
          <p:cNvSpPr/>
          <p:nvPr/>
        </p:nvSpPr>
        <p:spPr>
          <a:xfrm>
            <a:off x="4998567" y="1783080"/>
            <a:ext cx="2194560" cy="3291840"/>
          </a:xfrm>
          <a:prstGeom prst="roundRect">
            <a:avLst>
              <a:gd name="adj" fmla="val 6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9" name="Rectangle 18"/>
          <p:cNvSpPr/>
          <p:nvPr/>
        </p:nvSpPr>
        <p:spPr>
          <a:xfrm>
            <a:off x="4998567" y="1783080"/>
            <a:ext cx="2194560" cy="685800"/>
          </a:xfrm>
          <a:prstGeom prst="rect">
            <a:avLst/>
          </a:prstGeom>
          <a:solidFill>
            <a:srgbClr val="14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0" name="TextBox 19"/>
          <p:cNvSpPr txBox="1"/>
          <p:nvPr/>
        </p:nvSpPr>
        <p:spPr>
          <a:xfrm>
            <a:off x="4998567" y="1901952"/>
            <a:ext cx="2194560" cy="362535"/>
          </a:xfrm>
          <a:prstGeom prst="rect">
            <a:avLst/>
          </a:prstGeom>
          <a:noFill/>
        </p:spPr>
        <p:txBody>
          <a:bodyPr wrap="square" lIns="0" tIns="0" rIns="0" bIns="0" anchor="t">
            <a:spAutoFit/>
          </a:bodyPr>
          <a:lstStyle/>
          <a:p>
            <a:pPr algn="ctr">
              <a:lnSpc>
                <a:spcPct val="115000"/>
              </a:lnSpc>
            </a:pPr>
            <a:r>
              <a:rPr sz="2200" b="1" i="0">
                <a:solidFill>
                  <a:srgbClr val="FFFFFF"/>
                </a:solidFill>
                <a:latin typeface="Roboto Condensed" panose="02000000000000000000" pitchFamily="2" charset="0"/>
                <a:ea typeface="Roboto Condensed" panose="02000000000000000000" pitchFamily="2" charset="0"/>
              </a:rPr>
              <a:t>UL</a:t>
            </a:r>
          </a:p>
        </p:txBody>
      </p:sp>
      <p:sp>
        <p:nvSpPr>
          <p:cNvPr id="21" name="Rounded Rectangle 20"/>
          <p:cNvSpPr/>
          <p:nvPr/>
        </p:nvSpPr>
        <p:spPr>
          <a:xfrm>
            <a:off x="5227167" y="2651760"/>
            <a:ext cx="1737360" cy="411480"/>
          </a:xfrm>
          <a:prstGeom prst="roundRect">
            <a:avLst>
              <a:gd name="adj" fmla="val 5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2" name="TextBox 21"/>
          <p:cNvSpPr txBox="1"/>
          <p:nvPr/>
        </p:nvSpPr>
        <p:spPr>
          <a:xfrm>
            <a:off x="5227167" y="2757537"/>
            <a:ext cx="1737360" cy="199927"/>
          </a:xfrm>
          <a:prstGeom prst="rect">
            <a:avLst/>
          </a:prstGeom>
          <a:noFill/>
        </p:spPr>
        <p:txBody>
          <a:bodyPr wrap="square" lIns="0" tIns="0" rIns="0" bIns="0" anchor="ctr">
            <a:spAutoFit/>
          </a:bodyPr>
          <a:lstStyle/>
          <a:p>
            <a:pPr algn="ctr">
              <a:lnSpc>
                <a:spcPct val="115000"/>
              </a:lnSpc>
            </a:pPr>
            <a:r>
              <a:rPr sz="1200" b="1" i="0" dirty="0">
                <a:solidFill>
                  <a:srgbClr val="145B6E"/>
                </a:solidFill>
                <a:latin typeface="Roboto Condensed" panose="02000000000000000000" pitchFamily="2" charset="0"/>
                <a:ea typeface="Roboto Condensed" panose="02000000000000000000" pitchFamily="2" charset="0"/>
              </a:rPr>
              <a:t>Courses developed</a:t>
            </a:r>
          </a:p>
        </p:txBody>
      </p:sp>
      <p:sp>
        <p:nvSpPr>
          <p:cNvPr id="23" name="TextBox 22"/>
          <p:cNvSpPr txBox="1"/>
          <p:nvPr/>
        </p:nvSpPr>
        <p:spPr>
          <a:xfrm>
            <a:off x="5181447" y="3200400"/>
            <a:ext cx="1828800" cy="499817"/>
          </a:xfrm>
          <a:prstGeom prst="rect">
            <a:avLst/>
          </a:prstGeom>
          <a:noFill/>
        </p:spPr>
        <p:txBody>
          <a:bodyPr wrap="square" lIns="0" tIns="0" rIns="0" bIns="0" anchor="t">
            <a:spAutoFit/>
          </a:bodyPr>
          <a:lstStyle/>
          <a:p>
            <a:pPr algn="ctr">
              <a:lnSpc>
                <a:spcPct val="120000"/>
              </a:lnSpc>
            </a:pPr>
            <a:r>
              <a:rPr sz="1400" b="1" i="0" dirty="0">
                <a:solidFill>
                  <a:srgbClr val="1C2B33"/>
                </a:solidFill>
                <a:latin typeface="Roboto Condensed" panose="02000000000000000000" pitchFamily="2" charset="0"/>
                <a:ea typeface="Roboto Condensed" panose="02000000000000000000" pitchFamily="2" charset="0"/>
              </a:rPr>
              <a:t>2 micro-credential courses</a:t>
            </a:r>
          </a:p>
        </p:txBody>
      </p:sp>
      <p:sp>
        <p:nvSpPr>
          <p:cNvPr id="24" name="TextBox 23"/>
          <p:cNvSpPr txBox="1"/>
          <p:nvPr/>
        </p:nvSpPr>
        <p:spPr>
          <a:xfrm>
            <a:off x="5181447" y="3977640"/>
            <a:ext cx="1828800" cy="675441"/>
          </a:xfrm>
          <a:prstGeom prst="rect">
            <a:avLst/>
          </a:prstGeom>
          <a:noFill/>
        </p:spPr>
        <p:txBody>
          <a:bodyPr wrap="square" lIns="0" tIns="0" rIns="0" bIns="0" anchor="t">
            <a:spAutoFit/>
          </a:bodyPr>
          <a:lstStyle/>
          <a:p>
            <a:pPr algn="ctr">
              <a:lnSpc>
                <a:spcPct val="125000"/>
              </a:lnSpc>
            </a:pPr>
            <a:r>
              <a:rPr sz="1200" b="0" i="0" dirty="0">
                <a:solidFill>
                  <a:srgbClr val="556670"/>
                </a:solidFill>
                <a:latin typeface="Roboto Condensed" panose="02000000000000000000" pitchFamily="2" charset="0"/>
                <a:ea typeface="Roboto Condensed" panose="02000000000000000000" pitchFamily="2" charset="0"/>
              </a:rPr>
              <a:t>HPC infrastructure for AI workflows · Containers, CI/CD &amp; Kubernetes</a:t>
            </a:r>
          </a:p>
        </p:txBody>
      </p:sp>
      <p:sp>
        <p:nvSpPr>
          <p:cNvPr id="25" name="Rounded Rectangle 24"/>
          <p:cNvSpPr/>
          <p:nvPr/>
        </p:nvSpPr>
        <p:spPr>
          <a:xfrm>
            <a:off x="7311999" y="1783080"/>
            <a:ext cx="2194560" cy="3291840"/>
          </a:xfrm>
          <a:prstGeom prst="roundRect">
            <a:avLst>
              <a:gd name="adj" fmla="val 6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6" name="Rectangle 25"/>
          <p:cNvSpPr/>
          <p:nvPr/>
        </p:nvSpPr>
        <p:spPr>
          <a:xfrm>
            <a:off x="7311999" y="1783080"/>
            <a:ext cx="2194560" cy="685800"/>
          </a:xfrm>
          <a:prstGeom prst="rect">
            <a:avLst/>
          </a:prstGeom>
          <a:solidFill>
            <a:srgbClr val="6F9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7" name="TextBox 26"/>
          <p:cNvSpPr txBox="1"/>
          <p:nvPr/>
        </p:nvSpPr>
        <p:spPr>
          <a:xfrm>
            <a:off x="7311999" y="1901952"/>
            <a:ext cx="2194560" cy="362535"/>
          </a:xfrm>
          <a:prstGeom prst="rect">
            <a:avLst/>
          </a:prstGeom>
          <a:noFill/>
        </p:spPr>
        <p:txBody>
          <a:bodyPr wrap="square" lIns="0" tIns="0" rIns="0" bIns="0" anchor="t">
            <a:spAutoFit/>
          </a:bodyPr>
          <a:lstStyle/>
          <a:p>
            <a:pPr algn="ctr">
              <a:lnSpc>
                <a:spcPct val="115000"/>
              </a:lnSpc>
            </a:pPr>
            <a:r>
              <a:rPr sz="2200" b="1" i="0">
                <a:solidFill>
                  <a:srgbClr val="FFFFFF"/>
                </a:solidFill>
                <a:latin typeface="Roboto Condensed" panose="02000000000000000000" pitchFamily="2" charset="0"/>
                <a:ea typeface="Roboto Condensed" panose="02000000000000000000" pitchFamily="2" charset="0"/>
              </a:rPr>
              <a:t>UM</a:t>
            </a:r>
          </a:p>
        </p:txBody>
      </p:sp>
      <p:sp>
        <p:nvSpPr>
          <p:cNvPr id="28" name="Rounded Rectangle 27"/>
          <p:cNvSpPr/>
          <p:nvPr/>
        </p:nvSpPr>
        <p:spPr>
          <a:xfrm>
            <a:off x="7540599" y="2651760"/>
            <a:ext cx="1737360" cy="411480"/>
          </a:xfrm>
          <a:prstGeom prst="roundRect">
            <a:avLst>
              <a:gd name="adj" fmla="val 5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9" name="TextBox 28"/>
          <p:cNvSpPr txBox="1"/>
          <p:nvPr/>
        </p:nvSpPr>
        <p:spPr>
          <a:xfrm>
            <a:off x="7540599" y="2757537"/>
            <a:ext cx="1737360" cy="199927"/>
          </a:xfrm>
          <a:prstGeom prst="rect">
            <a:avLst/>
          </a:prstGeom>
          <a:noFill/>
        </p:spPr>
        <p:txBody>
          <a:bodyPr wrap="square" lIns="0" tIns="0" rIns="0" bIns="0" anchor="ctr">
            <a:spAutoFit/>
          </a:bodyPr>
          <a:lstStyle/>
          <a:p>
            <a:pPr algn="ctr">
              <a:lnSpc>
                <a:spcPct val="115000"/>
              </a:lnSpc>
            </a:pPr>
            <a:r>
              <a:rPr sz="1200" b="1" i="0" dirty="0">
                <a:solidFill>
                  <a:srgbClr val="145B6E"/>
                </a:solidFill>
                <a:latin typeface="Roboto Condensed" panose="02000000000000000000" pitchFamily="2" charset="0"/>
                <a:ea typeface="Roboto Condensed" panose="02000000000000000000" pitchFamily="2" charset="0"/>
              </a:rPr>
              <a:t>Requirements </a:t>
            </a:r>
            <a:r>
              <a:rPr sz="1200" b="1" i="0" dirty="0" err="1">
                <a:solidFill>
                  <a:srgbClr val="145B6E"/>
                </a:solidFill>
                <a:latin typeface="Roboto Condensed" panose="02000000000000000000" pitchFamily="2" charset="0"/>
                <a:ea typeface="Roboto Condensed" panose="02000000000000000000" pitchFamily="2" charset="0"/>
              </a:rPr>
              <a:t>analysed</a:t>
            </a:r>
            <a:endParaRPr sz="1200" b="1" i="0" dirty="0">
              <a:solidFill>
                <a:srgbClr val="145B6E"/>
              </a:solidFill>
              <a:latin typeface="Roboto Condensed" panose="02000000000000000000" pitchFamily="2" charset="0"/>
              <a:ea typeface="Roboto Condensed" panose="02000000000000000000" pitchFamily="2" charset="0"/>
            </a:endParaRPr>
          </a:p>
        </p:txBody>
      </p:sp>
      <p:sp>
        <p:nvSpPr>
          <p:cNvPr id="30" name="TextBox 29"/>
          <p:cNvSpPr txBox="1"/>
          <p:nvPr/>
        </p:nvSpPr>
        <p:spPr>
          <a:xfrm>
            <a:off x="7494879" y="3200400"/>
            <a:ext cx="1828800" cy="241285"/>
          </a:xfrm>
          <a:prstGeom prst="rect">
            <a:avLst/>
          </a:prstGeom>
          <a:noFill/>
        </p:spPr>
        <p:txBody>
          <a:bodyPr wrap="square" lIns="0" tIns="0" rIns="0" bIns="0" anchor="t">
            <a:spAutoFit/>
          </a:bodyPr>
          <a:lstStyle/>
          <a:p>
            <a:pPr algn="ctr">
              <a:lnSpc>
                <a:spcPct val="120000"/>
              </a:lnSpc>
            </a:pPr>
            <a:r>
              <a:rPr sz="1400" b="1" i="0" dirty="0">
                <a:solidFill>
                  <a:srgbClr val="1C2B33"/>
                </a:solidFill>
                <a:latin typeface="Roboto Condensed" panose="02000000000000000000" pitchFamily="2" charset="0"/>
                <a:ea typeface="Roboto Condensed" panose="02000000000000000000" pitchFamily="2" charset="0"/>
              </a:rPr>
              <a:t>Framework analysis</a:t>
            </a:r>
          </a:p>
        </p:txBody>
      </p:sp>
      <p:sp>
        <p:nvSpPr>
          <p:cNvPr id="31" name="TextBox 30"/>
          <p:cNvSpPr txBox="1"/>
          <p:nvPr/>
        </p:nvSpPr>
        <p:spPr>
          <a:xfrm>
            <a:off x="7494879" y="3977640"/>
            <a:ext cx="1828800" cy="675441"/>
          </a:xfrm>
          <a:prstGeom prst="rect">
            <a:avLst/>
          </a:prstGeom>
          <a:noFill/>
        </p:spPr>
        <p:txBody>
          <a:bodyPr wrap="square" lIns="0" tIns="0" rIns="0" bIns="0" anchor="t">
            <a:spAutoFit/>
          </a:bodyPr>
          <a:lstStyle/>
          <a:p>
            <a:pPr algn="ctr">
              <a:lnSpc>
                <a:spcPct val="125000"/>
              </a:lnSpc>
            </a:pPr>
            <a:r>
              <a:rPr sz="1200" b="0" i="0" dirty="0">
                <a:solidFill>
                  <a:srgbClr val="556670"/>
                </a:solidFill>
                <a:latin typeface="Roboto Condensed" panose="02000000000000000000" pitchFamily="2" charset="0"/>
                <a:ea typeface="Roboto Condensed" panose="02000000000000000000" pitchFamily="2" charset="0"/>
              </a:rPr>
              <a:t>Participated in Design of Short Educational Programs workshop (March 2026)</a:t>
            </a:r>
          </a:p>
        </p:txBody>
      </p:sp>
      <p:sp>
        <p:nvSpPr>
          <p:cNvPr id="32" name="Rounded Rectangle 31"/>
          <p:cNvSpPr/>
          <p:nvPr/>
        </p:nvSpPr>
        <p:spPr>
          <a:xfrm>
            <a:off x="9625431" y="1783080"/>
            <a:ext cx="2194560" cy="3291840"/>
          </a:xfrm>
          <a:prstGeom prst="roundRect">
            <a:avLst>
              <a:gd name="adj" fmla="val 6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3" name="Rectangle 32"/>
          <p:cNvSpPr/>
          <p:nvPr/>
        </p:nvSpPr>
        <p:spPr>
          <a:xfrm>
            <a:off x="9625431" y="1783080"/>
            <a:ext cx="2194560" cy="685800"/>
          </a:xfrm>
          <a:prstGeom prst="rect">
            <a:avLst/>
          </a:prstGeom>
          <a:solidFill>
            <a:srgbClr val="55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4" name="TextBox 33"/>
          <p:cNvSpPr txBox="1"/>
          <p:nvPr/>
        </p:nvSpPr>
        <p:spPr>
          <a:xfrm>
            <a:off x="9625431" y="1901952"/>
            <a:ext cx="2194560" cy="362535"/>
          </a:xfrm>
          <a:prstGeom prst="rect">
            <a:avLst/>
          </a:prstGeom>
          <a:noFill/>
        </p:spPr>
        <p:txBody>
          <a:bodyPr wrap="square" lIns="0" tIns="0" rIns="0" bIns="0" anchor="t">
            <a:spAutoFit/>
          </a:bodyPr>
          <a:lstStyle/>
          <a:p>
            <a:pPr algn="ctr">
              <a:lnSpc>
                <a:spcPct val="115000"/>
              </a:lnSpc>
            </a:pPr>
            <a:r>
              <a:rPr sz="2200" b="1" i="0">
                <a:solidFill>
                  <a:srgbClr val="FFFFFF"/>
                </a:solidFill>
                <a:latin typeface="Roboto Condensed" panose="02000000000000000000" pitchFamily="2" charset="0"/>
                <a:ea typeface="Roboto Condensed" panose="02000000000000000000" pitchFamily="2" charset="0"/>
              </a:rPr>
              <a:t>UP</a:t>
            </a:r>
          </a:p>
        </p:txBody>
      </p:sp>
      <p:sp>
        <p:nvSpPr>
          <p:cNvPr id="35" name="Rounded Rectangle 34"/>
          <p:cNvSpPr/>
          <p:nvPr/>
        </p:nvSpPr>
        <p:spPr>
          <a:xfrm>
            <a:off x="9854031" y="2651760"/>
            <a:ext cx="1737360" cy="411480"/>
          </a:xfrm>
          <a:prstGeom prst="roundRect">
            <a:avLst>
              <a:gd name="adj" fmla="val 5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6" name="TextBox 35"/>
          <p:cNvSpPr txBox="1"/>
          <p:nvPr/>
        </p:nvSpPr>
        <p:spPr>
          <a:xfrm>
            <a:off x="9854031" y="2757537"/>
            <a:ext cx="1737360" cy="199927"/>
          </a:xfrm>
          <a:prstGeom prst="rect">
            <a:avLst/>
          </a:prstGeom>
          <a:noFill/>
        </p:spPr>
        <p:txBody>
          <a:bodyPr wrap="square" lIns="0" tIns="0" rIns="0" bIns="0" anchor="ctr">
            <a:spAutoFit/>
          </a:bodyPr>
          <a:lstStyle/>
          <a:p>
            <a:pPr algn="ctr">
              <a:lnSpc>
                <a:spcPct val="115000"/>
              </a:lnSpc>
            </a:pPr>
            <a:r>
              <a:rPr sz="1200" b="1" i="0" dirty="0">
                <a:solidFill>
                  <a:srgbClr val="145B6E"/>
                </a:solidFill>
                <a:latin typeface="Roboto Condensed" panose="02000000000000000000" pitchFamily="2" charset="0"/>
                <a:ea typeface="Roboto Condensed" panose="02000000000000000000" pitchFamily="2" charset="0"/>
              </a:rPr>
              <a:t>Templates compiled</a:t>
            </a:r>
          </a:p>
        </p:txBody>
      </p:sp>
      <p:sp>
        <p:nvSpPr>
          <p:cNvPr id="37" name="TextBox 36"/>
          <p:cNvSpPr txBox="1"/>
          <p:nvPr/>
        </p:nvSpPr>
        <p:spPr>
          <a:xfrm>
            <a:off x="9808311" y="3200400"/>
            <a:ext cx="1828800" cy="499817"/>
          </a:xfrm>
          <a:prstGeom prst="rect">
            <a:avLst/>
          </a:prstGeom>
          <a:noFill/>
        </p:spPr>
        <p:txBody>
          <a:bodyPr wrap="square" lIns="0" tIns="0" rIns="0" bIns="0" anchor="t">
            <a:spAutoFit/>
          </a:bodyPr>
          <a:lstStyle/>
          <a:p>
            <a:pPr algn="ctr">
              <a:lnSpc>
                <a:spcPct val="120000"/>
              </a:lnSpc>
            </a:pPr>
            <a:r>
              <a:rPr sz="1400" b="1" i="0" dirty="0">
                <a:solidFill>
                  <a:srgbClr val="1C2B33"/>
                </a:solidFill>
                <a:latin typeface="Roboto Condensed" panose="02000000000000000000" pitchFamily="2" charset="0"/>
                <a:ea typeface="Roboto Condensed" panose="02000000000000000000" pitchFamily="2" charset="0"/>
              </a:rPr>
              <a:t>Procedural documentation</a:t>
            </a:r>
          </a:p>
        </p:txBody>
      </p:sp>
      <p:sp>
        <p:nvSpPr>
          <p:cNvPr id="38" name="TextBox 37"/>
          <p:cNvSpPr txBox="1"/>
          <p:nvPr/>
        </p:nvSpPr>
        <p:spPr>
          <a:xfrm>
            <a:off x="9808311" y="3977640"/>
            <a:ext cx="1828800" cy="675441"/>
          </a:xfrm>
          <a:prstGeom prst="rect">
            <a:avLst/>
          </a:prstGeom>
          <a:noFill/>
        </p:spPr>
        <p:txBody>
          <a:bodyPr wrap="square" lIns="0" tIns="0" rIns="0" bIns="0" anchor="t">
            <a:spAutoFit/>
          </a:bodyPr>
          <a:lstStyle/>
          <a:p>
            <a:pPr algn="ctr">
              <a:lnSpc>
                <a:spcPct val="125000"/>
              </a:lnSpc>
            </a:pPr>
            <a:r>
              <a:rPr sz="1200" b="0" i="0" dirty="0">
                <a:solidFill>
                  <a:srgbClr val="556670"/>
                </a:solidFill>
                <a:latin typeface="Roboto Condensed" panose="02000000000000000000" pitchFamily="2" charset="0"/>
                <a:ea typeface="Roboto Condensed" panose="02000000000000000000" pitchFamily="2" charset="0"/>
              </a:rPr>
              <a:t>Application forms, learning-plan templates, public certificate specimens</a:t>
            </a:r>
          </a:p>
        </p:txBody>
      </p:sp>
      <p:sp>
        <p:nvSpPr>
          <p:cNvPr id="39" name="Rounded Rectangle 38"/>
          <p:cNvSpPr/>
          <p:nvPr/>
        </p:nvSpPr>
        <p:spPr>
          <a:xfrm>
            <a:off x="502920" y="5527313"/>
            <a:ext cx="11201400" cy="896350"/>
          </a:xfrm>
          <a:prstGeom prst="roundRect">
            <a:avLst>
              <a:gd name="adj" fmla="val 12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40" name="TextBox 39"/>
          <p:cNvSpPr txBox="1"/>
          <p:nvPr/>
        </p:nvSpPr>
        <p:spPr>
          <a:xfrm>
            <a:off x="777240" y="5570587"/>
            <a:ext cx="10652760" cy="233205"/>
          </a:xfrm>
          <a:prstGeom prst="rect">
            <a:avLst/>
          </a:prstGeom>
          <a:noFill/>
        </p:spPr>
        <p:txBody>
          <a:bodyPr wrap="square" lIns="0" tIns="0" rIns="0" bIns="0" anchor="t">
            <a:spAutoFit/>
          </a:bodyPr>
          <a:lstStyle/>
          <a:p>
            <a:pPr algn="l">
              <a:lnSpc>
                <a:spcPct val="115000"/>
              </a:lnSpc>
            </a:pPr>
            <a:r>
              <a:rPr sz="1400" b="1" i="0" dirty="0">
                <a:solidFill>
                  <a:srgbClr val="145B6E"/>
                </a:solidFill>
                <a:latin typeface="Roboto Condensed" panose="02000000000000000000" pitchFamily="2" charset="0"/>
                <a:ea typeface="Roboto Condensed" panose="02000000000000000000" pitchFamily="2" charset="0"/>
              </a:rPr>
              <a:t>Governance framework</a:t>
            </a:r>
          </a:p>
        </p:txBody>
      </p:sp>
      <p:sp>
        <p:nvSpPr>
          <p:cNvPr id="41" name="TextBox 40"/>
          <p:cNvSpPr txBox="1"/>
          <p:nvPr/>
        </p:nvSpPr>
        <p:spPr>
          <a:xfrm>
            <a:off x="777240" y="5872339"/>
            <a:ext cx="10652760" cy="518668"/>
          </a:xfrm>
          <a:prstGeom prst="rect">
            <a:avLst/>
          </a:prstGeom>
          <a:noFill/>
        </p:spPr>
        <p:txBody>
          <a:bodyPr wrap="square" lIns="0" tIns="0" rIns="0" bIns="0" anchor="t">
            <a:spAutoFit/>
          </a:bodyPr>
          <a:lstStyle/>
          <a:p>
            <a:pPr algn="l">
              <a:lnSpc>
                <a:spcPct val="125000"/>
              </a:lnSpc>
            </a:pPr>
            <a:r>
              <a:rPr sz="1400" b="0" i="1" dirty="0">
                <a:solidFill>
                  <a:srgbClr val="1C2B33"/>
                </a:solidFill>
                <a:latin typeface="Roboto Condensed" panose="02000000000000000000" pitchFamily="2" charset="0"/>
                <a:ea typeface="Roboto Condensed" panose="02000000000000000000" pitchFamily="2" charset="0"/>
              </a:rPr>
              <a:t>Shared repository for accreditation templates and institutional guidelines; all certifications aligned with the European Qualifications Framework, ensuring portability across consortium institutions.</a:t>
            </a:r>
          </a:p>
        </p:txBody>
      </p:sp>
      <p:sp>
        <p:nvSpPr>
          <p:cNvPr id="42" name="Date Placeholder 1">
            <a:extLst>
              <a:ext uri="{FF2B5EF4-FFF2-40B4-BE49-F238E27FC236}">
                <a16:creationId xmlns:a16="http://schemas.microsoft.com/office/drawing/2014/main" id="{EB95DFE9-DB66-49F1-9AF7-00C8C4A5B978}"/>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43" name="Footer Placeholder 2">
            <a:extLst>
              <a:ext uri="{FF2B5EF4-FFF2-40B4-BE49-F238E27FC236}">
                <a16:creationId xmlns:a16="http://schemas.microsoft.com/office/drawing/2014/main" id="{F03F6317-6012-4B41-9839-BD94D3CA32DE}"/>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44" name="Slide Number Placeholder 3">
            <a:extLst>
              <a:ext uri="{FF2B5EF4-FFF2-40B4-BE49-F238E27FC236}">
                <a16:creationId xmlns:a16="http://schemas.microsoft.com/office/drawing/2014/main" id="{BD11EFA8-F6EC-40C5-AF03-A185A2C13130}"/>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rPr>
              <a:t>Reaching industry — first Open Day &amp; SME channels</a:t>
            </a:r>
          </a:p>
        </p:txBody>
      </p:sp>
      <p:sp>
        <p:nvSpPr>
          <p:cNvPr id="3" name="TextBox 2"/>
          <p:cNvSpPr txBox="1"/>
          <p:nvPr/>
        </p:nvSpPr>
        <p:spPr>
          <a:xfrm>
            <a:off x="502920" y="1005840"/>
            <a:ext cx="11247120" cy="411480"/>
          </a:xfrm>
          <a:prstGeom prst="rect">
            <a:avLst/>
          </a:prstGeom>
          <a:noFill/>
        </p:spPr>
        <p:txBody>
          <a:bodyPr wrap="square" lIns="0" tIns="0" rIns="0" bIns="0" anchor="t">
            <a:spAutoFit/>
          </a:bodyPr>
          <a:lstStyle/>
          <a:p>
            <a:pPr algn="l">
              <a:lnSpc>
                <a:spcPct val="115000"/>
              </a:lnSpc>
            </a:pPr>
            <a:r>
              <a:rPr sz="1600" b="0" i="1" dirty="0">
                <a:solidFill>
                  <a:srgbClr val="556670"/>
                </a:solidFill>
                <a:latin typeface="Calibri"/>
              </a:rPr>
              <a:t>From listening to designing: survey responses already shaping the training roadmap</a:t>
            </a:r>
          </a:p>
        </p:txBody>
      </p:sp>
      <p:sp>
        <p:nvSpPr>
          <p:cNvPr id="4" name="Rounded Rectangle 3"/>
          <p:cNvSpPr/>
          <p:nvPr/>
        </p:nvSpPr>
        <p:spPr>
          <a:xfrm>
            <a:off x="502920" y="1783080"/>
            <a:ext cx="5577840" cy="4434840"/>
          </a:xfrm>
          <a:prstGeom prst="roundRect">
            <a:avLst>
              <a:gd name="adj" fmla="val 4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5" name="Rectangle 4"/>
          <p:cNvSpPr/>
          <p:nvPr/>
        </p:nvSpPr>
        <p:spPr>
          <a:xfrm>
            <a:off x="502920" y="1783080"/>
            <a:ext cx="5577840" cy="777240"/>
          </a:xfrm>
          <a:prstGeom prst="rect">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6" name="TextBox 5"/>
          <p:cNvSpPr txBox="1"/>
          <p:nvPr/>
        </p:nvSpPr>
        <p:spPr>
          <a:xfrm>
            <a:off x="502920" y="1911096"/>
            <a:ext cx="5577840" cy="329577"/>
          </a:xfrm>
          <a:prstGeom prst="rect">
            <a:avLst/>
          </a:prstGeom>
          <a:noFill/>
        </p:spPr>
        <p:txBody>
          <a:bodyPr wrap="square" lIns="0" tIns="0" rIns="0" bIns="0" anchor="t">
            <a:spAutoFit/>
          </a:bodyPr>
          <a:lstStyle/>
          <a:p>
            <a:pPr algn="ctr">
              <a:lnSpc>
                <a:spcPct val="115000"/>
              </a:lnSpc>
            </a:pPr>
            <a:r>
              <a:rPr sz="2000" b="1" i="0">
                <a:solidFill>
                  <a:srgbClr val="FFFFFF"/>
                </a:solidFill>
                <a:latin typeface="Roboto Condensed" panose="02000000000000000000" pitchFamily="2" charset="0"/>
                <a:ea typeface="Roboto Condensed" panose="02000000000000000000" pitchFamily="2" charset="0"/>
              </a:rPr>
              <a:t>1st SLAIF Industry Open Day</a:t>
            </a:r>
          </a:p>
        </p:txBody>
      </p:sp>
      <p:sp>
        <p:nvSpPr>
          <p:cNvPr id="7" name="TextBox 6"/>
          <p:cNvSpPr txBox="1"/>
          <p:nvPr/>
        </p:nvSpPr>
        <p:spPr>
          <a:xfrm>
            <a:off x="822960" y="2743200"/>
            <a:ext cx="4937760" cy="230704"/>
          </a:xfrm>
          <a:prstGeom prst="rect">
            <a:avLst/>
          </a:prstGeom>
          <a:noFill/>
        </p:spPr>
        <p:txBody>
          <a:bodyPr wrap="square" lIns="0" tIns="0" rIns="0" bIns="0" anchor="t">
            <a:spAutoFit/>
          </a:bodyPr>
          <a:lstStyle/>
          <a:p>
            <a:pPr algn="l">
              <a:lnSpc>
                <a:spcPct val="115000"/>
              </a:lnSpc>
            </a:pPr>
            <a:r>
              <a:rPr sz="1400" b="1" i="1" dirty="0">
                <a:solidFill>
                  <a:srgbClr val="145B6E"/>
                </a:solidFill>
                <a:latin typeface="Roboto Condensed" panose="02000000000000000000" pitchFamily="2" charset="0"/>
                <a:ea typeface="Roboto Condensed" panose="02000000000000000000" pitchFamily="2" charset="0"/>
              </a:rPr>
              <a:t>17 November 2025  ·  JSI, Ljubljana</a:t>
            </a:r>
          </a:p>
        </p:txBody>
      </p:sp>
      <p:sp>
        <p:nvSpPr>
          <p:cNvPr id="8" name="TextBox 7"/>
          <p:cNvSpPr txBox="1"/>
          <p:nvPr/>
        </p:nvSpPr>
        <p:spPr>
          <a:xfrm>
            <a:off x="822960" y="3100958"/>
            <a:ext cx="2011680" cy="899542"/>
          </a:xfrm>
          <a:prstGeom prst="rect">
            <a:avLst/>
          </a:prstGeom>
          <a:noFill/>
        </p:spPr>
        <p:txBody>
          <a:bodyPr wrap="square" lIns="0" tIns="0" rIns="0" bIns="0" anchor="t">
            <a:spAutoFit/>
          </a:bodyPr>
          <a:lstStyle/>
          <a:p>
            <a:pPr algn="l">
              <a:lnSpc>
                <a:spcPct val="115000"/>
              </a:lnSpc>
            </a:pPr>
            <a:r>
              <a:rPr sz="5400" b="1" i="0" dirty="0">
                <a:solidFill>
                  <a:srgbClr val="6F921E"/>
                </a:solidFill>
                <a:latin typeface="Roboto Condensed" panose="02000000000000000000" pitchFamily="2" charset="0"/>
                <a:ea typeface="Roboto Condensed" panose="02000000000000000000" pitchFamily="2" charset="0"/>
              </a:rPr>
              <a:t>42</a:t>
            </a:r>
          </a:p>
        </p:txBody>
      </p:sp>
      <p:sp>
        <p:nvSpPr>
          <p:cNvPr id="9" name="TextBox 8"/>
          <p:cNvSpPr txBox="1"/>
          <p:nvPr/>
        </p:nvSpPr>
        <p:spPr>
          <a:xfrm>
            <a:off x="1965960" y="3254366"/>
            <a:ext cx="3108960" cy="592726"/>
          </a:xfrm>
          <a:prstGeom prst="rect">
            <a:avLst/>
          </a:prstGeom>
          <a:noFill/>
        </p:spPr>
        <p:txBody>
          <a:bodyPr wrap="square" lIns="0" tIns="0" rIns="0" bIns="0" anchor="t">
            <a:spAutoFit/>
          </a:bodyPr>
          <a:lstStyle/>
          <a:p>
            <a:pPr algn="l">
              <a:lnSpc>
                <a:spcPct val="125000"/>
              </a:lnSpc>
            </a:pPr>
            <a:r>
              <a:rPr sz="1600" i="0" dirty="0">
                <a:solidFill>
                  <a:srgbClr val="1C2B33"/>
                </a:solidFill>
                <a:latin typeface="Roboto Condensed" panose="02000000000000000000" pitchFamily="2" charset="0"/>
                <a:ea typeface="Roboto Condensed" panose="02000000000000000000" pitchFamily="2" charset="0"/>
              </a:rPr>
              <a:t>survey responses</a:t>
            </a:r>
          </a:p>
          <a:p>
            <a:pPr algn="l">
              <a:lnSpc>
                <a:spcPct val="125000"/>
              </a:lnSpc>
            </a:pPr>
            <a:r>
              <a:rPr sz="1600" i="0" dirty="0">
                <a:solidFill>
                  <a:srgbClr val="1C2B33"/>
                </a:solidFill>
                <a:latin typeface="Roboto Condensed" panose="02000000000000000000" pitchFamily="2" charset="0"/>
                <a:ea typeface="Roboto Condensed" panose="02000000000000000000" pitchFamily="2" charset="0"/>
              </a:rPr>
              <a:t>in the WP6 session</a:t>
            </a:r>
          </a:p>
        </p:txBody>
      </p:sp>
      <p:grpSp>
        <p:nvGrpSpPr>
          <p:cNvPr id="32" name="Group 31">
            <a:extLst>
              <a:ext uri="{FF2B5EF4-FFF2-40B4-BE49-F238E27FC236}">
                <a16:creationId xmlns:a16="http://schemas.microsoft.com/office/drawing/2014/main" id="{BF2D5809-D00D-474C-830B-CC83E097A90B}"/>
              </a:ext>
            </a:extLst>
          </p:cNvPr>
          <p:cNvGrpSpPr/>
          <p:nvPr/>
        </p:nvGrpSpPr>
        <p:grpSpPr>
          <a:xfrm>
            <a:off x="822960" y="4434840"/>
            <a:ext cx="5074920" cy="499817"/>
            <a:chOff x="822960" y="4434840"/>
            <a:chExt cx="5074920" cy="499817"/>
          </a:xfrm>
        </p:grpSpPr>
        <p:sp>
          <p:nvSpPr>
            <p:cNvPr id="10" name="Oval 9"/>
            <p:cNvSpPr/>
            <p:nvPr/>
          </p:nvSpPr>
          <p:spPr>
            <a:xfrm>
              <a:off x="822960" y="4504236"/>
              <a:ext cx="137160" cy="137160"/>
            </a:xfrm>
            <a:prstGeom prst="ellipse">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1" name="TextBox 10"/>
            <p:cNvSpPr txBox="1"/>
            <p:nvPr/>
          </p:nvSpPr>
          <p:spPr>
            <a:xfrm>
              <a:off x="1051560" y="4434840"/>
              <a:ext cx="4846320" cy="499817"/>
            </a:xfrm>
            <a:prstGeom prst="rect">
              <a:avLst/>
            </a:prstGeom>
            <a:noFill/>
          </p:spPr>
          <p:txBody>
            <a:bodyPr wrap="square" lIns="0" tIns="0" rIns="0" bIns="0" anchor="t">
              <a:spAutoFit/>
            </a:bodyPr>
            <a:lstStyle/>
            <a:p>
              <a:pPr algn="l">
                <a:lnSpc>
                  <a:spcPct val="120000"/>
                </a:lnSpc>
              </a:pPr>
              <a:r>
                <a:rPr sz="1400" b="0" i="0" dirty="0">
                  <a:solidFill>
                    <a:srgbClr val="1C2B33"/>
                  </a:solidFill>
                  <a:latin typeface="Roboto Condensed" panose="02000000000000000000" pitchFamily="2" charset="0"/>
                  <a:ea typeface="Roboto Condensed" panose="02000000000000000000" pitchFamily="2" charset="0"/>
                </a:rPr>
                <a:t>Results compiled into dedicated presentation, shared with all 10 WP6 partners</a:t>
              </a:r>
            </a:p>
          </p:txBody>
        </p:sp>
      </p:grpSp>
      <p:grpSp>
        <p:nvGrpSpPr>
          <p:cNvPr id="31" name="Group 30">
            <a:extLst>
              <a:ext uri="{FF2B5EF4-FFF2-40B4-BE49-F238E27FC236}">
                <a16:creationId xmlns:a16="http://schemas.microsoft.com/office/drawing/2014/main" id="{35D6C175-D598-46BA-A2E3-DF9B9A53ED73}"/>
              </a:ext>
            </a:extLst>
          </p:cNvPr>
          <p:cNvGrpSpPr/>
          <p:nvPr/>
        </p:nvGrpSpPr>
        <p:grpSpPr>
          <a:xfrm>
            <a:off x="822960" y="5063762"/>
            <a:ext cx="5074920" cy="241285"/>
            <a:chOff x="822960" y="4983480"/>
            <a:chExt cx="5074920" cy="241285"/>
          </a:xfrm>
        </p:grpSpPr>
        <p:sp>
          <p:nvSpPr>
            <p:cNvPr id="12" name="Oval 11"/>
            <p:cNvSpPr/>
            <p:nvPr/>
          </p:nvSpPr>
          <p:spPr>
            <a:xfrm>
              <a:off x="822960" y="5057450"/>
              <a:ext cx="137160" cy="137160"/>
            </a:xfrm>
            <a:prstGeom prst="ellipse">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3" name="TextBox 12"/>
            <p:cNvSpPr txBox="1"/>
            <p:nvPr/>
          </p:nvSpPr>
          <p:spPr>
            <a:xfrm>
              <a:off x="1051560" y="4983480"/>
              <a:ext cx="4846320" cy="241285"/>
            </a:xfrm>
            <a:prstGeom prst="rect">
              <a:avLst/>
            </a:prstGeom>
            <a:noFill/>
          </p:spPr>
          <p:txBody>
            <a:bodyPr wrap="square" lIns="0" tIns="0" rIns="0" bIns="0" anchor="t">
              <a:spAutoFit/>
            </a:bodyPr>
            <a:lstStyle/>
            <a:p>
              <a:pPr algn="l">
                <a:lnSpc>
                  <a:spcPct val="120000"/>
                </a:lnSpc>
              </a:pPr>
              <a:r>
                <a:rPr sz="1400" b="0" i="0" dirty="0">
                  <a:solidFill>
                    <a:srgbClr val="1C2B33"/>
                  </a:solidFill>
                  <a:latin typeface="Roboto Condensed" panose="02000000000000000000" pitchFamily="2" charset="0"/>
                  <a:ea typeface="Roboto Condensed" panose="02000000000000000000" pitchFamily="2" charset="0"/>
                </a:rPr>
                <a:t>Findings directly influenced selection of micro-credential topics</a:t>
              </a:r>
            </a:p>
          </p:txBody>
        </p:sp>
      </p:grpSp>
      <p:grpSp>
        <p:nvGrpSpPr>
          <p:cNvPr id="30" name="Group 29">
            <a:extLst>
              <a:ext uri="{FF2B5EF4-FFF2-40B4-BE49-F238E27FC236}">
                <a16:creationId xmlns:a16="http://schemas.microsoft.com/office/drawing/2014/main" id="{96063753-5CF4-4CE7-AE44-FB96EF599247}"/>
              </a:ext>
            </a:extLst>
          </p:cNvPr>
          <p:cNvGrpSpPr/>
          <p:nvPr/>
        </p:nvGrpSpPr>
        <p:grpSpPr>
          <a:xfrm>
            <a:off x="822960" y="5442316"/>
            <a:ext cx="5074920" cy="758349"/>
            <a:chOff x="822960" y="5532120"/>
            <a:chExt cx="5074920" cy="758349"/>
          </a:xfrm>
        </p:grpSpPr>
        <p:sp>
          <p:nvSpPr>
            <p:cNvPr id="14" name="Oval 13"/>
            <p:cNvSpPr/>
            <p:nvPr/>
          </p:nvSpPr>
          <p:spPr>
            <a:xfrm>
              <a:off x="822960" y="5593844"/>
              <a:ext cx="137160" cy="137160"/>
            </a:xfrm>
            <a:prstGeom prst="ellipse">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5" name="TextBox 14"/>
            <p:cNvSpPr txBox="1"/>
            <p:nvPr/>
          </p:nvSpPr>
          <p:spPr>
            <a:xfrm>
              <a:off x="1051560" y="5532120"/>
              <a:ext cx="4846320" cy="758349"/>
            </a:xfrm>
            <a:prstGeom prst="rect">
              <a:avLst/>
            </a:prstGeom>
            <a:noFill/>
          </p:spPr>
          <p:txBody>
            <a:bodyPr wrap="square" lIns="0" tIns="0" rIns="0" bIns="0" anchor="t">
              <a:spAutoFit/>
            </a:bodyPr>
            <a:lstStyle/>
            <a:p>
              <a:pPr algn="l">
                <a:lnSpc>
                  <a:spcPct val="120000"/>
                </a:lnSpc>
              </a:pPr>
              <a:r>
                <a:rPr sz="1400" b="0" i="0" dirty="0">
                  <a:solidFill>
                    <a:srgbClr val="1C2B33"/>
                  </a:solidFill>
                  <a:latin typeface="Roboto Condensed" panose="02000000000000000000" pitchFamily="2" charset="0"/>
                  <a:ea typeface="Roboto Condensed" panose="02000000000000000000" pitchFamily="2" charset="0"/>
                </a:rPr>
                <a:t>ARNES designed new workshop — Building a Data Culture — in direct response to the identified #1 barrier: data acquisition, curation &amp; management</a:t>
              </a:r>
            </a:p>
          </p:txBody>
        </p:sp>
      </p:grpSp>
      <p:sp>
        <p:nvSpPr>
          <p:cNvPr id="16" name="Rounded Rectangle 15"/>
          <p:cNvSpPr/>
          <p:nvPr/>
        </p:nvSpPr>
        <p:spPr>
          <a:xfrm>
            <a:off x="6263640" y="1783080"/>
            <a:ext cx="5486400" cy="4434840"/>
          </a:xfrm>
          <a:prstGeom prst="roundRect">
            <a:avLst>
              <a:gd name="adj" fmla="val 4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7" name="Rectangle 16"/>
          <p:cNvSpPr/>
          <p:nvPr/>
        </p:nvSpPr>
        <p:spPr>
          <a:xfrm>
            <a:off x="6263640" y="1783080"/>
            <a:ext cx="5486400" cy="777240"/>
          </a:xfrm>
          <a:prstGeom prst="rect">
            <a:avLst/>
          </a:prstGeom>
          <a:solidFill>
            <a:srgbClr val="6F9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8" name="TextBox 17"/>
          <p:cNvSpPr txBox="1"/>
          <p:nvPr/>
        </p:nvSpPr>
        <p:spPr>
          <a:xfrm>
            <a:off x="6263640" y="1911096"/>
            <a:ext cx="5486400" cy="329577"/>
          </a:xfrm>
          <a:prstGeom prst="rect">
            <a:avLst/>
          </a:prstGeom>
          <a:noFill/>
        </p:spPr>
        <p:txBody>
          <a:bodyPr wrap="square" lIns="0" tIns="0" rIns="0" bIns="0" anchor="t">
            <a:spAutoFit/>
          </a:bodyPr>
          <a:lstStyle/>
          <a:p>
            <a:pPr algn="ctr">
              <a:lnSpc>
                <a:spcPct val="115000"/>
              </a:lnSpc>
            </a:pPr>
            <a:r>
              <a:rPr sz="2000" b="1" i="0">
                <a:solidFill>
                  <a:srgbClr val="FFFFFF"/>
                </a:solidFill>
                <a:latin typeface="Roboto Condensed" panose="02000000000000000000" pitchFamily="2" charset="0"/>
                <a:ea typeface="Roboto Condensed" panose="02000000000000000000" pitchFamily="2" charset="0"/>
              </a:rPr>
              <a:t>SME engagement channels</a:t>
            </a:r>
          </a:p>
        </p:txBody>
      </p:sp>
      <p:sp>
        <p:nvSpPr>
          <p:cNvPr id="19" name="TextBox 18"/>
          <p:cNvSpPr txBox="1"/>
          <p:nvPr/>
        </p:nvSpPr>
        <p:spPr>
          <a:xfrm>
            <a:off x="6583680" y="2743200"/>
            <a:ext cx="4846320" cy="233205"/>
          </a:xfrm>
          <a:prstGeom prst="rect">
            <a:avLst/>
          </a:prstGeom>
          <a:noFill/>
        </p:spPr>
        <p:txBody>
          <a:bodyPr wrap="square" lIns="0" tIns="0" rIns="0" bIns="0" anchor="t">
            <a:spAutoFit/>
          </a:bodyPr>
          <a:lstStyle/>
          <a:p>
            <a:pPr algn="l">
              <a:lnSpc>
                <a:spcPct val="115000"/>
              </a:lnSpc>
            </a:pPr>
            <a:r>
              <a:rPr sz="1400" b="1" i="0" dirty="0">
                <a:solidFill>
                  <a:srgbClr val="145B6E"/>
                </a:solidFill>
                <a:latin typeface="Roboto Condensed" panose="02000000000000000000" pitchFamily="2" charset="0"/>
                <a:ea typeface="Roboto Condensed" panose="02000000000000000000" pitchFamily="2" charset="0"/>
              </a:rPr>
              <a:t>GZS — Chamber of Commerce &amp; Industry of Slovenia</a:t>
            </a:r>
          </a:p>
        </p:txBody>
      </p:sp>
      <p:sp>
        <p:nvSpPr>
          <p:cNvPr id="20" name="TextBox 19"/>
          <p:cNvSpPr txBox="1"/>
          <p:nvPr/>
        </p:nvSpPr>
        <p:spPr>
          <a:xfrm>
            <a:off x="6583680" y="3163895"/>
            <a:ext cx="2286000" cy="899542"/>
          </a:xfrm>
          <a:prstGeom prst="rect">
            <a:avLst/>
          </a:prstGeom>
          <a:noFill/>
        </p:spPr>
        <p:txBody>
          <a:bodyPr wrap="square" lIns="0" tIns="0" rIns="0" bIns="0" anchor="t">
            <a:spAutoFit/>
          </a:bodyPr>
          <a:lstStyle/>
          <a:p>
            <a:pPr algn="l">
              <a:lnSpc>
                <a:spcPct val="115000"/>
              </a:lnSpc>
            </a:pPr>
            <a:r>
              <a:rPr sz="5400" b="1" i="0" dirty="0">
                <a:solidFill>
                  <a:srgbClr val="6F921E"/>
                </a:solidFill>
                <a:latin typeface="Roboto Condensed" panose="02000000000000000000" pitchFamily="2" charset="0"/>
                <a:ea typeface="Roboto Condensed" panose="02000000000000000000" pitchFamily="2" charset="0"/>
              </a:rPr>
              <a:t>5,300+</a:t>
            </a:r>
          </a:p>
        </p:txBody>
      </p:sp>
      <p:sp>
        <p:nvSpPr>
          <p:cNvPr id="21" name="TextBox 20"/>
          <p:cNvSpPr txBox="1"/>
          <p:nvPr/>
        </p:nvSpPr>
        <p:spPr>
          <a:xfrm>
            <a:off x="8823960" y="3244334"/>
            <a:ext cx="2743200" cy="738664"/>
          </a:xfrm>
          <a:prstGeom prst="rect">
            <a:avLst/>
          </a:prstGeom>
          <a:noFill/>
        </p:spPr>
        <p:txBody>
          <a:bodyPr wrap="square" lIns="0" tIns="0" rIns="0" bIns="0" anchor="t">
            <a:spAutoFit/>
          </a:bodyPr>
          <a:lstStyle/>
          <a:p>
            <a:pPr algn="l"/>
            <a:r>
              <a:rPr sz="1600" b="0" i="0" dirty="0">
                <a:solidFill>
                  <a:srgbClr val="1C2B33"/>
                </a:solidFill>
                <a:latin typeface="Roboto Condensed" panose="02000000000000000000" pitchFamily="2" charset="0"/>
                <a:ea typeface="Roboto Condensed" panose="02000000000000000000" pitchFamily="2" charset="0"/>
              </a:rPr>
              <a:t>member companies</a:t>
            </a:r>
            <a:r>
              <a:rPr lang="sl-SI" sz="1600" b="0" i="0" dirty="0">
                <a:solidFill>
                  <a:srgbClr val="1C2B33"/>
                </a:solidFill>
                <a:latin typeface="Roboto Condensed" panose="02000000000000000000" pitchFamily="2" charset="0"/>
                <a:ea typeface="Roboto Condensed" panose="02000000000000000000" pitchFamily="2" charset="0"/>
              </a:rPr>
              <a:t> </a:t>
            </a:r>
            <a:r>
              <a:rPr sz="1600" b="0" i="0" dirty="0">
                <a:solidFill>
                  <a:srgbClr val="1C2B33"/>
                </a:solidFill>
                <a:latin typeface="Roboto Condensed" panose="02000000000000000000" pitchFamily="2" charset="0"/>
                <a:ea typeface="Roboto Condensed" panose="02000000000000000000" pitchFamily="2" charset="0"/>
              </a:rPr>
              <a:t>reachable through</a:t>
            </a:r>
            <a:r>
              <a:rPr lang="sl-SI" sz="1600" b="0" i="0" dirty="0">
                <a:solidFill>
                  <a:srgbClr val="1C2B33"/>
                </a:solidFill>
                <a:latin typeface="Roboto Condensed" panose="02000000000000000000" pitchFamily="2" charset="0"/>
                <a:ea typeface="Roboto Condensed" panose="02000000000000000000" pitchFamily="2" charset="0"/>
              </a:rPr>
              <a:t> </a:t>
            </a:r>
            <a:r>
              <a:rPr sz="1600" b="0" i="0" dirty="0">
                <a:solidFill>
                  <a:srgbClr val="1C2B33"/>
                </a:solidFill>
                <a:latin typeface="Roboto Condensed" panose="02000000000000000000" pitchFamily="2" charset="0"/>
                <a:ea typeface="Roboto Condensed" panose="02000000000000000000" pitchFamily="2" charset="0"/>
              </a:rPr>
              <a:t>newsletters &amp; direct outreach</a:t>
            </a:r>
          </a:p>
        </p:txBody>
      </p:sp>
      <p:sp>
        <p:nvSpPr>
          <p:cNvPr id="22" name="TextBox 21"/>
          <p:cNvSpPr txBox="1"/>
          <p:nvPr/>
        </p:nvSpPr>
        <p:spPr>
          <a:xfrm>
            <a:off x="6583680" y="4343400"/>
            <a:ext cx="4846320" cy="233205"/>
          </a:xfrm>
          <a:prstGeom prst="rect">
            <a:avLst/>
          </a:prstGeom>
          <a:noFill/>
        </p:spPr>
        <p:txBody>
          <a:bodyPr wrap="square" lIns="0" tIns="0" rIns="0" bIns="0" anchor="t">
            <a:spAutoFit/>
          </a:bodyPr>
          <a:lstStyle/>
          <a:p>
            <a:pPr algn="l">
              <a:lnSpc>
                <a:spcPct val="115000"/>
              </a:lnSpc>
            </a:pPr>
            <a:r>
              <a:rPr sz="1400" i="0" dirty="0">
                <a:solidFill>
                  <a:srgbClr val="1C2B33"/>
                </a:solidFill>
                <a:latin typeface="Roboto Condensed" panose="02000000000000000000" pitchFamily="2" charset="0"/>
                <a:ea typeface="Roboto Condensed" panose="02000000000000000000" pitchFamily="2" charset="0"/>
              </a:rPr>
              <a:t>3 business-tailored webinars designed:</a:t>
            </a:r>
          </a:p>
        </p:txBody>
      </p:sp>
      <p:grpSp>
        <p:nvGrpSpPr>
          <p:cNvPr id="35" name="Group 34">
            <a:extLst>
              <a:ext uri="{FF2B5EF4-FFF2-40B4-BE49-F238E27FC236}">
                <a16:creationId xmlns:a16="http://schemas.microsoft.com/office/drawing/2014/main" id="{092B3E9B-491B-441B-BA92-28A32A3B5B49}"/>
              </a:ext>
            </a:extLst>
          </p:cNvPr>
          <p:cNvGrpSpPr/>
          <p:nvPr/>
        </p:nvGrpSpPr>
        <p:grpSpPr>
          <a:xfrm>
            <a:off x="6649811" y="4770644"/>
            <a:ext cx="4917349" cy="233205"/>
            <a:chOff x="6649811" y="4770644"/>
            <a:chExt cx="4917349" cy="233205"/>
          </a:xfrm>
        </p:grpSpPr>
        <p:sp>
          <p:nvSpPr>
            <p:cNvPr id="23" name="Oval 22"/>
            <p:cNvSpPr/>
            <p:nvPr/>
          </p:nvSpPr>
          <p:spPr>
            <a:xfrm>
              <a:off x="6649811" y="4819728"/>
              <a:ext cx="135037" cy="135037"/>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4" name="TextBox 23"/>
            <p:cNvSpPr txBox="1"/>
            <p:nvPr/>
          </p:nvSpPr>
          <p:spPr>
            <a:xfrm>
              <a:off x="6858000" y="4770644"/>
              <a:ext cx="4709160" cy="233205"/>
            </a:xfrm>
            <a:prstGeom prst="rect">
              <a:avLst/>
            </a:prstGeom>
            <a:noFill/>
          </p:spPr>
          <p:txBody>
            <a:bodyPr wrap="square" lIns="0" tIns="0" rIns="0" bIns="0" anchor="ctr">
              <a:spAutoFit/>
            </a:bodyPr>
            <a:lstStyle/>
            <a:p>
              <a:pPr algn="l">
                <a:lnSpc>
                  <a:spcPct val="115000"/>
                </a:lnSpc>
              </a:pPr>
              <a:r>
                <a:rPr sz="1400" i="0" dirty="0">
                  <a:solidFill>
                    <a:srgbClr val="1C2B33"/>
                  </a:solidFill>
                  <a:latin typeface="Roboto Condensed" panose="02000000000000000000" pitchFamily="2" charset="0"/>
                  <a:ea typeface="Roboto Condensed" panose="02000000000000000000" pitchFamily="2" charset="0"/>
                </a:rPr>
                <a:t>Artificial Intelligence for Leadership</a:t>
              </a:r>
            </a:p>
          </p:txBody>
        </p:sp>
      </p:grpSp>
      <p:sp>
        <p:nvSpPr>
          <p:cNvPr id="29" name="TextBox 28"/>
          <p:cNvSpPr txBox="1"/>
          <p:nvPr/>
        </p:nvSpPr>
        <p:spPr>
          <a:xfrm>
            <a:off x="6583680" y="5943600"/>
            <a:ext cx="4846320" cy="183255"/>
          </a:xfrm>
          <a:prstGeom prst="rect">
            <a:avLst/>
          </a:prstGeom>
          <a:noFill/>
        </p:spPr>
        <p:txBody>
          <a:bodyPr wrap="square" lIns="0" tIns="0" rIns="0" bIns="0" anchor="t">
            <a:spAutoFit/>
          </a:bodyPr>
          <a:lstStyle/>
          <a:p>
            <a:pPr algn="l">
              <a:lnSpc>
                <a:spcPct val="115000"/>
              </a:lnSpc>
            </a:pPr>
            <a:r>
              <a:rPr sz="1100" b="0" i="1" dirty="0">
                <a:solidFill>
                  <a:srgbClr val="556670"/>
                </a:solidFill>
                <a:latin typeface="Roboto Condensed" panose="02000000000000000000" pitchFamily="2" charset="0"/>
                <a:ea typeface="Roboto Condensed" panose="02000000000000000000" pitchFamily="2" charset="0"/>
              </a:rPr>
              <a:t>Early industrial contacts: </a:t>
            </a:r>
            <a:r>
              <a:rPr sz="1100" b="0" i="1" dirty="0" err="1">
                <a:solidFill>
                  <a:srgbClr val="556670"/>
                </a:solidFill>
                <a:latin typeface="Roboto Condensed" panose="02000000000000000000" pitchFamily="2" charset="0"/>
                <a:ea typeface="Roboto Condensed" panose="02000000000000000000" pitchFamily="2" charset="0"/>
              </a:rPr>
              <a:t>Hidria</a:t>
            </a:r>
            <a:r>
              <a:rPr sz="1100" b="0" i="1" dirty="0">
                <a:solidFill>
                  <a:srgbClr val="556670"/>
                </a:solidFill>
                <a:latin typeface="Roboto Condensed" panose="02000000000000000000" pitchFamily="2" charset="0"/>
                <a:ea typeface="Roboto Condensed" panose="02000000000000000000" pitchFamily="2" charset="0"/>
              </a:rPr>
              <a:t> · </a:t>
            </a:r>
            <a:r>
              <a:rPr sz="1100" b="0" i="1" dirty="0" err="1">
                <a:solidFill>
                  <a:srgbClr val="556670"/>
                </a:solidFill>
                <a:latin typeface="Roboto Condensed" panose="02000000000000000000" pitchFamily="2" charset="0"/>
                <a:ea typeface="Roboto Condensed" panose="02000000000000000000" pitchFamily="2" charset="0"/>
              </a:rPr>
              <a:t>Steklarna</a:t>
            </a:r>
            <a:r>
              <a:rPr sz="1100" b="0" i="1" dirty="0">
                <a:solidFill>
                  <a:srgbClr val="556670"/>
                </a:solidFill>
                <a:latin typeface="Roboto Condensed" panose="02000000000000000000" pitchFamily="2" charset="0"/>
                <a:ea typeface="Roboto Condensed" panose="02000000000000000000" pitchFamily="2" charset="0"/>
              </a:rPr>
              <a:t> </a:t>
            </a:r>
            <a:r>
              <a:rPr sz="1100" b="0" i="1" dirty="0" err="1">
                <a:solidFill>
                  <a:srgbClr val="556670"/>
                </a:solidFill>
                <a:latin typeface="Roboto Condensed" panose="02000000000000000000" pitchFamily="2" charset="0"/>
                <a:ea typeface="Roboto Condensed" panose="02000000000000000000" pitchFamily="2" charset="0"/>
              </a:rPr>
              <a:t>Hrastnik</a:t>
            </a:r>
            <a:r>
              <a:rPr sz="1100" b="0" i="1" dirty="0">
                <a:solidFill>
                  <a:srgbClr val="556670"/>
                </a:solidFill>
                <a:latin typeface="Roboto Condensed" panose="02000000000000000000" pitchFamily="2" charset="0"/>
                <a:ea typeface="Roboto Condensed" panose="02000000000000000000" pitchFamily="2" charset="0"/>
              </a:rPr>
              <a:t> · </a:t>
            </a:r>
            <a:r>
              <a:rPr sz="1100" b="0" i="1" dirty="0" err="1">
                <a:solidFill>
                  <a:srgbClr val="556670"/>
                </a:solidFill>
                <a:latin typeface="Roboto Condensed" panose="02000000000000000000" pitchFamily="2" charset="0"/>
                <a:ea typeface="Roboto Condensed" panose="02000000000000000000" pitchFamily="2" charset="0"/>
              </a:rPr>
              <a:t>Domel</a:t>
            </a:r>
            <a:r>
              <a:rPr sz="1100" b="0" i="1" dirty="0">
                <a:solidFill>
                  <a:srgbClr val="556670"/>
                </a:solidFill>
                <a:latin typeface="Roboto Condensed" panose="02000000000000000000" pitchFamily="2" charset="0"/>
                <a:ea typeface="Roboto Condensed" panose="02000000000000000000" pitchFamily="2" charset="0"/>
              </a:rPr>
              <a:t> · MESI · </a:t>
            </a:r>
            <a:r>
              <a:rPr sz="1100" b="0" i="1" dirty="0" err="1">
                <a:solidFill>
                  <a:srgbClr val="556670"/>
                </a:solidFill>
                <a:latin typeface="Roboto Condensed" panose="02000000000000000000" pitchFamily="2" charset="0"/>
                <a:ea typeface="Roboto Condensed" panose="02000000000000000000" pitchFamily="2" charset="0"/>
              </a:rPr>
              <a:t>Caretronic</a:t>
            </a:r>
            <a:endParaRPr sz="1100" b="0" i="1" dirty="0">
              <a:solidFill>
                <a:srgbClr val="556670"/>
              </a:solidFill>
              <a:latin typeface="Roboto Condensed" panose="02000000000000000000" pitchFamily="2" charset="0"/>
              <a:ea typeface="Roboto Condensed" panose="02000000000000000000" pitchFamily="2" charset="0"/>
            </a:endParaRPr>
          </a:p>
        </p:txBody>
      </p:sp>
      <p:grpSp>
        <p:nvGrpSpPr>
          <p:cNvPr id="36" name="Group 35">
            <a:extLst>
              <a:ext uri="{FF2B5EF4-FFF2-40B4-BE49-F238E27FC236}">
                <a16:creationId xmlns:a16="http://schemas.microsoft.com/office/drawing/2014/main" id="{A9D7FCF5-CFFB-41EF-AF64-5385076B2F7F}"/>
              </a:ext>
            </a:extLst>
          </p:cNvPr>
          <p:cNvGrpSpPr/>
          <p:nvPr/>
        </p:nvGrpSpPr>
        <p:grpSpPr>
          <a:xfrm>
            <a:off x="6649811" y="5161660"/>
            <a:ext cx="4917349" cy="233205"/>
            <a:chOff x="6649811" y="5186917"/>
            <a:chExt cx="4917349" cy="233205"/>
          </a:xfrm>
        </p:grpSpPr>
        <p:sp>
          <p:nvSpPr>
            <p:cNvPr id="26" name="TextBox 25"/>
            <p:cNvSpPr txBox="1"/>
            <p:nvPr/>
          </p:nvSpPr>
          <p:spPr>
            <a:xfrm>
              <a:off x="6858000" y="5186917"/>
              <a:ext cx="4709160" cy="233205"/>
            </a:xfrm>
            <a:prstGeom prst="rect">
              <a:avLst/>
            </a:prstGeom>
            <a:noFill/>
          </p:spPr>
          <p:txBody>
            <a:bodyPr wrap="square" lIns="0" tIns="0" rIns="0" bIns="0" anchor="ctr">
              <a:spAutoFit/>
            </a:bodyPr>
            <a:lstStyle/>
            <a:p>
              <a:pPr algn="l">
                <a:lnSpc>
                  <a:spcPct val="115000"/>
                </a:lnSpc>
              </a:pPr>
              <a:r>
                <a:rPr sz="1400" i="0" dirty="0">
                  <a:solidFill>
                    <a:srgbClr val="1C2B33"/>
                  </a:solidFill>
                  <a:latin typeface="Roboto Condensed" panose="02000000000000000000" pitchFamily="2" charset="0"/>
                  <a:ea typeface="Roboto Condensed" panose="02000000000000000000" pitchFamily="2" charset="0"/>
                </a:rPr>
                <a:t>AI for Small Businesses</a:t>
              </a:r>
            </a:p>
          </p:txBody>
        </p:sp>
        <p:sp>
          <p:nvSpPr>
            <p:cNvPr id="33" name="Oval 32">
              <a:extLst>
                <a:ext uri="{FF2B5EF4-FFF2-40B4-BE49-F238E27FC236}">
                  <a16:creationId xmlns:a16="http://schemas.microsoft.com/office/drawing/2014/main" id="{9AD900A5-6BD3-4F6A-A0CC-C74DE86C4A65}"/>
                </a:ext>
              </a:extLst>
            </p:cNvPr>
            <p:cNvSpPr/>
            <p:nvPr/>
          </p:nvSpPr>
          <p:spPr>
            <a:xfrm>
              <a:off x="6649811" y="5236001"/>
              <a:ext cx="135037" cy="135037"/>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grpSp>
      <p:grpSp>
        <p:nvGrpSpPr>
          <p:cNvPr id="37" name="Group 36">
            <a:extLst>
              <a:ext uri="{FF2B5EF4-FFF2-40B4-BE49-F238E27FC236}">
                <a16:creationId xmlns:a16="http://schemas.microsoft.com/office/drawing/2014/main" id="{69A9636B-3A17-460D-ADA1-9CC59CEE600A}"/>
              </a:ext>
            </a:extLst>
          </p:cNvPr>
          <p:cNvGrpSpPr/>
          <p:nvPr/>
        </p:nvGrpSpPr>
        <p:grpSpPr>
          <a:xfrm>
            <a:off x="6649811" y="5552677"/>
            <a:ext cx="4917349" cy="233205"/>
            <a:chOff x="6649811" y="5552677"/>
            <a:chExt cx="4917349" cy="233205"/>
          </a:xfrm>
        </p:grpSpPr>
        <p:sp>
          <p:nvSpPr>
            <p:cNvPr id="28" name="TextBox 27"/>
            <p:cNvSpPr txBox="1"/>
            <p:nvPr/>
          </p:nvSpPr>
          <p:spPr>
            <a:xfrm>
              <a:off x="6858000" y="5552677"/>
              <a:ext cx="4709160" cy="233205"/>
            </a:xfrm>
            <a:prstGeom prst="rect">
              <a:avLst/>
            </a:prstGeom>
            <a:noFill/>
          </p:spPr>
          <p:txBody>
            <a:bodyPr wrap="square" lIns="0" tIns="0" rIns="0" bIns="0" anchor="ctr">
              <a:spAutoFit/>
            </a:bodyPr>
            <a:lstStyle/>
            <a:p>
              <a:pPr algn="l">
                <a:lnSpc>
                  <a:spcPct val="115000"/>
                </a:lnSpc>
              </a:pPr>
              <a:r>
                <a:rPr sz="1400" i="0" dirty="0">
                  <a:solidFill>
                    <a:srgbClr val="1C2B33"/>
                  </a:solidFill>
                  <a:latin typeface="Roboto Condensed" panose="02000000000000000000" pitchFamily="2" charset="0"/>
                  <a:ea typeface="Roboto Condensed" panose="02000000000000000000" pitchFamily="2" charset="0"/>
                </a:rPr>
                <a:t>Artificial Intelligence in Entrepreneurship</a:t>
              </a:r>
            </a:p>
          </p:txBody>
        </p:sp>
        <p:sp>
          <p:nvSpPr>
            <p:cNvPr id="34" name="Oval 33">
              <a:extLst>
                <a:ext uri="{FF2B5EF4-FFF2-40B4-BE49-F238E27FC236}">
                  <a16:creationId xmlns:a16="http://schemas.microsoft.com/office/drawing/2014/main" id="{AB5C7D52-B8C3-4565-A45A-BE21BCC4CFC6}"/>
                </a:ext>
              </a:extLst>
            </p:cNvPr>
            <p:cNvSpPr/>
            <p:nvPr/>
          </p:nvSpPr>
          <p:spPr>
            <a:xfrm>
              <a:off x="6649811" y="5601761"/>
              <a:ext cx="135037" cy="135037"/>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grpSp>
      <p:sp>
        <p:nvSpPr>
          <p:cNvPr id="38" name="Date Placeholder 1">
            <a:extLst>
              <a:ext uri="{FF2B5EF4-FFF2-40B4-BE49-F238E27FC236}">
                <a16:creationId xmlns:a16="http://schemas.microsoft.com/office/drawing/2014/main" id="{327410AE-3484-4E7A-BE39-5207AAD756C6}"/>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39" name="Footer Placeholder 2">
            <a:extLst>
              <a:ext uri="{FF2B5EF4-FFF2-40B4-BE49-F238E27FC236}">
                <a16:creationId xmlns:a16="http://schemas.microsoft.com/office/drawing/2014/main" id="{E62FAFFD-7775-415B-8BA3-5C3714DFDBDF}"/>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40" name="Slide Number Placeholder 3">
            <a:extLst>
              <a:ext uri="{FF2B5EF4-FFF2-40B4-BE49-F238E27FC236}">
                <a16:creationId xmlns:a16="http://schemas.microsoft.com/office/drawing/2014/main" id="{3D2799E2-BEA0-48D9-A1D0-52246C7C9B17}"/>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rPr>
              <a:t>Regional hub network — physical presence across Slovenia</a:t>
            </a:r>
          </a:p>
        </p:txBody>
      </p:sp>
      <p:sp>
        <p:nvSpPr>
          <p:cNvPr id="3" name="TextBox 2"/>
          <p:cNvSpPr txBox="1"/>
          <p:nvPr/>
        </p:nvSpPr>
        <p:spPr>
          <a:xfrm>
            <a:off x="502920" y="1005840"/>
            <a:ext cx="11247120" cy="263662"/>
          </a:xfrm>
          <a:prstGeom prst="rect">
            <a:avLst/>
          </a:prstGeom>
          <a:noFill/>
        </p:spPr>
        <p:txBody>
          <a:bodyPr wrap="square" lIns="0" tIns="0" rIns="0" bIns="0" anchor="t">
            <a:spAutoFit/>
          </a:bodyPr>
          <a:lstStyle/>
          <a:p>
            <a:pPr algn="l">
              <a:lnSpc>
                <a:spcPct val="115000"/>
              </a:lnSpc>
            </a:pPr>
            <a:r>
              <a:rPr sz="1600" b="0" i="1">
                <a:solidFill>
                  <a:srgbClr val="556670"/>
                </a:solidFill>
                <a:latin typeface="Roboto Condensed" panose="02000000000000000000" pitchFamily="2" charset="0"/>
                <a:ea typeface="Roboto Condensed" panose="02000000000000000000" pitchFamily="2" charset="0"/>
              </a:rPr>
              <a:t>Low-threshold entry points for students, researchers, SMEs and public sector users</a:t>
            </a:r>
          </a:p>
        </p:txBody>
      </p:sp>
      <p:sp>
        <p:nvSpPr>
          <p:cNvPr id="4" name="Rounded Rectangle 3"/>
          <p:cNvSpPr/>
          <p:nvPr/>
        </p:nvSpPr>
        <p:spPr>
          <a:xfrm>
            <a:off x="371703" y="1783080"/>
            <a:ext cx="2194560" cy="3931920"/>
          </a:xfrm>
          <a:prstGeom prst="roundRect">
            <a:avLst>
              <a:gd name="adj" fmla="val 6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5" name="Rectangle 4"/>
          <p:cNvSpPr/>
          <p:nvPr/>
        </p:nvSpPr>
        <p:spPr>
          <a:xfrm>
            <a:off x="371703" y="1783080"/>
            <a:ext cx="2194560" cy="1005840"/>
          </a:xfrm>
          <a:prstGeom prst="rect">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6" name="TextBox 5"/>
          <p:cNvSpPr txBox="1"/>
          <p:nvPr/>
        </p:nvSpPr>
        <p:spPr>
          <a:xfrm>
            <a:off x="371703" y="1947672"/>
            <a:ext cx="2194560" cy="296620"/>
          </a:xfrm>
          <a:prstGeom prst="rect">
            <a:avLst/>
          </a:prstGeom>
          <a:noFill/>
        </p:spPr>
        <p:txBody>
          <a:bodyPr wrap="square" lIns="0" tIns="0" rIns="0" bIns="0" anchor="t">
            <a:spAutoFit/>
          </a:bodyPr>
          <a:lstStyle/>
          <a:p>
            <a:pPr algn="ctr">
              <a:lnSpc>
                <a:spcPct val="115000"/>
              </a:lnSpc>
            </a:pPr>
            <a:r>
              <a:rPr sz="1800" b="1" i="0" dirty="0">
                <a:solidFill>
                  <a:srgbClr val="FFFFFF"/>
                </a:solidFill>
                <a:latin typeface="Roboto Condensed" panose="02000000000000000000" pitchFamily="2" charset="0"/>
                <a:ea typeface="Roboto Condensed" panose="02000000000000000000" pitchFamily="2" charset="0"/>
              </a:rPr>
              <a:t>Ljubljana</a:t>
            </a:r>
          </a:p>
        </p:txBody>
      </p:sp>
      <p:sp>
        <p:nvSpPr>
          <p:cNvPr id="7" name="TextBox 6"/>
          <p:cNvSpPr txBox="1"/>
          <p:nvPr/>
        </p:nvSpPr>
        <p:spPr>
          <a:xfrm>
            <a:off x="371703" y="2350008"/>
            <a:ext cx="2194560" cy="233205"/>
          </a:xfrm>
          <a:prstGeom prst="rect">
            <a:avLst/>
          </a:prstGeom>
          <a:noFill/>
        </p:spPr>
        <p:txBody>
          <a:bodyPr wrap="square" lIns="0" tIns="0" rIns="0" bIns="0" anchor="t">
            <a:spAutoFit/>
          </a:bodyPr>
          <a:lstStyle/>
          <a:p>
            <a:pPr algn="ctr">
              <a:lnSpc>
                <a:spcPct val="115000"/>
              </a:lnSpc>
            </a:pPr>
            <a:r>
              <a:rPr sz="1400" b="0" i="1" dirty="0">
                <a:solidFill>
                  <a:srgbClr val="FFFFFF"/>
                </a:solidFill>
                <a:latin typeface="Roboto Condensed" panose="02000000000000000000" pitchFamily="2" charset="0"/>
                <a:ea typeface="Roboto Condensed" panose="02000000000000000000" pitchFamily="2" charset="0"/>
              </a:rPr>
              <a:t>UL FRI</a:t>
            </a:r>
          </a:p>
        </p:txBody>
      </p:sp>
      <p:sp>
        <p:nvSpPr>
          <p:cNvPr id="8" name="Rounded Rectangle 7"/>
          <p:cNvSpPr/>
          <p:nvPr/>
        </p:nvSpPr>
        <p:spPr>
          <a:xfrm>
            <a:off x="691743" y="2971800"/>
            <a:ext cx="1554480" cy="347472"/>
          </a:xfrm>
          <a:prstGeom prst="roundRect">
            <a:avLst>
              <a:gd name="adj" fmla="val 50000"/>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9" name="TextBox 8"/>
          <p:cNvSpPr txBox="1"/>
          <p:nvPr/>
        </p:nvSpPr>
        <p:spPr>
          <a:xfrm>
            <a:off x="691743" y="3045573"/>
            <a:ext cx="1554480" cy="199927"/>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Roboto Condensed" panose="02000000000000000000" pitchFamily="2" charset="0"/>
                <a:ea typeface="Roboto Condensed" panose="02000000000000000000" pitchFamily="2" charset="0"/>
              </a:rPr>
              <a:t>Operational</a:t>
            </a:r>
          </a:p>
        </p:txBody>
      </p:sp>
      <p:sp>
        <p:nvSpPr>
          <p:cNvPr id="10" name="TextBox 9"/>
          <p:cNvSpPr txBox="1"/>
          <p:nvPr/>
        </p:nvSpPr>
        <p:spPr>
          <a:xfrm>
            <a:off x="554583" y="3520440"/>
            <a:ext cx="1828800" cy="1097673"/>
          </a:xfrm>
          <a:prstGeom prst="rect">
            <a:avLst/>
          </a:prstGeom>
          <a:noFill/>
        </p:spPr>
        <p:txBody>
          <a:bodyPr wrap="square" lIns="0" tIns="0" rIns="0" bIns="0" anchor="t">
            <a:spAutoFit/>
          </a:bodyPr>
          <a:lstStyle/>
          <a:p>
            <a:pPr algn="ctr">
              <a:lnSpc>
                <a:spcPct val="130000"/>
              </a:lnSpc>
            </a:pPr>
            <a:r>
              <a:rPr sz="1400" b="0" i="0" dirty="0">
                <a:solidFill>
                  <a:srgbClr val="1C2B33"/>
                </a:solidFill>
                <a:latin typeface="Roboto Condensed" panose="02000000000000000000" pitchFamily="2" charset="0"/>
                <a:ea typeface="Roboto Condensed" panose="02000000000000000000" pitchFamily="2" charset="0"/>
              </a:rPr>
              <a:t>SLAIF co-working space / office — showcases, informal consultations, partner collaboration</a:t>
            </a:r>
          </a:p>
        </p:txBody>
      </p:sp>
      <p:sp>
        <p:nvSpPr>
          <p:cNvPr id="11" name="Rounded Rectangle 10"/>
          <p:cNvSpPr/>
          <p:nvPr/>
        </p:nvSpPr>
        <p:spPr>
          <a:xfrm>
            <a:off x="2685135" y="1783080"/>
            <a:ext cx="2194560" cy="3931920"/>
          </a:xfrm>
          <a:prstGeom prst="roundRect">
            <a:avLst>
              <a:gd name="adj" fmla="val 6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2" name="Rectangle 11"/>
          <p:cNvSpPr/>
          <p:nvPr/>
        </p:nvSpPr>
        <p:spPr>
          <a:xfrm>
            <a:off x="2685135" y="1783080"/>
            <a:ext cx="2194560" cy="1005840"/>
          </a:xfrm>
          <a:prstGeom prst="rect">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3" name="TextBox 12"/>
          <p:cNvSpPr txBox="1"/>
          <p:nvPr/>
        </p:nvSpPr>
        <p:spPr>
          <a:xfrm>
            <a:off x="2685135" y="1947672"/>
            <a:ext cx="2194560" cy="296620"/>
          </a:xfrm>
          <a:prstGeom prst="rect">
            <a:avLst/>
          </a:prstGeom>
          <a:noFill/>
        </p:spPr>
        <p:txBody>
          <a:bodyPr wrap="square" lIns="0" tIns="0" rIns="0" bIns="0" anchor="t">
            <a:spAutoFit/>
          </a:bodyPr>
          <a:lstStyle/>
          <a:p>
            <a:pPr algn="ctr">
              <a:lnSpc>
                <a:spcPct val="115000"/>
              </a:lnSpc>
            </a:pPr>
            <a:r>
              <a:rPr sz="1800" b="1" i="0" dirty="0">
                <a:solidFill>
                  <a:srgbClr val="FFFFFF"/>
                </a:solidFill>
                <a:latin typeface="Roboto Condensed" panose="02000000000000000000" pitchFamily="2" charset="0"/>
                <a:ea typeface="Roboto Condensed" panose="02000000000000000000" pitchFamily="2" charset="0"/>
              </a:rPr>
              <a:t>Ljubljana</a:t>
            </a:r>
          </a:p>
        </p:txBody>
      </p:sp>
      <p:sp>
        <p:nvSpPr>
          <p:cNvPr id="14" name="TextBox 13"/>
          <p:cNvSpPr txBox="1"/>
          <p:nvPr/>
        </p:nvSpPr>
        <p:spPr>
          <a:xfrm>
            <a:off x="2685135" y="2350008"/>
            <a:ext cx="2194560" cy="233205"/>
          </a:xfrm>
          <a:prstGeom prst="rect">
            <a:avLst/>
          </a:prstGeom>
          <a:noFill/>
        </p:spPr>
        <p:txBody>
          <a:bodyPr wrap="square" lIns="0" tIns="0" rIns="0" bIns="0" anchor="t">
            <a:spAutoFit/>
          </a:bodyPr>
          <a:lstStyle/>
          <a:p>
            <a:pPr algn="ctr">
              <a:lnSpc>
                <a:spcPct val="115000"/>
              </a:lnSpc>
            </a:pPr>
            <a:r>
              <a:rPr sz="1400" b="0" i="1" dirty="0">
                <a:solidFill>
                  <a:srgbClr val="FFFFFF"/>
                </a:solidFill>
                <a:latin typeface="Roboto Condensed" panose="02000000000000000000" pitchFamily="2" charset="0"/>
                <a:ea typeface="Roboto Condensed" panose="02000000000000000000" pitchFamily="2" charset="0"/>
              </a:rPr>
              <a:t>TPLJ</a:t>
            </a:r>
          </a:p>
        </p:txBody>
      </p:sp>
      <p:sp>
        <p:nvSpPr>
          <p:cNvPr id="15" name="Rounded Rectangle 14"/>
          <p:cNvSpPr/>
          <p:nvPr/>
        </p:nvSpPr>
        <p:spPr>
          <a:xfrm>
            <a:off x="3005175" y="2971800"/>
            <a:ext cx="1554480" cy="347472"/>
          </a:xfrm>
          <a:prstGeom prst="roundRect">
            <a:avLst>
              <a:gd name="adj" fmla="val 50000"/>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6" name="TextBox 15"/>
          <p:cNvSpPr txBox="1"/>
          <p:nvPr/>
        </p:nvSpPr>
        <p:spPr>
          <a:xfrm>
            <a:off x="3005175" y="3045573"/>
            <a:ext cx="1554480" cy="199927"/>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Roboto Condensed" panose="02000000000000000000" pitchFamily="2" charset="0"/>
                <a:ea typeface="Roboto Condensed" panose="02000000000000000000" pitchFamily="2" charset="0"/>
              </a:rPr>
              <a:t>Operational</a:t>
            </a:r>
          </a:p>
        </p:txBody>
      </p:sp>
      <p:sp>
        <p:nvSpPr>
          <p:cNvPr id="17" name="TextBox 16"/>
          <p:cNvSpPr txBox="1"/>
          <p:nvPr/>
        </p:nvSpPr>
        <p:spPr>
          <a:xfrm>
            <a:off x="2868015" y="3520440"/>
            <a:ext cx="1828800" cy="1097673"/>
          </a:xfrm>
          <a:prstGeom prst="rect">
            <a:avLst/>
          </a:prstGeom>
          <a:noFill/>
        </p:spPr>
        <p:txBody>
          <a:bodyPr wrap="square" lIns="0" tIns="0" rIns="0" bIns="0" anchor="t">
            <a:spAutoFit/>
          </a:bodyPr>
          <a:lstStyle/>
          <a:p>
            <a:pPr algn="ctr">
              <a:lnSpc>
                <a:spcPct val="130000"/>
              </a:lnSpc>
            </a:pPr>
            <a:r>
              <a:rPr sz="1400" b="0" i="0" dirty="0">
                <a:solidFill>
                  <a:srgbClr val="1C2B33"/>
                </a:solidFill>
                <a:latin typeface="Roboto Condensed" panose="02000000000000000000" pitchFamily="2" charset="0"/>
                <a:ea typeface="Roboto Condensed" panose="02000000000000000000" pitchFamily="2" charset="0"/>
              </a:rPr>
              <a:t>Demo AI Factory Training Centre — opened February 2026; AI Hub since September 2025</a:t>
            </a:r>
          </a:p>
        </p:txBody>
      </p:sp>
      <p:sp>
        <p:nvSpPr>
          <p:cNvPr id="18" name="Rounded Rectangle 17"/>
          <p:cNvSpPr/>
          <p:nvPr/>
        </p:nvSpPr>
        <p:spPr>
          <a:xfrm>
            <a:off x="4998567" y="1783080"/>
            <a:ext cx="2194560" cy="3931920"/>
          </a:xfrm>
          <a:prstGeom prst="roundRect">
            <a:avLst>
              <a:gd name="adj" fmla="val 6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9" name="Rectangle 18"/>
          <p:cNvSpPr/>
          <p:nvPr/>
        </p:nvSpPr>
        <p:spPr>
          <a:xfrm>
            <a:off x="4998567" y="1783080"/>
            <a:ext cx="2194560" cy="1005840"/>
          </a:xfrm>
          <a:prstGeom prst="rect">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0" name="TextBox 19"/>
          <p:cNvSpPr txBox="1"/>
          <p:nvPr/>
        </p:nvSpPr>
        <p:spPr>
          <a:xfrm>
            <a:off x="4998567" y="1947672"/>
            <a:ext cx="2194560" cy="296620"/>
          </a:xfrm>
          <a:prstGeom prst="rect">
            <a:avLst/>
          </a:prstGeom>
          <a:noFill/>
        </p:spPr>
        <p:txBody>
          <a:bodyPr wrap="square" lIns="0" tIns="0" rIns="0" bIns="0" anchor="t">
            <a:spAutoFit/>
          </a:bodyPr>
          <a:lstStyle/>
          <a:p>
            <a:pPr algn="ctr">
              <a:lnSpc>
                <a:spcPct val="115000"/>
              </a:lnSpc>
            </a:pPr>
            <a:r>
              <a:rPr sz="1800" b="1" i="0" dirty="0">
                <a:solidFill>
                  <a:srgbClr val="FFFFFF"/>
                </a:solidFill>
                <a:latin typeface="Roboto Condensed" panose="02000000000000000000" pitchFamily="2" charset="0"/>
                <a:ea typeface="Roboto Condensed" panose="02000000000000000000" pitchFamily="2" charset="0"/>
              </a:rPr>
              <a:t>Novo mesto</a:t>
            </a:r>
          </a:p>
        </p:txBody>
      </p:sp>
      <p:sp>
        <p:nvSpPr>
          <p:cNvPr id="21" name="TextBox 20"/>
          <p:cNvSpPr txBox="1"/>
          <p:nvPr/>
        </p:nvSpPr>
        <p:spPr>
          <a:xfrm>
            <a:off x="4998567" y="2350008"/>
            <a:ext cx="2194560" cy="233205"/>
          </a:xfrm>
          <a:prstGeom prst="rect">
            <a:avLst/>
          </a:prstGeom>
          <a:noFill/>
        </p:spPr>
        <p:txBody>
          <a:bodyPr wrap="square" lIns="0" tIns="0" rIns="0" bIns="0" anchor="t">
            <a:spAutoFit/>
          </a:bodyPr>
          <a:lstStyle/>
          <a:p>
            <a:pPr algn="ctr">
              <a:lnSpc>
                <a:spcPct val="115000"/>
              </a:lnSpc>
            </a:pPr>
            <a:r>
              <a:rPr sz="1400" b="0" i="1" dirty="0">
                <a:solidFill>
                  <a:srgbClr val="FFFFFF"/>
                </a:solidFill>
                <a:latin typeface="Roboto Condensed" panose="02000000000000000000" pitchFamily="2" charset="0"/>
                <a:ea typeface="Roboto Condensed" panose="02000000000000000000" pitchFamily="2" charset="0"/>
              </a:rPr>
              <a:t>FI</a:t>
            </a:r>
            <a:r>
              <a:rPr lang="sl-SI" sz="1400" b="0" i="1" dirty="0">
                <a:solidFill>
                  <a:srgbClr val="FFFFFF"/>
                </a:solidFill>
                <a:latin typeface="Roboto Condensed" panose="02000000000000000000" pitchFamily="2" charset="0"/>
                <a:ea typeface="Roboto Condensed" panose="02000000000000000000" pitchFamily="2" charset="0"/>
              </a:rPr>
              <a:t>Š</a:t>
            </a:r>
            <a:endParaRPr sz="1400" b="0" i="1" dirty="0">
              <a:solidFill>
                <a:srgbClr val="FFFFFF"/>
              </a:solidFill>
              <a:latin typeface="Roboto Condensed" panose="02000000000000000000" pitchFamily="2" charset="0"/>
              <a:ea typeface="Roboto Condensed" panose="02000000000000000000" pitchFamily="2" charset="0"/>
            </a:endParaRPr>
          </a:p>
        </p:txBody>
      </p:sp>
      <p:sp>
        <p:nvSpPr>
          <p:cNvPr id="22" name="Rounded Rectangle 21"/>
          <p:cNvSpPr/>
          <p:nvPr/>
        </p:nvSpPr>
        <p:spPr>
          <a:xfrm>
            <a:off x="5318607" y="2971800"/>
            <a:ext cx="1554480" cy="347472"/>
          </a:xfrm>
          <a:prstGeom prst="roundRect">
            <a:avLst>
              <a:gd name="adj" fmla="val 50000"/>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3" name="TextBox 22"/>
          <p:cNvSpPr txBox="1"/>
          <p:nvPr/>
        </p:nvSpPr>
        <p:spPr>
          <a:xfrm>
            <a:off x="5318607" y="3045573"/>
            <a:ext cx="1554480" cy="199927"/>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Roboto Condensed" panose="02000000000000000000" pitchFamily="2" charset="0"/>
                <a:ea typeface="Roboto Condensed" panose="02000000000000000000" pitchFamily="2" charset="0"/>
              </a:rPr>
              <a:t>Operational</a:t>
            </a:r>
          </a:p>
        </p:txBody>
      </p:sp>
      <p:sp>
        <p:nvSpPr>
          <p:cNvPr id="24" name="TextBox 23"/>
          <p:cNvSpPr txBox="1"/>
          <p:nvPr/>
        </p:nvSpPr>
        <p:spPr>
          <a:xfrm>
            <a:off x="5181447" y="3520440"/>
            <a:ext cx="1828800" cy="815095"/>
          </a:xfrm>
          <a:prstGeom prst="rect">
            <a:avLst/>
          </a:prstGeom>
          <a:noFill/>
        </p:spPr>
        <p:txBody>
          <a:bodyPr wrap="square" lIns="0" tIns="0" rIns="0" bIns="0" anchor="t">
            <a:spAutoFit/>
          </a:bodyPr>
          <a:lstStyle/>
          <a:p>
            <a:pPr algn="ctr">
              <a:lnSpc>
                <a:spcPct val="130000"/>
              </a:lnSpc>
            </a:pPr>
            <a:r>
              <a:rPr sz="1400" b="0" i="0" dirty="0">
                <a:solidFill>
                  <a:srgbClr val="1C2B33"/>
                </a:solidFill>
                <a:latin typeface="Roboto Condensed" panose="02000000000000000000" pitchFamily="2" charset="0"/>
                <a:ea typeface="Roboto Condensed" panose="02000000000000000000" pitchFamily="2" charset="0"/>
              </a:rPr>
              <a:t>Dedicated training room · 10 pre-configured laptops · validated test accounts</a:t>
            </a:r>
          </a:p>
        </p:txBody>
      </p:sp>
      <p:sp>
        <p:nvSpPr>
          <p:cNvPr id="25" name="Rounded Rectangle 24"/>
          <p:cNvSpPr/>
          <p:nvPr/>
        </p:nvSpPr>
        <p:spPr>
          <a:xfrm>
            <a:off x="7311999" y="1783080"/>
            <a:ext cx="2194560" cy="3931920"/>
          </a:xfrm>
          <a:prstGeom prst="roundRect">
            <a:avLst>
              <a:gd name="adj" fmla="val 6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6" name="Rectangle 25"/>
          <p:cNvSpPr/>
          <p:nvPr/>
        </p:nvSpPr>
        <p:spPr>
          <a:xfrm>
            <a:off x="7311999" y="1783080"/>
            <a:ext cx="2194560" cy="1005840"/>
          </a:xfrm>
          <a:prstGeom prst="rect">
            <a:avLst/>
          </a:prstGeom>
          <a:solidFill>
            <a:srgbClr val="6F9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7" name="TextBox 26"/>
          <p:cNvSpPr txBox="1"/>
          <p:nvPr/>
        </p:nvSpPr>
        <p:spPr>
          <a:xfrm>
            <a:off x="7311999" y="1947672"/>
            <a:ext cx="2194560" cy="296620"/>
          </a:xfrm>
          <a:prstGeom prst="rect">
            <a:avLst/>
          </a:prstGeom>
          <a:noFill/>
        </p:spPr>
        <p:txBody>
          <a:bodyPr wrap="square" lIns="0" tIns="0" rIns="0" bIns="0" anchor="t">
            <a:spAutoFit/>
          </a:bodyPr>
          <a:lstStyle/>
          <a:p>
            <a:pPr algn="ctr">
              <a:lnSpc>
                <a:spcPct val="115000"/>
              </a:lnSpc>
            </a:pPr>
            <a:r>
              <a:rPr sz="1800" b="1" i="0" dirty="0">
                <a:solidFill>
                  <a:srgbClr val="FFFFFF"/>
                </a:solidFill>
                <a:latin typeface="Roboto Condensed" panose="02000000000000000000" pitchFamily="2" charset="0"/>
                <a:ea typeface="Roboto Condensed" panose="02000000000000000000" pitchFamily="2" charset="0"/>
              </a:rPr>
              <a:t>Maribor</a:t>
            </a:r>
          </a:p>
        </p:txBody>
      </p:sp>
      <p:sp>
        <p:nvSpPr>
          <p:cNvPr id="28" name="TextBox 27"/>
          <p:cNvSpPr txBox="1"/>
          <p:nvPr/>
        </p:nvSpPr>
        <p:spPr>
          <a:xfrm>
            <a:off x="7311999" y="2350008"/>
            <a:ext cx="2194560" cy="233205"/>
          </a:xfrm>
          <a:prstGeom prst="rect">
            <a:avLst/>
          </a:prstGeom>
          <a:noFill/>
        </p:spPr>
        <p:txBody>
          <a:bodyPr wrap="square" lIns="0" tIns="0" rIns="0" bIns="0" anchor="t">
            <a:spAutoFit/>
          </a:bodyPr>
          <a:lstStyle/>
          <a:p>
            <a:pPr algn="ctr">
              <a:lnSpc>
                <a:spcPct val="115000"/>
              </a:lnSpc>
            </a:pPr>
            <a:r>
              <a:rPr sz="1400" b="0" i="1" dirty="0">
                <a:solidFill>
                  <a:srgbClr val="FFFFFF"/>
                </a:solidFill>
                <a:latin typeface="Roboto Condensed" panose="02000000000000000000" pitchFamily="2" charset="0"/>
                <a:ea typeface="Roboto Condensed" panose="02000000000000000000" pitchFamily="2" charset="0"/>
              </a:rPr>
              <a:t>UM</a:t>
            </a:r>
          </a:p>
        </p:txBody>
      </p:sp>
      <p:sp>
        <p:nvSpPr>
          <p:cNvPr id="29" name="Rounded Rectangle 28"/>
          <p:cNvSpPr/>
          <p:nvPr/>
        </p:nvSpPr>
        <p:spPr>
          <a:xfrm>
            <a:off x="7632039" y="2971800"/>
            <a:ext cx="1554480" cy="347472"/>
          </a:xfrm>
          <a:prstGeom prst="roundRect">
            <a:avLst>
              <a:gd name="adj" fmla="val 50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0" name="TextBox 29"/>
          <p:cNvSpPr txBox="1"/>
          <p:nvPr/>
        </p:nvSpPr>
        <p:spPr>
          <a:xfrm>
            <a:off x="7632039" y="3045573"/>
            <a:ext cx="1554480" cy="199927"/>
          </a:xfrm>
          <a:prstGeom prst="rect">
            <a:avLst/>
          </a:prstGeom>
          <a:noFill/>
        </p:spPr>
        <p:txBody>
          <a:bodyPr wrap="square" lIns="0" tIns="0" rIns="0" bIns="0" anchor="ctr">
            <a:spAutoFit/>
          </a:bodyPr>
          <a:lstStyle/>
          <a:p>
            <a:pPr algn="ctr">
              <a:lnSpc>
                <a:spcPct val="115000"/>
              </a:lnSpc>
            </a:pPr>
            <a:r>
              <a:rPr sz="1200" b="1" i="0" dirty="0">
                <a:solidFill>
                  <a:srgbClr val="145B6E"/>
                </a:solidFill>
                <a:latin typeface="Roboto Condensed" panose="02000000000000000000" pitchFamily="2" charset="0"/>
                <a:ea typeface="Roboto Condensed" panose="02000000000000000000" pitchFamily="2" charset="0"/>
              </a:rPr>
              <a:t>In setup</a:t>
            </a:r>
          </a:p>
        </p:txBody>
      </p:sp>
      <p:sp>
        <p:nvSpPr>
          <p:cNvPr id="31" name="TextBox 30"/>
          <p:cNvSpPr txBox="1"/>
          <p:nvPr/>
        </p:nvSpPr>
        <p:spPr>
          <a:xfrm>
            <a:off x="7494879" y="3520440"/>
            <a:ext cx="1828800" cy="1097673"/>
          </a:xfrm>
          <a:prstGeom prst="rect">
            <a:avLst/>
          </a:prstGeom>
          <a:noFill/>
        </p:spPr>
        <p:txBody>
          <a:bodyPr wrap="square" lIns="0" tIns="0" rIns="0" bIns="0" anchor="t">
            <a:spAutoFit/>
          </a:bodyPr>
          <a:lstStyle/>
          <a:p>
            <a:pPr algn="ctr">
              <a:lnSpc>
                <a:spcPct val="130000"/>
              </a:lnSpc>
            </a:pPr>
            <a:r>
              <a:rPr sz="1400" b="0" i="0" dirty="0">
                <a:solidFill>
                  <a:srgbClr val="1C2B33"/>
                </a:solidFill>
                <a:latin typeface="Roboto Condensed" panose="02000000000000000000" pitchFamily="2" charset="0"/>
                <a:ea typeface="Roboto Condensed" panose="02000000000000000000" pitchFamily="2" charset="0"/>
              </a:rPr>
              <a:t>Planned regional AI Factory training </a:t>
            </a:r>
            <a:r>
              <a:rPr sz="1400" b="0" i="0" dirty="0" err="1">
                <a:solidFill>
                  <a:srgbClr val="1C2B33"/>
                </a:solidFill>
                <a:latin typeface="Roboto Condensed" panose="02000000000000000000" pitchFamily="2" charset="0"/>
                <a:ea typeface="Roboto Condensed" panose="02000000000000000000" pitchFamily="2" charset="0"/>
              </a:rPr>
              <a:t>centre</a:t>
            </a:r>
            <a:r>
              <a:rPr sz="1400" b="0" i="0" dirty="0">
                <a:solidFill>
                  <a:srgbClr val="1C2B33"/>
                </a:solidFill>
                <a:latin typeface="Roboto Condensed" panose="02000000000000000000" pitchFamily="2" charset="0"/>
                <a:ea typeface="Roboto Condensed" panose="02000000000000000000" pitchFamily="2" charset="0"/>
              </a:rPr>
              <a:t> — onboarding protocols and user guides in design</a:t>
            </a:r>
          </a:p>
        </p:txBody>
      </p:sp>
      <p:sp>
        <p:nvSpPr>
          <p:cNvPr id="32" name="Rounded Rectangle 31"/>
          <p:cNvSpPr/>
          <p:nvPr/>
        </p:nvSpPr>
        <p:spPr>
          <a:xfrm>
            <a:off x="9625431" y="1783080"/>
            <a:ext cx="2194560" cy="3931920"/>
          </a:xfrm>
          <a:prstGeom prst="roundRect">
            <a:avLst>
              <a:gd name="adj" fmla="val 6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3" name="Rectangle 32"/>
          <p:cNvSpPr/>
          <p:nvPr/>
        </p:nvSpPr>
        <p:spPr>
          <a:xfrm>
            <a:off x="9625431" y="1783080"/>
            <a:ext cx="2194560" cy="1005840"/>
          </a:xfrm>
          <a:prstGeom prst="rect">
            <a:avLst/>
          </a:prstGeom>
          <a:solidFill>
            <a:srgbClr val="14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4" name="TextBox 33"/>
          <p:cNvSpPr txBox="1"/>
          <p:nvPr/>
        </p:nvSpPr>
        <p:spPr>
          <a:xfrm>
            <a:off x="9625431" y="1947672"/>
            <a:ext cx="2194560" cy="296620"/>
          </a:xfrm>
          <a:prstGeom prst="rect">
            <a:avLst/>
          </a:prstGeom>
          <a:noFill/>
        </p:spPr>
        <p:txBody>
          <a:bodyPr wrap="square" lIns="0" tIns="0" rIns="0" bIns="0" anchor="t">
            <a:spAutoFit/>
          </a:bodyPr>
          <a:lstStyle/>
          <a:p>
            <a:pPr algn="ctr">
              <a:lnSpc>
                <a:spcPct val="115000"/>
              </a:lnSpc>
            </a:pPr>
            <a:r>
              <a:rPr sz="1800" b="1" i="0">
                <a:solidFill>
                  <a:srgbClr val="FFFFFF"/>
                </a:solidFill>
                <a:latin typeface="Roboto Condensed" panose="02000000000000000000" pitchFamily="2" charset="0"/>
                <a:ea typeface="Roboto Condensed" panose="02000000000000000000" pitchFamily="2" charset="0"/>
              </a:rPr>
              <a:t>Koper</a:t>
            </a:r>
          </a:p>
        </p:txBody>
      </p:sp>
      <p:sp>
        <p:nvSpPr>
          <p:cNvPr id="35" name="TextBox 34"/>
          <p:cNvSpPr txBox="1"/>
          <p:nvPr/>
        </p:nvSpPr>
        <p:spPr>
          <a:xfrm>
            <a:off x="9625431" y="2350008"/>
            <a:ext cx="2194560" cy="233205"/>
          </a:xfrm>
          <a:prstGeom prst="rect">
            <a:avLst/>
          </a:prstGeom>
          <a:noFill/>
        </p:spPr>
        <p:txBody>
          <a:bodyPr wrap="square" lIns="0" tIns="0" rIns="0" bIns="0" anchor="t">
            <a:spAutoFit/>
          </a:bodyPr>
          <a:lstStyle/>
          <a:p>
            <a:pPr algn="ctr">
              <a:lnSpc>
                <a:spcPct val="115000"/>
              </a:lnSpc>
            </a:pPr>
            <a:r>
              <a:rPr sz="1400" b="0" i="1" dirty="0">
                <a:solidFill>
                  <a:srgbClr val="FFFFFF"/>
                </a:solidFill>
                <a:latin typeface="Roboto Condensed" panose="02000000000000000000" pitchFamily="2" charset="0"/>
                <a:ea typeface="Roboto Condensed" panose="02000000000000000000" pitchFamily="2" charset="0"/>
              </a:rPr>
              <a:t>UP</a:t>
            </a:r>
          </a:p>
        </p:txBody>
      </p:sp>
      <p:sp>
        <p:nvSpPr>
          <p:cNvPr id="36" name="Rounded Rectangle 35"/>
          <p:cNvSpPr/>
          <p:nvPr/>
        </p:nvSpPr>
        <p:spPr>
          <a:xfrm>
            <a:off x="9945471" y="2971800"/>
            <a:ext cx="1554480" cy="347472"/>
          </a:xfrm>
          <a:prstGeom prst="roundRect">
            <a:avLst>
              <a:gd name="adj" fmla="val 50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7" name="TextBox 36"/>
          <p:cNvSpPr txBox="1"/>
          <p:nvPr/>
        </p:nvSpPr>
        <p:spPr>
          <a:xfrm>
            <a:off x="9945471" y="3045573"/>
            <a:ext cx="1554480" cy="199927"/>
          </a:xfrm>
          <a:prstGeom prst="rect">
            <a:avLst/>
          </a:prstGeom>
          <a:noFill/>
        </p:spPr>
        <p:txBody>
          <a:bodyPr wrap="square" lIns="0" tIns="0" rIns="0" bIns="0" anchor="ctr">
            <a:spAutoFit/>
          </a:bodyPr>
          <a:lstStyle/>
          <a:p>
            <a:pPr algn="ctr">
              <a:lnSpc>
                <a:spcPct val="115000"/>
              </a:lnSpc>
            </a:pPr>
            <a:r>
              <a:rPr sz="1200" b="1" i="0" dirty="0">
                <a:solidFill>
                  <a:srgbClr val="145B6E"/>
                </a:solidFill>
                <a:latin typeface="Roboto Condensed" panose="02000000000000000000" pitchFamily="2" charset="0"/>
                <a:ea typeface="Roboto Condensed" panose="02000000000000000000" pitchFamily="2" charset="0"/>
              </a:rPr>
              <a:t>In setup</a:t>
            </a:r>
          </a:p>
        </p:txBody>
      </p:sp>
      <p:sp>
        <p:nvSpPr>
          <p:cNvPr id="38" name="TextBox 37"/>
          <p:cNvSpPr txBox="1"/>
          <p:nvPr/>
        </p:nvSpPr>
        <p:spPr>
          <a:xfrm>
            <a:off x="9808311" y="3520440"/>
            <a:ext cx="1828800" cy="1097673"/>
          </a:xfrm>
          <a:prstGeom prst="rect">
            <a:avLst/>
          </a:prstGeom>
          <a:noFill/>
        </p:spPr>
        <p:txBody>
          <a:bodyPr wrap="square" lIns="0" tIns="0" rIns="0" bIns="0" anchor="t">
            <a:spAutoFit/>
          </a:bodyPr>
          <a:lstStyle/>
          <a:p>
            <a:pPr algn="ctr">
              <a:lnSpc>
                <a:spcPct val="130000"/>
              </a:lnSpc>
            </a:pPr>
            <a:r>
              <a:rPr sz="1400" b="0" i="0" dirty="0">
                <a:solidFill>
                  <a:srgbClr val="1C2B33"/>
                </a:solidFill>
                <a:latin typeface="Roboto Condensed" panose="02000000000000000000" pitchFamily="2" charset="0"/>
                <a:ea typeface="Roboto Condensed" panose="02000000000000000000" pitchFamily="2" charset="0"/>
              </a:rPr>
              <a:t>Co-working space under development — low-threshold entry for self-directed learners</a:t>
            </a:r>
          </a:p>
        </p:txBody>
      </p:sp>
      <p:sp>
        <p:nvSpPr>
          <p:cNvPr id="41" name="Date Placeholder 1">
            <a:extLst>
              <a:ext uri="{FF2B5EF4-FFF2-40B4-BE49-F238E27FC236}">
                <a16:creationId xmlns:a16="http://schemas.microsoft.com/office/drawing/2014/main" id="{2133DDDF-355D-4854-9668-812C2DDAD6C2}"/>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42" name="Footer Placeholder 2">
            <a:extLst>
              <a:ext uri="{FF2B5EF4-FFF2-40B4-BE49-F238E27FC236}">
                <a16:creationId xmlns:a16="http://schemas.microsoft.com/office/drawing/2014/main" id="{72DE6598-E466-4B98-9A0F-B56A0486086B}"/>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43" name="Slide Number Placeholder 3">
            <a:extLst>
              <a:ext uri="{FF2B5EF4-FFF2-40B4-BE49-F238E27FC236}">
                <a16:creationId xmlns:a16="http://schemas.microsoft.com/office/drawing/2014/main" id="{715EE503-59C7-4742-A94B-CB82AC4D7637}"/>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rPr>
              <a:t>Training is already happening — not only planned</a:t>
            </a:r>
          </a:p>
        </p:txBody>
      </p:sp>
      <p:sp>
        <p:nvSpPr>
          <p:cNvPr id="3" name="TextBox 2"/>
          <p:cNvSpPr txBox="1"/>
          <p:nvPr/>
        </p:nvSpPr>
        <p:spPr>
          <a:xfrm>
            <a:off x="502920" y="1005840"/>
            <a:ext cx="11247120" cy="411480"/>
          </a:xfrm>
          <a:prstGeom prst="rect">
            <a:avLst/>
          </a:prstGeom>
          <a:noFill/>
        </p:spPr>
        <p:txBody>
          <a:bodyPr wrap="square" lIns="0" tIns="0" rIns="0" bIns="0" anchor="t">
            <a:spAutoFit/>
          </a:bodyPr>
          <a:lstStyle/>
          <a:p>
            <a:pPr algn="l">
              <a:lnSpc>
                <a:spcPct val="115000"/>
              </a:lnSpc>
            </a:pPr>
            <a:r>
              <a:rPr sz="1600" b="0" i="1">
                <a:solidFill>
                  <a:srgbClr val="556670"/>
                </a:solidFill>
                <a:latin typeface="Calibri"/>
              </a:rPr>
              <a:t>Signal deliveries during the reporting period validated our approach before the formal start</a:t>
            </a:r>
          </a:p>
        </p:txBody>
      </p:sp>
      <p:sp>
        <p:nvSpPr>
          <p:cNvPr id="4" name="Rounded Rectangle 3"/>
          <p:cNvSpPr/>
          <p:nvPr/>
        </p:nvSpPr>
        <p:spPr>
          <a:xfrm>
            <a:off x="540867" y="1828800"/>
            <a:ext cx="1783080" cy="457200"/>
          </a:xfrm>
          <a:prstGeom prst="roundRect">
            <a:avLst>
              <a:gd name="adj" fmla="val 40000"/>
            </a:avLst>
          </a:prstGeom>
          <a:solidFill>
            <a:srgbClr val="8FB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5" name="TextBox 4"/>
          <p:cNvSpPr txBox="1"/>
          <p:nvPr/>
        </p:nvSpPr>
        <p:spPr>
          <a:xfrm>
            <a:off x="540867" y="1940797"/>
            <a:ext cx="1783080" cy="233205"/>
          </a:xfrm>
          <a:prstGeom prst="rect">
            <a:avLst/>
          </a:prstGeom>
          <a:noFill/>
        </p:spPr>
        <p:txBody>
          <a:bodyPr wrap="square" lIns="0" tIns="0" rIns="0" bIns="0" anchor="ctr">
            <a:spAutoFit/>
          </a:bodyPr>
          <a:lstStyle/>
          <a:p>
            <a:pPr algn="ctr">
              <a:lnSpc>
                <a:spcPct val="115000"/>
              </a:lnSpc>
            </a:pPr>
            <a:r>
              <a:rPr sz="1400" b="1" i="0" dirty="0">
                <a:solidFill>
                  <a:srgbClr val="FFFFFF"/>
                </a:solidFill>
                <a:latin typeface="Roboto Condensed" panose="02000000000000000000" pitchFamily="2" charset="0"/>
                <a:ea typeface="Roboto Condensed" panose="02000000000000000000" pitchFamily="2" charset="0"/>
              </a:rPr>
              <a:t>Oct 2025</a:t>
            </a:r>
          </a:p>
        </p:txBody>
      </p:sp>
      <p:sp>
        <p:nvSpPr>
          <p:cNvPr id="6" name="Rounded Rectangle 5"/>
          <p:cNvSpPr/>
          <p:nvPr/>
        </p:nvSpPr>
        <p:spPr>
          <a:xfrm>
            <a:off x="312267" y="2468880"/>
            <a:ext cx="2240280" cy="3291840"/>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7" name="TextBox 6"/>
          <p:cNvSpPr txBox="1"/>
          <p:nvPr/>
        </p:nvSpPr>
        <p:spPr>
          <a:xfrm>
            <a:off x="495147" y="2651760"/>
            <a:ext cx="1874520" cy="275717"/>
          </a:xfrm>
          <a:prstGeom prst="rect">
            <a:avLst/>
          </a:prstGeom>
          <a:noFill/>
        </p:spPr>
        <p:txBody>
          <a:bodyPr wrap="square" lIns="0" tIns="0" rIns="0" bIns="0" anchor="t">
            <a:spAutoFit/>
          </a:bodyPr>
          <a:lstStyle/>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HPC Open Doors Day</a:t>
            </a:r>
          </a:p>
        </p:txBody>
      </p:sp>
      <p:cxnSp>
        <p:nvCxnSpPr>
          <p:cNvPr id="8" name="Connector 7"/>
          <p:cNvCxnSpPr/>
          <p:nvPr/>
        </p:nvCxnSpPr>
        <p:spPr>
          <a:xfrm>
            <a:off x="0" y="3794760"/>
            <a:ext cx="0" cy="0"/>
          </a:xfrm>
          <a:prstGeom prst="line">
            <a:avLst/>
          </a:prstGeom>
          <a:ln w="6350">
            <a:solidFill>
              <a:srgbClr val="D8E0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95147" y="3886200"/>
            <a:ext cx="1874520" cy="1097673"/>
          </a:xfrm>
          <a:prstGeom prst="rect">
            <a:avLst/>
          </a:prstGeom>
          <a:noFill/>
        </p:spPr>
        <p:txBody>
          <a:bodyPr wrap="square" lIns="0" tIns="0" rIns="0" bIns="0" anchor="t">
            <a:spAutoFit/>
          </a:bodyPr>
          <a:lstStyle/>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299 primary &amp; secondary school</a:t>
            </a:r>
            <a:r>
              <a:rPr lang="sl-SI" sz="1400" b="0" i="0" dirty="0">
                <a:solidFill>
                  <a:srgbClr val="556670"/>
                </a:solidFill>
                <a:latin typeface="Roboto Condensed" panose="02000000000000000000" pitchFamily="2" charset="0"/>
                <a:ea typeface="Roboto Condensed" panose="02000000000000000000" pitchFamily="2" charset="0"/>
              </a:rPr>
              <a:t> </a:t>
            </a:r>
            <a:r>
              <a:rPr sz="1400" b="0" i="0" dirty="0">
                <a:solidFill>
                  <a:srgbClr val="556670"/>
                </a:solidFill>
                <a:latin typeface="Roboto Condensed" panose="02000000000000000000" pitchFamily="2" charset="0"/>
                <a:ea typeface="Roboto Condensed" panose="02000000000000000000" pitchFamily="2" charset="0"/>
              </a:rPr>
              <a:t>students reached</a:t>
            </a:r>
          </a:p>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(ARNES + JSI + UL, with SLING)</a:t>
            </a:r>
          </a:p>
        </p:txBody>
      </p:sp>
      <p:sp>
        <p:nvSpPr>
          <p:cNvPr id="10" name="Rounded Rectangle 9"/>
          <p:cNvSpPr/>
          <p:nvPr/>
        </p:nvSpPr>
        <p:spPr>
          <a:xfrm>
            <a:off x="2872587" y="1828800"/>
            <a:ext cx="1783080" cy="457200"/>
          </a:xfrm>
          <a:prstGeom prst="roundRect">
            <a:avLst>
              <a:gd name="adj" fmla="val 40000"/>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1" name="TextBox 10"/>
          <p:cNvSpPr txBox="1"/>
          <p:nvPr/>
        </p:nvSpPr>
        <p:spPr>
          <a:xfrm>
            <a:off x="2872587" y="1940797"/>
            <a:ext cx="1783080" cy="233205"/>
          </a:xfrm>
          <a:prstGeom prst="rect">
            <a:avLst/>
          </a:prstGeom>
          <a:noFill/>
        </p:spPr>
        <p:txBody>
          <a:bodyPr wrap="square" lIns="0" tIns="0" rIns="0" bIns="0" anchor="ctr">
            <a:spAutoFit/>
          </a:bodyPr>
          <a:lstStyle/>
          <a:p>
            <a:pPr algn="ctr">
              <a:lnSpc>
                <a:spcPct val="115000"/>
              </a:lnSpc>
            </a:pPr>
            <a:r>
              <a:rPr sz="1400" b="1" i="0" dirty="0">
                <a:solidFill>
                  <a:srgbClr val="FFFFFF"/>
                </a:solidFill>
                <a:latin typeface="Roboto Condensed" panose="02000000000000000000" pitchFamily="2" charset="0"/>
                <a:ea typeface="Roboto Condensed" panose="02000000000000000000" pitchFamily="2" charset="0"/>
              </a:rPr>
              <a:t>Nov 2025</a:t>
            </a:r>
          </a:p>
        </p:txBody>
      </p:sp>
      <p:sp>
        <p:nvSpPr>
          <p:cNvPr id="12" name="Rounded Rectangle 11"/>
          <p:cNvSpPr/>
          <p:nvPr/>
        </p:nvSpPr>
        <p:spPr>
          <a:xfrm>
            <a:off x="2643987" y="2468880"/>
            <a:ext cx="2240280" cy="3291840"/>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3" name="TextBox 12"/>
          <p:cNvSpPr txBox="1"/>
          <p:nvPr/>
        </p:nvSpPr>
        <p:spPr>
          <a:xfrm>
            <a:off x="2826867" y="2651760"/>
            <a:ext cx="1874520" cy="571182"/>
          </a:xfrm>
          <a:prstGeom prst="rect">
            <a:avLst/>
          </a:prstGeom>
          <a:noFill/>
        </p:spPr>
        <p:txBody>
          <a:bodyPr wrap="square" lIns="0" tIns="0" rIns="0" bIns="0" anchor="t">
            <a:spAutoFit/>
          </a:bodyPr>
          <a:lstStyle/>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1st SLAIF Industry</a:t>
            </a:r>
          </a:p>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Open Day</a:t>
            </a:r>
          </a:p>
        </p:txBody>
      </p:sp>
      <p:cxnSp>
        <p:nvCxnSpPr>
          <p:cNvPr id="14" name="Connector 13"/>
          <p:cNvCxnSpPr/>
          <p:nvPr/>
        </p:nvCxnSpPr>
        <p:spPr>
          <a:xfrm>
            <a:off x="0" y="3794760"/>
            <a:ext cx="0" cy="0"/>
          </a:xfrm>
          <a:prstGeom prst="line">
            <a:avLst/>
          </a:prstGeom>
          <a:ln w="6350">
            <a:solidFill>
              <a:srgbClr val="D8E0E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826867" y="3886200"/>
            <a:ext cx="1874520" cy="1097673"/>
          </a:xfrm>
          <a:prstGeom prst="rect">
            <a:avLst/>
          </a:prstGeom>
          <a:noFill/>
        </p:spPr>
        <p:txBody>
          <a:bodyPr wrap="square" lIns="0" tIns="0" rIns="0" bIns="0" anchor="t">
            <a:spAutoFit/>
          </a:bodyPr>
          <a:lstStyle/>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42 WP6 survey responses</a:t>
            </a:r>
          </a:p>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from industry</a:t>
            </a:r>
            <a:r>
              <a:rPr lang="sl-SI" sz="1400" b="0" i="0" dirty="0">
                <a:solidFill>
                  <a:srgbClr val="556670"/>
                </a:solidFill>
                <a:latin typeface="Roboto Condensed" panose="02000000000000000000" pitchFamily="2" charset="0"/>
                <a:ea typeface="Roboto Condensed" panose="02000000000000000000" pitchFamily="2" charset="0"/>
              </a:rPr>
              <a:t> </a:t>
            </a:r>
            <a:r>
              <a:rPr sz="1400" b="0" i="0" dirty="0">
                <a:solidFill>
                  <a:srgbClr val="556670"/>
                </a:solidFill>
                <a:latin typeface="Roboto Condensed" panose="02000000000000000000" pitchFamily="2" charset="0"/>
                <a:ea typeface="Roboto Condensed" panose="02000000000000000000" pitchFamily="2" charset="0"/>
              </a:rPr>
              <a:t>representatives</a:t>
            </a:r>
            <a:r>
              <a:rPr lang="sl-SI" sz="1400" b="0" i="0" dirty="0">
                <a:solidFill>
                  <a:srgbClr val="556670"/>
                </a:solidFill>
                <a:latin typeface="Roboto Condensed" panose="02000000000000000000" pitchFamily="2" charset="0"/>
                <a:ea typeface="Roboto Condensed" panose="02000000000000000000" pitchFamily="2" charset="0"/>
              </a:rPr>
              <a:t> </a:t>
            </a:r>
            <a:r>
              <a:rPr sz="1400" b="0" i="0" dirty="0">
                <a:solidFill>
                  <a:srgbClr val="556670"/>
                </a:solidFill>
                <a:latin typeface="Roboto Condensed" panose="02000000000000000000" pitchFamily="2" charset="0"/>
                <a:ea typeface="Roboto Condensed" panose="02000000000000000000" pitchFamily="2" charset="0"/>
              </a:rPr>
              <a:t>at JSI, Ljubljana</a:t>
            </a:r>
          </a:p>
        </p:txBody>
      </p:sp>
      <p:sp>
        <p:nvSpPr>
          <p:cNvPr id="16" name="Rounded Rectangle 15"/>
          <p:cNvSpPr/>
          <p:nvPr/>
        </p:nvSpPr>
        <p:spPr>
          <a:xfrm>
            <a:off x="5204307" y="1828800"/>
            <a:ext cx="1783080" cy="457200"/>
          </a:xfrm>
          <a:prstGeom prst="roundRect">
            <a:avLst>
              <a:gd name="adj" fmla="val 40000"/>
            </a:avLst>
          </a:prstGeom>
          <a:solidFill>
            <a:srgbClr val="6F9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7" name="TextBox 16"/>
          <p:cNvSpPr txBox="1"/>
          <p:nvPr/>
        </p:nvSpPr>
        <p:spPr>
          <a:xfrm>
            <a:off x="5204307" y="1940797"/>
            <a:ext cx="1783080" cy="233205"/>
          </a:xfrm>
          <a:prstGeom prst="rect">
            <a:avLst/>
          </a:prstGeom>
          <a:noFill/>
        </p:spPr>
        <p:txBody>
          <a:bodyPr wrap="square" lIns="0" tIns="0" rIns="0" bIns="0" anchor="ctr">
            <a:spAutoFit/>
          </a:bodyPr>
          <a:lstStyle/>
          <a:p>
            <a:pPr algn="ctr">
              <a:lnSpc>
                <a:spcPct val="115000"/>
              </a:lnSpc>
            </a:pPr>
            <a:r>
              <a:rPr sz="1400" b="1" i="0" dirty="0">
                <a:solidFill>
                  <a:srgbClr val="FFFFFF"/>
                </a:solidFill>
                <a:latin typeface="Roboto Condensed" panose="02000000000000000000" pitchFamily="2" charset="0"/>
                <a:ea typeface="Roboto Condensed" panose="02000000000000000000" pitchFamily="2" charset="0"/>
              </a:rPr>
              <a:t>Jan</a:t>
            </a:r>
            <a:r>
              <a:rPr lang="sl-SI" sz="1400" b="1" i="0" dirty="0">
                <a:solidFill>
                  <a:srgbClr val="FFFFFF"/>
                </a:solidFill>
                <a:latin typeface="Roboto Condensed" panose="02000000000000000000" pitchFamily="2" charset="0"/>
                <a:ea typeface="Roboto Condensed" panose="02000000000000000000" pitchFamily="2" charset="0"/>
              </a:rPr>
              <a:t>-April</a:t>
            </a:r>
            <a:r>
              <a:rPr sz="1400" b="1" i="0" dirty="0">
                <a:solidFill>
                  <a:srgbClr val="FFFFFF"/>
                </a:solidFill>
                <a:latin typeface="Roboto Condensed" panose="02000000000000000000" pitchFamily="2" charset="0"/>
                <a:ea typeface="Roboto Condensed" panose="02000000000000000000" pitchFamily="2" charset="0"/>
              </a:rPr>
              <a:t> 2026</a:t>
            </a:r>
          </a:p>
        </p:txBody>
      </p:sp>
      <p:sp>
        <p:nvSpPr>
          <p:cNvPr id="18" name="Rounded Rectangle 17"/>
          <p:cNvSpPr/>
          <p:nvPr/>
        </p:nvSpPr>
        <p:spPr>
          <a:xfrm>
            <a:off x="4975707" y="2468880"/>
            <a:ext cx="2240280" cy="3291840"/>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9" name="TextBox 18"/>
          <p:cNvSpPr txBox="1"/>
          <p:nvPr/>
        </p:nvSpPr>
        <p:spPr>
          <a:xfrm>
            <a:off x="5158587" y="2651760"/>
            <a:ext cx="1874520" cy="275717"/>
          </a:xfrm>
          <a:prstGeom prst="rect">
            <a:avLst/>
          </a:prstGeom>
          <a:noFill/>
        </p:spPr>
        <p:txBody>
          <a:bodyPr wrap="square" lIns="0" tIns="0" rIns="0" bIns="0" anchor="t">
            <a:spAutoFit/>
          </a:bodyPr>
          <a:lstStyle/>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ARNES </a:t>
            </a:r>
            <a:r>
              <a:rPr sz="1600" b="1" i="0" dirty="0" err="1">
                <a:solidFill>
                  <a:srgbClr val="1C2B33"/>
                </a:solidFill>
                <a:latin typeface="Roboto Condensed" panose="02000000000000000000" pitchFamily="2" charset="0"/>
                <a:ea typeface="Roboto Condensed" panose="02000000000000000000" pitchFamily="2" charset="0"/>
              </a:rPr>
              <a:t>HackathON</a:t>
            </a:r>
            <a:endParaRPr sz="1600" b="1" i="0" dirty="0">
              <a:solidFill>
                <a:srgbClr val="1C2B33"/>
              </a:solidFill>
              <a:latin typeface="Roboto Condensed" panose="02000000000000000000" pitchFamily="2" charset="0"/>
              <a:ea typeface="Roboto Condensed" panose="02000000000000000000" pitchFamily="2" charset="0"/>
            </a:endParaRPr>
          </a:p>
        </p:txBody>
      </p:sp>
      <p:cxnSp>
        <p:nvCxnSpPr>
          <p:cNvPr id="20" name="Connector 19"/>
          <p:cNvCxnSpPr/>
          <p:nvPr/>
        </p:nvCxnSpPr>
        <p:spPr>
          <a:xfrm>
            <a:off x="0" y="3794760"/>
            <a:ext cx="0" cy="0"/>
          </a:xfrm>
          <a:prstGeom prst="line">
            <a:avLst/>
          </a:prstGeom>
          <a:ln w="6350">
            <a:solidFill>
              <a:srgbClr val="D8E0E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158587" y="3886200"/>
            <a:ext cx="1874520" cy="1097673"/>
          </a:xfrm>
          <a:prstGeom prst="rect">
            <a:avLst/>
          </a:prstGeom>
          <a:noFill/>
        </p:spPr>
        <p:txBody>
          <a:bodyPr wrap="square" lIns="0" tIns="0" rIns="0" bIns="0" anchor="t">
            <a:spAutoFit/>
          </a:bodyPr>
          <a:lstStyle/>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100 students gained</a:t>
            </a:r>
          </a:p>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hands-on HPC experience</a:t>
            </a:r>
          </a:p>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on ARNES Learning Cluster</a:t>
            </a:r>
          </a:p>
        </p:txBody>
      </p:sp>
      <p:sp>
        <p:nvSpPr>
          <p:cNvPr id="22" name="Rounded Rectangle 21"/>
          <p:cNvSpPr/>
          <p:nvPr/>
        </p:nvSpPr>
        <p:spPr>
          <a:xfrm>
            <a:off x="7536027" y="1828800"/>
            <a:ext cx="1783080" cy="457200"/>
          </a:xfrm>
          <a:prstGeom prst="roundRect">
            <a:avLst>
              <a:gd name="adj" fmla="val 40000"/>
            </a:avLst>
          </a:prstGeom>
          <a:solidFill>
            <a:srgbClr val="14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3" name="TextBox 22"/>
          <p:cNvSpPr txBox="1"/>
          <p:nvPr/>
        </p:nvSpPr>
        <p:spPr>
          <a:xfrm>
            <a:off x="7536027" y="1940797"/>
            <a:ext cx="1783080" cy="233205"/>
          </a:xfrm>
          <a:prstGeom prst="rect">
            <a:avLst/>
          </a:prstGeom>
          <a:noFill/>
        </p:spPr>
        <p:txBody>
          <a:bodyPr wrap="square" lIns="0" tIns="0" rIns="0" bIns="0" anchor="ctr">
            <a:spAutoFit/>
          </a:bodyPr>
          <a:lstStyle/>
          <a:p>
            <a:pPr algn="ctr">
              <a:lnSpc>
                <a:spcPct val="115000"/>
              </a:lnSpc>
            </a:pPr>
            <a:r>
              <a:rPr sz="1400" b="1" i="0" dirty="0">
                <a:solidFill>
                  <a:srgbClr val="FFFFFF"/>
                </a:solidFill>
                <a:latin typeface="Roboto Condensed" panose="02000000000000000000" pitchFamily="2" charset="0"/>
                <a:ea typeface="Roboto Condensed" panose="02000000000000000000" pitchFamily="2" charset="0"/>
              </a:rPr>
              <a:t>Feb 2026</a:t>
            </a:r>
          </a:p>
        </p:txBody>
      </p:sp>
      <p:sp>
        <p:nvSpPr>
          <p:cNvPr id="24" name="Rounded Rectangle 23"/>
          <p:cNvSpPr/>
          <p:nvPr/>
        </p:nvSpPr>
        <p:spPr>
          <a:xfrm>
            <a:off x="7307427" y="2468880"/>
            <a:ext cx="2240280" cy="3291840"/>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5" name="TextBox 24"/>
          <p:cNvSpPr txBox="1"/>
          <p:nvPr/>
        </p:nvSpPr>
        <p:spPr>
          <a:xfrm>
            <a:off x="7490307" y="2651760"/>
            <a:ext cx="1874520" cy="866648"/>
          </a:xfrm>
          <a:prstGeom prst="rect">
            <a:avLst/>
          </a:prstGeom>
          <a:noFill/>
        </p:spPr>
        <p:txBody>
          <a:bodyPr wrap="square" lIns="0" tIns="0" rIns="0" bIns="0" anchor="t">
            <a:spAutoFit/>
          </a:bodyPr>
          <a:lstStyle/>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TPLJ Demo AI Factory</a:t>
            </a:r>
          </a:p>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Training Centre opened</a:t>
            </a:r>
          </a:p>
        </p:txBody>
      </p:sp>
      <p:cxnSp>
        <p:nvCxnSpPr>
          <p:cNvPr id="26" name="Connector 25"/>
          <p:cNvCxnSpPr/>
          <p:nvPr/>
        </p:nvCxnSpPr>
        <p:spPr>
          <a:xfrm>
            <a:off x="0" y="3794760"/>
            <a:ext cx="0" cy="0"/>
          </a:xfrm>
          <a:prstGeom prst="line">
            <a:avLst/>
          </a:prstGeom>
          <a:ln w="6350">
            <a:solidFill>
              <a:srgbClr val="D8E0E4"/>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90307" y="3886200"/>
            <a:ext cx="1874520" cy="815095"/>
          </a:xfrm>
          <a:prstGeom prst="rect">
            <a:avLst/>
          </a:prstGeom>
          <a:noFill/>
        </p:spPr>
        <p:txBody>
          <a:bodyPr wrap="square" lIns="0" tIns="0" rIns="0" bIns="0" anchor="t">
            <a:spAutoFit/>
          </a:bodyPr>
          <a:lstStyle/>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Physical training infrastructure</a:t>
            </a:r>
            <a:r>
              <a:rPr lang="sl-SI" sz="1400" b="0" i="0" dirty="0">
                <a:solidFill>
                  <a:srgbClr val="556670"/>
                </a:solidFill>
                <a:latin typeface="Roboto Condensed" panose="02000000000000000000" pitchFamily="2" charset="0"/>
                <a:ea typeface="Roboto Condensed" panose="02000000000000000000" pitchFamily="2" charset="0"/>
              </a:rPr>
              <a:t> </a:t>
            </a:r>
            <a:r>
              <a:rPr sz="1400" b="0" i="0" dirty="0">
                <a:solidFill>
                  <a:srgbClr val="556670"/>
                </a:solidFill>
                <a:latin typeface="Roboto Condensed" panose="02000000000000000000" pitchFamily="2" charset="0"/>
                <a:ea typeface="Roboto Condensed" panose="02000000000000000000" pitchFamily="2" charset="0"/>
              </a:rPr>
              <a:t>for startup &amp; SME cohorts</a:t>
            </a:r>
            <a:r>
              <a:rPr lang="sl-SI" sz="1400" b="0" i="0" dirty="0">
                <a:solidFill>
                  <a:srgbClr val="556670"/>
                </a:solidFill>
                <a:latin typeface="Roboto Condensed" panose="02000000000000000000" pitchFamily="2" charset="0"/>
                <a:ea typeface="Roboto Condensed" panose="02000000000000000000" pitchFamily="2" charset="0"/>
              </a:rPr>
              <a:t> </a:t>
            </a:r>
            <a:r>
              <a:rPr sz="1400" b="0" i="0" dirty="0">
                <a:solidFill>
                  <a:srgbClr val="556670"/>
                </a:solidFill>
                <a:latin typeface="Roboto Condensed" panose="02000000000000000000" pitchFamily="2" charset="0"/>
                <a:ea typeface="Roboto Condensed" panose="02000000000000000000" pitchFamily="2" charset="0"/>
              </a:rPr>
              <a:t>in Ljubljana</a:t>
            </a:r>
          </a:p>
        </p:txBody>
      </p:sp>
      <p:sp>
        <p:nvSpPr>
          <p:cNvPr id="28" name="Rounded Rectangle 27"/>
          <p:cNvSpPr/>
          <p:nvPr/>
        </p:nvSpPr>
        <p:spPr>
          <a:xfrm>
            <a:off x="9867747" y="1828800"/>
            <a:ext cx="1783080" cy="457200"/>
          </a:xfrm>
          <a:prstGeom prst="roundRect">
            <a:avLst>
              <a:gd name="adj" fmla="val 40000"/>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9" name="TextBox 28"/>
          <p:cNvSpPr txBox="1"/>
          <p:nvPr/>
        </p:nvSpPr>
        <p:spPr>
          <a:xfrm>
            <a:off x="9867747" y="1940797"/>
            <a:ext cx="1783080" cy="233205"/>
          </a:xfrm>
          <a:prstGeom prst="rect">
            <a:avLst/>
          </a:prstGeom>
          <a:noFill/>
        </p:spPr>
        <p:txBody>
          <a:bodyPr wrap="square" lIns="0" tIns="0" rIns="0" bIns="0" anchor="ctr">
            <a:spAutoFit/>
          </a:bodyPr>
          <a:lstStyle/>
          <a:p>
            <a:pPr algn="ctr">
              <a:lnSpc>
                <a:spcPct val="115000"/>
              </a:lnSpc>
            </a:pPr>
            <a:r>
              <a:rPr sz="1400" b="1" i="0" dirty="0">
                <a:solidFill>
                  <a:srgbClr val="FFFFFF"/>
                </a:solidFill>
                <a:latin typeface="Roboto Condensed" panose="02000000000000000000" pitchFamily="2" charset="0"/>
                <a:ea typeface="Roboto Condensed" panose="02000000000000000000" pitchFamily="2" charset="0"/>
              </a:rPr>
              <a:t>Winter 25/26</a:t>
            </a:r>
          </a:p>
        </p:txBody>
      </p:sp>
      <p:sp>
        <p:nvSpPr>
          <p:cNvPr id="30" name="Rounded Rectangle 29"/>
          <p:cNvSpPr/>
          <p:nvPr/>
        </p:nvSpPr>
        <p:spPr>
          <a:xfrm>
            <a:off x="9639147" y="2468880"/>
            <a:ext cx="2240280" cy="3291840"/>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1" name="TextBox 30"/>
          <p:cNvSpPr txBox="1"/>
          <p:nvPr/>
        </p:nvSpPr>
        <p:spPr>
          <a:xfrm>
            <a:off x="9822027" y="2651760"/>
            <a:ext cx="1874520" cy="571182"/>
          </a:xfrm>
          <a:prstGeom prst="rect">
            <a:avLst/>
          </a:prstGeom>
          <a:noFill/>
        </p:spPr>
        <p:txBody>
          <a:bodyPr wrap="square" lIns="0" tIns="0" rIns="0" bIns="0" anchor="t">
            <a:spAutoFit/>
          </a:bodyPr>
          <a:lstStyle/>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FI</a:t>
            </a:r>
            <a:r>
              <a:rPr lang="sl-SI" sz="1600" b="1" i="0" dirty="0">
                <a:solidFill>
                  <a:srgbClr val="1C2B33"/>
                </a:solidFill>
                <a:latin typeface="Roboto Condensed" panose="02000000000000000000" pitchFamily="2" charset="0"/>
                <a:ea typeface="Roboto Condensed" panose="02000000000000000000" pitchFamily="2" charset="0"/>
              </a:rPr>
              <a:t>Š</a:t>
            </a:r>
            <a:r>
              <a:rPr sz="1600" b="1" i="0" dirty="0">
                <a:solidFill>
                  <a:srgbClr val="1C2B33"/>
                </a:solidFill>
                <a:latin typeface="Roboto Condensed" panose="02000000000000000000" pitchFamily="2" charset="0"/>
                <a:ea typeface="Roboto Condensed" panose="02000000000000000000" pitchFamily="2" charset="0"/>
              </a:rPr>
              <a:t> doctoral course</a:t>
            </a:r>
          </a:p>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delivered</a:t>
            </a:r>
          </a:p>
        </p:txBody>
      </p:sp>
      <p:cxnSp>
        <p:nvCxnSpPr>
          <p:cNvPr id="32" name="Connector 31"/>
          <p:cNvCxnSpPr/>
          <p:nvPr/>
        </p:nvCxnSpPr>
        <p:spPr>
          <a:xfrm>
            <a:off x="0" y="3794760"/>
            <a:ext cx="0" cy="0"/>
          </a:xfrm>
          <a:prstGeom prst="line">
            <a:avLst/>
          </a:prstGeom>
          <a:ln w="6350">
            <a:solidFill>
              <a:srgbClr val="D8E0E4"/>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822027" y="3886200"/>
            <a:ext cx="1874520" cy="1377749"/>
          </a:xfrm>
          <a:prstGeom prst="rect">
            <a:avLst/>
          </a:prstGeom>
          <a:noFill/>
        </p:spPr>
        <p:txBody>
          <a:bodyPr wrap="square" lIns="0" tIns="0" rIns="0" bIns="0" anchor="t">
            <a:spAutoFit/>
          </a:bodyPr>
          <a:lstStyle/>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5 PhD students completed</a:t>
            </a:r>
            <a:r>
              <a:rPr lang="sl-SI" sz="1400" b="0" i="0" dirty="0">
                <a:solidFill>
                  <a:srgbClr val="556670"/>
                </a:solidFill>
                <a:latin typeface="Roboto Condensed" panose="02000000000000000000" pitchFamily="2" charset="0"/>
                <a:ea typeface="Roboto Condensed" panose="02000000000000000000" pitchFamily="2" charset="0"/>
              </a:rPr>
              <a:t> </a:t>
            </a:r>
            <a:r>
              <a:rPr sz="1400" b="0" i="0" dirty="0">
                <a:solidFill>
                  <a:srgbClr val="556670"/>
                </a:solidFill>
                <a:latin typeface="Roboto Condensed" panose="02000000000000000000" pitchFamily="2" charset="0"/>
                <a:ea typeface="Roboto Condensed" panose="02000000000000000000" pitchFamily="2" charset="0"/>
              </a:rPr>
              <a:t>Transformer topic modelling · RAG</a:t>
            </a:r>
          </a:p>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on HPC — reusable template</a:t>
            </a:r>
          </a:p>
        </p:txBody>
      </p:sp>
      <p:sp>
        <p:nvSpPr>
          <p:cNvPr id="34" name="Date Placeholder 1">
            <a:extLst>
              <a:ext uri="{FF2B5EF4-FFF2-40B4-BE49-F238E27FC236}">
                <a16:creationId xmlns:a16="http://schemas.microsoft.com/office/drawing/2014/main" id="{476E2F01-6065-46ED-9907-1AF96E666837}"/>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35" name="Footer Placeholder 2">
            <a:extLst>
              <a:ext uri="{FF2B5EF4-FFF2-40B4-BE49-F238E27FC236}">
                <a16:creationId xmlns:a16="http://schemas.microsoft.com/office/drawing/2014/main" id="{FD6D3F11-A6CF-488D-A2AE-379F6F19975B}"/>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36" name="Slide Number Placeholder 3">
            <a:extLst>
              <a:ext uri="{FF2B5EF4-FFF2-40B4-BE49-F238E27FC236}">
                <a16:creationId xmlns:a16="http://schemas.microsoft.com/office/drawing/2014/main" id="{241FA702-4D58-4B03-A3B8-72CE1BCA3D4E}"/>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sz="2200" b="0" dirty="0">
                <a:solidFill>
                  <a:srgbClr val="FFFFFF"/>
                </a:solidFill>
                <a:latin typeface="Roboto Condensed" panose="02000000000000000000" pitchFamily="2" charset="0"/>
                <a:ea typeface="Roboto Condensed" panose="02000000000000000000" pitchFamily="2" charset="0"/>
              </a:rPr>
              <a:t>Part I</a:t>
            </a:r>
            <a:r>
              <a:rPr lang="en-US" sz="2200" b="0" dirty="0">
                <a:solidFill>
                  <a:srgbClr val="FFFFFF"/>
                </a:solidFill>
                <a:latin typeface="Roboto Condensed" panose="02000000000000000000" pitchFamily="2" charset="0"/>
                <a:ea typeface="Roboto Condensed" panose="02000000000000000000" pitchFamily="2" charset="0"/>
              </a:rPr>
              <a:t>I</a:t>
            </a:r>
            <a:r>
              <a:rPr sz="2200" b="0" dirty="0">
                <a:solidFill>
                  <a:srgbClr val="FFFFFF"/>
                </a:solidFill>
                <a:latin typeface="Roboto Condensed" panose="02000000000000000000" pitchFamily="2" charset="0"/>
                <a:ea typeface="Roboto Condensed" panose="02000000000000000000" pitchFamily="2" charset="0"/>
              </a:rPr>
              <a:t>I</a:t>
            </a:r>
          </a:p>
          <a:p>
            <a:pPr algn="l"/>
            <a:r>
              <a:rPr sz="4400" b="1" dirty="0">
                <a:solidFill>
                  <a:srgbClr val="FFFFFF"/>
                </a:solidFill>
                <a:ea typeface="Roboto Condensed" panose="02000000000000000000" pitchFamily="2" charset="0"/>
              </a:rPr>
              <a:t>Where we go next</a:t>
            </a:r>
          </a:p>
          <a:p>
            <a:pPr algn="l"/>
            <a:r>
              <a:rPr sz="1800" i="1" dirty="0">
                <a:solidFill>
                  <a:srgbClr val="FFFFFF"/>
                </a:solidFill>
                <a:latin typeface="Roboto Condensed" panose="02000000000000000000" pitchFamily="2" charset="0"/>
                <a:ea typeface="Roboto Condensed" panose="02000000000000000000" pitchFamily="2" charset="0"/>
              </a:rPr>
              <a:t>Roadmap to M12</a:t>
            </a:r>
            <a:r>
              <a:rPr lang="en-US" sz="1800" i="1" dirty="0">
                <a:solidFill>
                  <a:srgbClr val="FFFFFF"/>
                </a:solidFill>
                <a:latin typeface="Roboto Condensed" panose="02000000000000000000" pitchFamily="2" charset="0"/>
                <a:ea typeface="Roboto Condensed" panose="02000000000000000000" pitchFamily="2" charset="0"/>
              </a:rPr>
              <a:t> and</a:t>
            </a:r>
            <a:r>
              <a:rPr sz="1800" i="1" dirty="0">
                <a:solidFill>
                  <a:srgbClr val="FFFFFF"/>
                </a:solidFill>
                <a:latin typeface="Roboto Condensed" panose="02000000000000000000" pitchFamily="2" charset="0"/>
                <a:ea typeface="Roboto Condensed" panose="02000000000000000000" pitchFamily="2" charset="0"/>
              </a:rPr>
              <a:t> KPI trajectory</a:t>
            </a:r>
          </a:p>
        </p:txBody>
      </p:sp>
      <p:sp>
        <p:nvSpPr>
          <p:cNvPr id="3" name="Date Placeholder 1">
            <a:extLst>
              <a:ext uri="{FF2B5EF4-FFF2-40B4-BE49-F238E27FC236}">
                <a16:creationId xmlns:a16="http://schemas.microsoft.com/office/drawing/2014/main" id="{82DA7C96-3AE9-4567-97EA-6CFE41116FF5}"/>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4" name="Footer Placeholder 2">
            <a:extLst>
              <a:ext uri="{FF2B5EF4-FFF2-40B4-BE49-F238E27FC236}">
                <a16:creationId xmlns:a16="http://schemas.microsoft.com/office/drawing/2014/main" id="{CD87E8C6-86DE-4FC5-9415-42B46849265C}"/>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5" name="Slide Number Placeholder 3">
            <a:extLst>
              <a:ext uri="{FF2B5EF4-FFF2-40B4-BE49-F238E27FC236}">
                <a16:creationId xmlns:a16="http://schemas.microsoft.com/office/drawing/2014/main" id="{EBC7132D-168A-4170-A1A7-1667088B99A4}"/>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ea typeface="Roboto Condensed" panose="02000000000000000000" pitchFamily="2" charset="0"/>
              </a:rPr>
              <a:t>Roadmap: from preparation to delivery — M8 to M12</a:t>
            </a:r>
          </a:p>
        </p:txBody>
      </p:sp>
      <p:sp>
        <p:nvSpPr>
          <p:cNvPr id="3" name="TextBox 2"/>
          <p:cNvSpPr txBox="1"/>
          <p:nvPr/>
        </p:nvSpPr>
        <p:spPr>
          <a:xfrm>
            <a:off x="502920" y="1005840"/>
            <a:ext cx="11247120" cy="263662"/>
          </a:xfrm>
          <a:prstGeom prst="rect">
            <a:avLst/>
          </a:prstGeom>
          <a:noFill/>
        </p:spPr>
        <p:txBody>
          <a:bodyPr wrap="square" lIns="0" tIns="0" rIns="0" bIns="0" anchor="t">
            <a:spAutoFit/>
          </a:bodyPr>
          <a:lstStyle/>
          <a:p>
            <a:pPr algn="l">
              <a:lnSpc>
                <a:spcPct val="115000"/>
              </a:lnSpc>
            </a:pPr>
            <a:r>
              <a:rPr sz="1600" b="0" i="1">
                <a:solidFill>
                  <a:srgbClr val="556670"/>
                </a:solidFill>
                <a:latin typeface="Roboto Condensed" panose="02000000000000000000" pitchFamily="2" charset="0"/>
                <a:ea typeface="Roboto Condensed" panose="02000000000000000000" pitchFamily="2" charset="0"/>
              </a:rPr>
              <a:t>Milestone 2 target (M12): Core Services Operational — including commencement of initial training programmes</a:t>
            </a:r>
          </a:p>
        </p:txBody>
      </p:sp>
      <p:cxnSp>
        <p:nvCxnSpPr>
          <p:cNvPr id="4" name="Connector 3"/>
          <p:cNvCxnSpPr/>
          <p:nvPr/>
        </p:nvCxnSpPr>
        <p:spPr>
          <a:xfrm>
            <a:off x="0" y="2103120"/>
            <a:ext cx="0" cy="0"/>
          </a:xfrm>
          <a:prstGeom prst="line">
            <a:avLst/>
          </a:prstGeom>
          <a:ln w="28575">
            <a:solidFill>
              <a:srgbClr val="1B8AA7"/>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203807" y="1381954"/>
            <a:ext cx="457200" cy="457200"/>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6" name="TextBox 5"/>
          <p:cNvSpPr txBox="1"/>
          <p:nvPr/>
        </p:nvSpPr>
        <p:spPr>
          <a:xfrm>
            <a:off x="1203807" y="1462244"/>
            <a:ext cx="457200" cy="296620"/>
          </a:xfrm>
          <a:prstGeom prst="rect">
            <a:avLst/>
          </a:prstGeom>
          <a:noFill/>
        </p:spPr>
        <p:txBody>
          <a:bodyPr wrap="square" lIns="0" tIns="0" rIns="0" bIns="0" anchor="ctr">
            <a:spAutoFit/>
          </a:bodyPr>
          <a:lstStyle/>
          <a:p>
            <a:pPr algn="ctr">
              <a:lnSpc>
                <a:spcPct val="115000"/>
              </a:lnSpc>
            </a:pPr>
            <a:r>
              <a:rPr sz="1800" b="1" i="0" dirty="0">
                <a:solidFill>
                  <a:srgbClr val="FFFFFF"/>
                </a:solidFill>
                <a:latin typeface="Roboto Condensed" panose="02000000000000000000" pitchFamily="2" charset="0"/>
                <a:ea typeface="Roboto Condensed" panose="02000000000000000000" pitchFamily="2" charset="0"/>
              </a:rPr>
              <a:t>1</a:t>
            </a:r>
          </a:p>
        </p:txBody>
      </p:sp>
      <p:sp>
        <p:nvSpPr>
          <p:cNvPr id="7" name="Rounded Rectangle 6"/>
          <p:cNvSpPr/>
          <p:nvPr/>
        </p:nvSpPr>
        <p:spPr>
          <a:xfrm>
            <a:off x="312267" y="2067754"/>
            <a:ext cx="2240280" cy="2971799"/>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8" name="TextBox 7"/>
          <p:cNvSpPr txBox="1"/>
          <p:nvPr/>
        </p:nvSpPr>
        <p:spPr>
          <a:xfrm>
            <a:off x="495147" y="2204914"/>
            <a:ext cx="1874520" cy="499817"/>
          </a:xfrm>
          <a:prstGeom prst="rect">
            <a:avLst/>
          </a:prstGeom>
          <a:noFill/>
        </p:spPr>
        <p:txBody>
          <a:bodyPr wrap="square" lIns="0" tIns="0" rIns="0" bIns="0" anchor="t">
            <a:spAutoFit/>
          </a:bodyPr>
          <a:lstStyle/>
          <a:p>
            <a:pPr algn="ctr">
              <a:lnSpc>
                <a:spcPct val="120000"/>
              </a:lnSpc>
            </a:pPr>
            <a:r>
              <a:rPr sz="1400" b="1" i="0" dirty="0">
                <a:solidFill>
                  <a:srgbClr val="145B6E"/>
                </a:solidFill>
                <a:latin typeface="Roboto Condensed" panose="02000000000000000000" pitchFamily="2" charset="0"/>
                <a:ea typeface="Roboto Condensed" panose="02000000000000000000" pitchFamily="2" charset="0"/>
              </a:rPr>
              <a:t>M8</a:t>
            </a:r>
          </a:p>
          <a:p>
            <a:pPr algn="ctr">
              <a:lnSpc>
                <a:spcPct val="120000"/>
              </a:lnSpc>
            </a:pPr>
            <a:r>
              <a:rPr sz="1400" b="1" i="0" dirty="0">
                <a:solidFill>
                  <a:srgbClr val="145B6E"/>
                </a:solidFill>
                <a:latin typeface="Roboto Condensed" panose="02000000000000000000" pitchFamily="2" charset="0"/>
                <a:ea typeface="Roboto Condensed" panose="02000000000000000000" pitchFamily="2" charset="0"/>
              </a:rPr>
              <a:t>April 2026</a:t>
            </a:r>
          </a:p>
        </p:txBody>
      </p:sp>
      <p:sp>
        <p:nvSpPr>
          <p:cNvPr id="9" name="TextBox 8"/>
          <p:cNvSpPr txBox="1"/>
          <p:nvPr/>
        </p:nvSpPr>
        <p:spPr>
          <a:xfrm>
            <a:off x="495147" y="2936434"/>
            <a:ext cx="1874520" cy="571182"/>
          </a:xfrm>
          <a:prstGeom prst="rect">
            <a:avLst/>
          </a:prstGeom>
          <a:noFill/>
        </p:spPr>
        <p:txBody>
          <a:bodyPr wrap="square" lIns="0" tIns="0" rIns="0" bIns="0" anchor="t">
            <a:spAutoFit/>
          </a:bodyPr>
          <a:lstStyle/>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Consortium-wide</a:t>
            </a:r>
          </a:p>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MOOC onboarding</a:t>
            </a:r>
          </a:p>
        </p:txBody>
      </p:sp>
      <p:sp>
        <p:nvSpPr>
          <p:cNvPr id="10" name="TextBox 9"/>
          <p:cNvSpPr txBox="1"/>
          <p:nvPr/>
        </p:nvSpPr>
        <p:spPr>
          <a:xfrm>
            <a:off x="495147" y="3987994"/>
            <a:ext cx="1874520" cy="817596"/>
          </a:xfrm>
          <a:prstGeom prst="rect">
            <a:avLst/>
          </a:prstGeom>
          <a:noFill/>
        </p:spPr>
        <p:txBody>
          <a:bodyPr wrap="square" lIns="0" tIns="0" rIns="0" bIns="0" anchor="t">
            <a:spAutoFit/>
          </a:bodyPr>
          <a:lstStyle/>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All partners trained on edu.slaif.si; first MOOC content deposited</a:t>
            </a:r>
          </a:p>
        </p:txBody>
      </p:sp>
      <p:sp>
        <p:nvSpPr>
          <p:cNvPr id="11" name="Oval 10"/>
          <p:cNvSpPr/>
          <p:nvPr/>
        </p:nvSpPr>
        <p:spPr>
          <a:xfrm>
            <a:off x="3535527" y="1381954"/>
            <a:ext cx="457200" cy="457200"/>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2" name="TextBox 11"/>
          <p:cNvSpPr txBox="1"/>
          <p:nvPr/>
        </p:nvSpPr>
        <p:spPr>
          <a:xfrm>
            <a:off x="3535527" y="1462244"/>
            <a:ext cx="457200" cy="296620"/>
          </a:xfrm>
          <a:prstGeom prst="rect">
            <a:avLst/>
          </a:prstGeom>
          <a:noFill/>
        </p:spPr>
        <p:txBody>
          <a:bodyPr wrap="square" lIns="0" tIns="0" rIns="0" bIns="0" anchor="ctr">
            <a:spAutoFit/>
          </a:bodyPr>
          <a:lstStyle/>
          <a:p>
            <a:pPr algn="ctr">
              <a:lnSpc>
                <a:spcPct val="115000"/>
              </a:lnSpc>
            </a:pPr>
            <a:r>
              <a:rPr sz="1800" b="1" i="0">
                <a:solidFill>
                  <a:srgbClr val="FFFFFF"/>
                </a:solidFill>
                <a:latin typeface="Roboto Condensed" panose="02000000000000000000" pitchFamily="2" charset="0"/>
                <a:ea typeface="Roboto Condensed" panose="02000000000000000000" pitchFamily="2" charset="0"/>
              </a:rPr>
              <a:t>2</a:t>
            </a:r>
          </a:p>
        </p:txBody>
      </p:sp>
      <p:sp>
        <p:nvSpPr>
          <p:cNvPr id="13" name="Rounded Rectangle 12"/>
          <p:cNvSpPr/>
          <p:nvPr/>
        </p:nvSpPr>
        <p:spPr>
          <a:xfrm>
            <a:off x="2643987" y="2067754"/>
            <a:ext cx="2240280" cy="2971799"/>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4" name="TextBox 13"/>
          <p:cNvSpPr txBox="1"/>
          <p:nvPr/>
        </p:nvSpPr>
        <p:spPr>
          <a:xfrm>
            <a:off x="2826867" y="2204914"/>
            <a:ext cx="1874520" cy="499817"/>
          </a:xfrm>
          <a:prstGeom prst="rect">
            <a:avLst/>
          </a:prstGeom>
          <a:noFill/>
        </p:spPr>
        <p:txBody>
          <a:bodyPr wrap="square" lIns="0" tIns="0" rIns="0" bIns="0" anchor="t">
            <a:spAutoFit/>
          </a:bodyPr>
          <a:lstStyle/>
          <a:p>
            <a:pPr algn="ctr">
              <a:lnSpc>
                <a:spcPct val="120000"/>
              </a:lnSpc>
            </a:pPr>
            <a:r>
              <a:rPr sz="1400" b="1" i="0" dirty="0">
                <a:solidFill>
                  <a:srgbClr val="145B6E"/>
                </a:solidFill>
                <a:latin typeface="Roboto Condensed" panose="02000000000000000000" pitchFamily="2" charset="0"/>
                <a:ea typeface="Roboto Condensed" panose="02000000000000000000" pitchFamily="2" charset="0"/>
              </a:rPr>
              <a:t>M</a:t>
            </a:r>
            <a:r>
              <a:rPr lang="sl-SI" sz="1400" b="1" i="0" dirty="0">
                <a:solidFill>
                  <a:srgbClr val="145B6E"/>
                </a:solidFill>
                <a:latin typeface="Roboto Condensed" panose="02000000000000000000" pitchFamily="2" charset="0"/>
                <a:ea typeface="Roboto Condensed" panose="02000000000000000000" pitchFamily="2" charset="0"/>
              </a:rPr>
              <a:t>8</a:t>
            </a:r>
            <a:r>
              <a:rPr sz="1400" b="1" i="0" dirty="0">
                <a:solidFill>
                  <a:srgbClr val="145B6E"/>
                </a:solidFill>
                <a:latin typeface="Roboto Condensed" panose="02000000000000000000" pitchFamily="2" charset="0"/>
                <a:ea typeface="Roboto Condensed" panose="02000000000000000000" pitchFamily="2" charset="0"/>
              </a:rPr>
              <a:t>-M10</a:t>
            </a:r>
          </a:p>
          <a:p>
            <a:pPr algn="ctr">
              <a:lnSpc>
                <a:spcPct val="120000"/>
              </a:lnSpc>
            </a:pPr>
            <a:r>
              <a:rPr lang="sl-SI" sz="1400" b="1" i="0" dirty="0">
                <a:solidFill>
                  <a:srgbClr val="145B6E"/>
                </a:solidFill>
                <a:latin typeface="Roboto Condensed" panose="02000000000000000000" pitchFamily="2" charset="0"/>
                <a:ea typeface="Roboto Condensed" panose="02000000000000000000" pitchFamily="2" charset="0"/>
              </a:rPr>
              <a:t>April</a:t>
            </a:r>
            <a:r>
              <a:rPr sz="1400" b="1" i="0" dirty="0">
                <a:solidFill>
                  <a:srgbClr val="145B6E"/>
                </a:solidFill>
                <a:latin typeface="Roboto Condensed" panose="02000000000000000000" pitchFamily="2" charset="0"/>
                <a:ea typeface="Roboto Condensed" panose="02000000000000000000" pitchFamily="2" charset="0"/>
              </a:rPr>
              <a:t>-Jun 2026</a:t>
            </a:r>
          </a:p>
        </p:txBody>
      </p:sp>
      <p:sp>
        <p:nvSpPr>
          <p:cNvPr id="15" name="TextBox 14"/>
          <p:cNvSpPr txBox="1"/>
          <p:nvPr/>
        </p:nvSpPr>
        <p:spPr>
          <a:xfrm>
            <a:off x="2826867" y="2936434"/>
            <a:ext cx="1874520" cy="571182"/>
          </a:xfrm>
          <a:prstGeom prst="rect">
            <a:avLst/>
          </a:prstGeom>
          <a:noFill/>
        </p:spPr>
        <p:txBody>
          <a:bodyPr wrap="square" lIns="0" tIns="0" rIns="0" bIns="0" anchor="t">
            <a:spAutoFit/>
          </a:bodyPr>
          <a:lstStyle/>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Launch of FI</a:t>
            </a:r>
            <a:r>
              <a:rPr lang="sl-SI" sz="1600" b="1" i="0" dirty="0">
                <a:solidFill>
                  <a:srgbClr val="1C2B33"/>
                </a:solidFill>
                <a:latin typeface="Roboto Condensed" panose="02000000000000000000" pitchFamily="2" charset="0"/>
                <a:ea typeface="Roboto Condensed" panose="02000000000000000000" pitchFamily="2" charset="0"/>
              </a:rPr>
              <a:t>Š</a:t>
            </a:r>
            <a:r>
              <a:rPr sz="1600" b="1" i="0" dirty="0">
                <a:solidFill>
                  <a:srgbClr val="1C2B33"/>
                </a:solidFill>
                <a:latin typeface="Roboto Condensed" panose="02000000000000000000" pitchFamily="2" charset="0"/>
                <a:ea typeface="Roboto Condensed" panose="02000000000000000000" pitchFamily="2" charset="0"/>
              </a:rPr>
              <a:t> HPC</a:t>
            </a:r>
          </a:p>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intensive courses</a:t>
            </a:r>
          </a:p>
        </p:txBody>
      </p:sp>
      <p:sp>
        <p:nvSpPr>
          <p:cNvPr id="16" name="TextBox 15"/>
          <p:cNvSpPr txBox="1"/>
          <p:nvPr/>
        </p:nvSpPr>
        <p:spPr>
          <a:xfrm>
            <a:off x="2826867" y="3987994"/>
            <a:ext cx="1874520" cy="1097673"/>
          </a:xfrm>
          <a:prstGeom prst="rect">
            <a:avLst/>
          </a:prstGeom>
          <a:noFill/>
        </p:spPr>
        <p:txBody>
          <a:bodyPr wrap="square" lIns="0" tIns="0" rIns="0" bIns="0" anchor="t">
            <a:spAutoFit/>
          </a:bodyPr>
          <a:lstStyle/>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Linux &amp; containers, </a:t>
            </a:r>
            <a:r>
              <a:rPr sz="1400" b="0" i="0" dirty="0" err="1">
                <a:solidFill>
                  <a:srgbClr val="556670"/>
                </a:solidFill>
                <a:latin typeface="Roboto Condensed" panose="02000000000000000000" pitchFamily="2" charset="0"/>
                <a:ea typeface="Roboto Condensed" panose="02000000000000000000" pitchFamily="2" charset="0"/>
              </a:rPr>
              <a:t>BERTopic</a:t>
            </a:r>
            <a:r>
              <a:rPr sz="1400" b="0" i="0" dirty="0">
                <a:solidFill>
                  <a:srgbClr val="556670"/>
                </a:solidFill>
                <a:latin typeface="Roboto Condensed" panose="02000000000000000000" pitchFamily="2" charset="0"/>
                <a:ea typeface="Roboto Condensed" panose="02000000000000000000" pitchFamily="2" charset="0"/>
              </a:rPr>
              <a:t>, RAG, GPU processing — first deliveries</a:t>
            </a:r>
          </a:p>
        </p:txBody>
      </p:sp>
      <p:sp>
        <p:nvSpPr>
          <p:cNvPr id="17" name="Oval 16"/>
          <p:cNvSpPr/>
          <p:nvPr/>
        </p:nvSpPr>
        <p:spPr>
          <a:xfrm>
            <a:off x="5867247" y="1381954"/>
            <a:ext cx="457200" cy="457200"/>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18" name="TextBox 17"/>
          <p:cNvSpPr txBox="1"/>
          <p:nvPr/>
        </p:nvSpPr>
        <p:spPr>
          <a:xfrm>
            <a:off x="5867247" y="1462244"/>
            <a:ext cx="457200" cy="296620"/>
          </a:xfrm>
          <a:prstGeom prst="rect">
            <a:avLst/>
          </a:prstGeom>
          <a:noFill/>
        </p:spPr>
        <p:txBody>
          <a:bodyPr wrap="square" lIns="0" tIns="0" rIns="0" bIns="0" anchor="ctr">
            <a:spAutoFit/>
          </a:bodyPr>
          <a:lstStyle/>
          <a:p>
            <a:pPr algn="ctr">
              <a:lnSpc>
                <a:spcPct val="115000"/>
              </a:lnSpc>
            </a:pPr>
            <a:r>
              <a:rPr sz="1800" b="1" i="0">
                <a:solidFill>
                  <a:srgbClr val="FFFFFF"/>
                </a:solidFill>
                <a:latin typeface="Roboto Condensed" panose="02000000000000000000" pitchFamily="2" charset="0"/>
                <a:ea typeface="Roboto Condensed" panose="02000000000000000000" pitchFamily="2" charset="0"/>
              </a:rPr>
              <a:t>3</a:t>
            </a:r>
          </a:p>
        </p:txBody>
      </p:sp>
      <p:sp>
        <p:nvSpPr>
          <p:cNvPr id="19" name="Rounded Rectangle 18"/>
          <p:cNvSpPr/>
          <p:nvPr/>
        </p:nvSpPr>
        <p:spPr>
          <a:xfrm>
            <a:off x="4975707" y="2067754"/>
            <a:ext cx="2240280" cy="2971799"/>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0" name="TextBox 19"/>
          <p:cNvSpPr txBox="1"/>
          <p:nvPr/>
        </p:nvSpPr>
        <p:spPr>
          <a:xfrm>
            <a:off x="5158587" y="2204914"/>
            <a:ext cx="1874520" cy="499817"/>
          </a:xfrm>
          <a:prstGeom prst="rect">
            <a:avLst/>
          </a:prstGeom>
          <a:noFill/>
        </p:spPr>
        <p:txBody>
          <a:bodyPr wrap="square" lIns="0" tIns="0" rIns="0" bIns="0" anchor="t">
            <a:spAutoFit/>
          </a:bodyPr>
          <a:lstStyle/>
          <a:p>
            <a:pPr algn="ctr">
              <a:lnSpc>
                <a:spcPct val="120000"/>
              </a:lnSpc>
            </a:pPr>
            <a:r>
              <a:rPr lang="sl-SI" sz="1400" b="1" i="0" dirty="0">
                <a:solidFill>
                  <a:srgbClr val="145B6E"/>
                </a:solidFill>
                <a:latin typeface="Roboto Condensed" panose="02000000000000000000" pitchFamily="2" charset="0"/>
                <a:ea typeface="Roboto Condensed" panose="02000000000000000000" pitchFamily="2" charset="0"/>
              </a:rPr>
              <a:t>M8</a:t>
            </a:r>
            <a:endParaRPr sz="1400" b="1" i="0" dirty="0">
              <a:solidFill>
                <a:srgbClr val="145B6E"/>
              </a:solidFill>
              <a:latin typeface="Roboto Condensed" panose="02000000000000000000" pitchFamily="2" charset="0"/>
              <a:ea typeface="Roboto Condensed" panose="02000000000000000000" pitchFamily="2" charset="0"/>
            </a:endParaRPr>
          </a:p>
          <a:p>
            <a:pPr algn="ctr">
              <a:lnSpc>
                <a:spcPct val="120000"/>
              </a:lnSpc>
            </a:pPr>
            <a:r>
              <a:rPr lang="sl-SI" sz="1400" b="1" dirty="0">
                <a:solidFill>
                  <a:srgbClr val="145B6E"/>
                </a:solidFill>
                <a:latin typeface="Roboto Condensed" panose="02000000000000000000" pitchFamily="2" charset="0"/>
                <a:ea typeface="Roboto Condensed" panose="02000000000000000000" pitchFamily="2" charset="0"/>
              </a:rPr>
              <a:t>April</a:t>
            </a:r>
            <a:r>
              <a:rPr sz="1400" b="1" i="0" dirty="0">
                <a:solidFill>
                  <a:srgbClr val="145B6E"/>
                </a:solidFill>
                <a:latin typeface="Roboto Condensed" panose="02000000000000000000" pitchFamily="2" charset="0"/>
                <a:ea typeface="Roboto Condensed" panose="02000000000000000000" pitchFamily="2" charset="0"/>
              </a:rPr>
              <a:t> 2026</a:t>
            </a:r>
          </a:p>
        </p:txBody>
      </p:sp>
      <p:sp>
        <p:nvSpPr>
          <p:cNvPr id="21" name="TextBox 20"/>
          <p:cNvSpPr txBox="1"/>
          <p:nvPr/>
        </p:nvSpPr>
        <p:spPr>
          <a:xfrm>
            <a:off x="5158587" y="2936434"/>
            <a:ext cx="1874520" cy="571182"/>
          </a:xfrm>
          <a:prstGeom prst="rect">
            <a:avLst/>
          </a:prstGeom>
          <a:noFill/>
        </p:spPr>
        <p:txBody>
          <a:bodyPr wrap="square" lIns="0" tIns="0" rIns="0" bIns="0" anchor="t">
            <a:spAutoFit/>
          </a:bodyPr>
          <a:lstStyle/>
          <a:p>
            <a:pPr algn="ctr">
              <a:lnSpc>
                <a:spcPct val="120000"/>
              </a:lnSpc>
            </a:pPr>
            <a:r>
              <a:rPr lang="sl-SI" sz="1600" b="1" i="0" dirty="0" err="1">
                <a:solidFill>
                  <a:srgbClr val="1C2B33"/>
                </a:solidFill>
                <a:latin typeface="Roboto Condensed" panose="02000000000000000000" pitchFamily="2" charset="0"/>
                <a:ea typeface="Roboto Condensed" panose="02000000000000000000" pitchFamily="2" charset="0"/>
              </a:rPr>
              <a:t>Second</a:t>
            </a:r>
            <a:r>
              <a:rPr sz="1600" b="1" i="0" dirty="0">
                <a:solidFill>
                  <a:srgbClr val="1C2B33"/>
                </a:solidFill>
                <a:latin typeface="Roboto Condensed" panose="02000000000000000000" pitchFamily="2" charset="0"/>
                <a:ea typeface="Roboto Condensed" panose="02000000000000000000" pitchFamily="2" charset="0"/>
              </a:rPr>
              <a:t> AI Industry Day</a:t>
            </a:r>
          </a:p>
        </p:txBody>
      </p:sp>
      <p:sp>
        <p:nvSpPr>
          <p:cNvPr id="22" name="TextBox 21"/>
          <p:cNvSpPr txBox="1"/>
          <p:nvPr/>
        </p:nvSpPr>
        <p:spPr>
          <a:xfrm>
            <a:off x="5158587" y="3987994"/>
            <a:ext cx="1874520" cy="817596"/>
          </a:xfrm>
          <a:prstGeom prst="rect">
            <a:avLst/>
          </a:prstGeom>
          <a:noFill/>
        </p:spPr>
        <p:txBody>
          <a:bodyPr wrap="square" lIns="0" tIns="0" rIns="0" bIns="0" anchor="t">
            <a:spAutoFit/>
          </a:bodyPr>
          <a:lstStyle/>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Vertical-specific; SME demonstrations with WP5 services</a:t>
            </a:r>
          </a:p>
        </p:txBody>
      </p:sp>
      <p:sp>
        <p:nvSpPr>
          <p:cNvPr id="23" name="Oval 22"/>
          <p:cNvSpPr/>
          <p:nvPr/>
        </p:nvSpPr>
        <p:spPr>
          <a:xfrm>
            <a:off x="8198967" y="1381954"/>
            <a:ext cx="457200" cy="457200"/>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4" name="TextBox 23"/>
          <p:cNvSpPr txBox="1"/>
          <p:nvPr/>
        </p:nvSpPr>
        <p:spPr>
          <a:xfrm>
            <a:off x="8198967" y="1462244"/>
            <a:ext cx="457200" cy="296620"/>
          </a:xfrm>
          <a:prstGeom prst="rect">
            <a:avLst/>
          </a:prstGeom>
          <a:noFill/>
        </p:spPr>
        <p:txBody>
          <a:bodyPr wrap="square" lIns="0" tIns="0" rIns="0" bIns="0" anchor="ctr">
            <a:spAutoFit/>
          </a:bodyPr>
          <a:lstStyle/>
          <a:p>
            <a:pPr algn="ctr">
              <a:lnSpc>
                <a:spcPct val="115000"/>
              </a:lnSpc>
            </a:pPr>
            <a:r>
              <a:rPr sz="1800" b="1" i="0">
                <a:solidFill>
                  <a:srgbClr val="FFFFFF"/>
                </a:solidFill>
                <a:latin typeface="Roboto Condensed" panose="02000000000000000000" pitchFamily="2" charset="0"/>
                <a:ea typeface="Roboto Condensed" panose="02000000000000000000" pitchFamily="2" charset="0"/>
              </a:rPr>
              <a:t>4</a:t>
            </a:r>
          </a:p>
        </p:txBody>
      </p:sp>
      <p:sp>
        <p:nvSpPr>
          <p:cNvPr id="25" name="Rounded Rectangle 24"/>
          <p:cNvSpPr/>
          <p:nvPr/>
        </p:nvSpPr>
        <p:spPr>
          <a:xfrm>
            <a:off x="7307427" y="2067754"/>
            <a:ext cx="2240280" cy="2971799"/>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26" name="TextBox 25"/>
          <p:cNvSpPr txBox="1"/>
          <p:nvPr/>
        </p:nvSpPr>
        <p:spPr>
          <a:xfrm>
            <a:off x="7490307" y="2204914"/>
            <a:ext cx="1874520" cy="499817"/>
          </a:xfrm>
          <a:prstGeom prst="rect">
            <a:avLst/>
          </a:prstGeom>
          <a:noFill/>
        </p:spPr>
        <p:txBody>
          <a:bodyPr wrap="square" lIns="0" tIns="0" rIns="0" bIns="0" anchor="t">
            <a:spAutoFit/>
          </a:bodyPr>
          <a:lstStyle/>
          <a:p>
            <a:pPr algn="ctr">
              <a:lnSpc>
                <a:spcPct val="120000"/>
              </a:lnSpc>
            </a:pPr>
            <a:r>
              <a:rPr sz="1400" b="1" i="0" dirty="0">
                <a:solidFill>
                  <a:srgbClr val="145B6E"/>
                </a:solidFill>
                <a:latin typeface="Roboto Condensed" panose="02000000000000000000" pitchFamily="2" charset="0"/>
                <a:ea typeface="Roboto Condensed" panose="02000000000000000000" pitchFamily="2" charset="0"/>
              </a:rPr>
              <a:t>M</a:t>
            </a:r>
            <a:r>
              <a:rPr lang="sl-SI" sz="1400" b="1" i="0" dirty="0">
                <a:solidFill>
                  <a:srgbClr val="145B6E"/>
                </a:solidFill>
                <a:latin typeface="Roboto Condensed" panose="02000000000000000000" pitchFamily="2" charset="0"/>
                <a:ea typeface="Roboto Condensed" panose="02000000000000000000" pitchFamily="2" charset="0"/>
              </a:rPr>
              <a:t>8-M12</a:t>
            </a:r>
            <a:endParaRPr sz="1400" b="1" i="0" dirty="0">
              <a:solidFill>
                <a:srgbClr val="145B6E"/>
              </a:solidFill>
              <a:latin typeface="Roboto Condensed" panose="02000000000000000000" pitchFamily="2" charset="0"/>
              <a:ea typeface="Roboto Condensed" panose="02000000000000000000" pitchFamily="2" charset="0"/>
            </a:endParaRPr>
          </a:p>
          <a:p>
            <a:pPr algn="ctr">
              <a:lnSpc>
                <a:spcPct val="120000"/>
              </a:lnSpc>
            </a:pPr>
            <a:r>
              <a:rPr lang="sl-SI" sz="1400" b="1" dirty="0">
                <a:solidFill>
                  <a:srgbClr val="145B6E"/>
                </a:solidFill>
                <a:latin typeface="Roboto Condensed" panose="02000000000000000000" pitchFamily="2" charset="0"/>
                <a:ea typeface="Roboto Condensed" panose="02000000000000000000" pitchFamily="2" charset="0"/>
              </a:rPr>
              <a:t>April-</a:t>
            </a:r>
            <a:r>
              <a:rPr lang="sl-SI" sz="1400" b="1" dirty="0" err="1">
                <a:solidFill>
                  <a:srgbClr val="145B6E"/>
                </a:solidFill>
                <a:latin typeface="Roboto Condensed" panose="02000000000000000000" pitchFamily="2" charset="0"/>
                <a:ea typeface="Roboto Condensed" panose="02000000000000000000" pitchFamily="2" charset="0"/>
              </a:rPr>
              <a:t>August</a:t>
            </a:r>
            <a:r>
              <a:rPr sz="1400" b="1" i="0" dirty="0">
                <a:solidFill>
                  <a:srgbClr val="145B6E"/>
                </a:solidFill>
                <a:latin typeface="Roboto Condensed" panose="02000000000000000000" pitchFamily="2" charset="0"/>
                <a:ea typeface="Roboto Condensed" panose="02000000000000000000" pitchFamily="2" charset="0"/>
              </a:rPr>
              <a:t> 2026</a:t>
            </a:r>
          </a:p>
        </p:txBody>
      </p:sp>
      <p:sp>
        <p:nvSpPr>
          <p:cNvPr id="27" name="TextBox 26"/>
          <p:cNvSpPr txBox="1"/>
          <p:nvPr/>
        </p:nvSpPr>
        <p:spPr>
          <a:xfrm>
            <a:off x="7490307" y="2936434"/>
            <a:ext cx="1874520" cy="863826"/>
          </a:xfrm>
          <a:prstGeom prst="rect">
            <a:avLst/>
          </a:prstGeom>
          <a:noFill/>
        </p:spPr>
        <p:txBody>
          <a:bodyPr wrap="square" lIns="0" tIns="0" rIns="0" bIns="0" anchor="t">
            <a:spAutoFit/>
          </a:bodyPr>
          <a:lstStyle/>
          <a:p>
            <a:pPr algn="ctr">
              <a:lnSpc>
                <a:spcPct val="120000"/>
              </a:lnSpc>
            </a:pPr>
            <a:r>
              <a:rPr lang="sl-SI" sz="1600" b="1" i="0" dirty="0" err="1">
                <a:solidFill>
                  <a:srgbClr val="1C2B33"/>
                </a:solidFill>
                <a:latin typeface="Roboto Condensed" panose="02000000000000000000" pitchFamily="2" charset="0"/>
                <a:ea typeface="Roboto Condensed" panose="02000000000000000000" pitchFamily="2" charset="0"/>
              </a:rPr>
              <a:t>Micro-credential</a:t>
            </a:r>
            <a:r>
              <a:rPr lang="sl-SI" sz="1600" b="1" i="0" dirty="0">
                <a:solidFill>
                  <a:srgbClr val="1C2B33"/>
                </a:solidFill>
                <a:latin typeface="Roboto Condensed" panose="02000000000000000000" pitchFamily="2" charset="0"/>
                <a:ea typeface="Roboto Condensed" panose="02000000000000000000" pitchFamily="2" charset="0"/>
              </a:rPr>
              <a:t> </a:t>
            </a:r>
            <a:r>
              <a:rPr lang="sl-SI" sz="1600" b="1" i="0" dirty="0" err="1">
                <a:solidFill>
                  <a:srgbClr val="1C2B33"/>
                </a:solidFill>
                <a:latin typeface="Roboto Condensed" panose="02000000000000000000" pitchFamily="2" charset="0"/>
                <a:ea typeface="Roboto Condensed" panose="02000000000000000000" pitchFamily="2" charset="0"/>
              </a:rPr>
              <a:t>courses</a:t>
            </a:r>
            <a:r>
              <a:rPr lang="sl-SI" sz="1600" b="1" dirty="0">
                <a:solidFill>
                  <a:srgbClr val="1C2B33"/>
                </a:solidFill>
                <a:latin typeface="Roboto Condensed" panose="02000000000000000000" pitchFamily="2" charset="0"/>
                <a:ea typeface="Roboto Condensed" panose="02000000000000000000" pitchFamily="2" charset="0"/>
              </a:rPr>
              <a:t> </a:t>
            </a:r>
            <a:r>
              <a:rPr lang="sl-SI" sz="1600" b="1" dirty="0" err="1">
                <a:solidFill>
                  <a:srgbClr val="1C2B33"/>
                </a:solidFill>
                <a:latin typeface="Roboto Condensed" panose="02000000000000000000" pitchFamily="2" charset="0"/>
                <a:ea typeface="Roboto Condensed" panose="02000000000000000000" pitchFamily="2" charset="0"/>
              </a:rPr>
              <a:t>prepared</a:t>
            </a:r>
            <a:r>
              <a:rPr lang="sl-SI" sz="1600" b="1" dirty="0">
                <a:solidFill>
                  <a:srgbClr val="1C2B33"/>
                </a:solidFill>
                <a:latin typeface="Roboto Condensed" panose="02000000000000000000" pitchFamily="2" charset="0"/>
                <a:ea typeface="Roboto Condensed" panose="02000000000000000000" pitchFamily="2" charset="0"/>
              </a:rPr>
              <a:t> </a:t>
            </a:r>
            <a:r>
              <a:rPr lang="sl-SI" sz="1600" b="1" dirty="0" err="1">
                <a:solidFill>
                  <a:srgbClr val="1C2B33"/>
                </a:solidFill>
                <a:latin typeface="Roboto Condensed" panose="02000000000000000000" pitchFamily="2" charset="0"/>
                <a:ea typeface="Roboto Condensed" panose="02000000000000000000" pitchFamily="2" charset="0"/>
              </a:rPr>
              <a:t>for</a:t>
            </a:r>
            <a:r>
              <a:rPr lang="sl-SI" sz="1600" b="1" dirty="0">
                <a:solidFill>
                  <a:srgbClr val="1C2B33"/>
                </a:solidFill>
                <a:latin typeface="Roboto Condensed" panose="02000000000000000000" pitchFamily="2" charset="0"/>
                <a:ea typeface="Roboto Condensed" panose="02000000000000000000" pitchFamily="2" charset="0"/>
              </a:rPr>
              <a:t> </a:t>
            </a:r>
            <a:r>
              <a:rPr lang="sl-SI" sz="1600" b="1" dirty="0" err="1">
                <a:solidFill>
                  <a:srgbClr val="1C2B33"/>
                </a:solidFill>
                <a:latin typeface="Roboto Condensed" panose="02000000000000000000" pitchFamily="2" charset="0"/>
                <a:ea typeface="Roboto Condensed" panose="02000000000000000000" pitchFamily="2" charset="0"/>
              </a:rPr>
              <a:t>accreditation</a:t>
            </a:r>
            <a:endParaRPr sz="1600" b="1" i="0" dirty="0">
              <a:solidFill>
                <a:srgbClr val="1C2B33"/>
              </a:solidFill>
              <a:latin typeface="Roboto Condensed" panose="02000000000000000000" pitchFamily="2" charset="0"/>
              <a:ea typeface="Roboto Condensed" panose="02000000000000000000" pitchFamily="2" charset="0"/>
            </a:endParaRPr>
          </a:p>
        </p:txBody>
      </p:sp>
      <p:sp>
        <p:nvSpPr>
          <p:cNvPr id="28" name="TextBox 27"/>
          <p:cNvSpPr txBox="1"/>
          <p:nvPr/>
        </p:nvSpPr>
        <p:spPr>
          <a:xfrm>
            <a:off x="7490307" y="3987994"/>
            <a:ext cx="1874520" cy="1095172"/>
          </a:xfrm>
          <a:prstGeom prst="rect">
            <a:avLst/>
          </a:prstGeom>
          <a:noFill/>
        </p:spPr>
        <p:txBody>
          <a:bodyPr wrap="square" lIns="0" tIns="0" rIns="0" bIns="0" anchor="t">
            <a:spAutoFit/>
          </a:bodyPr>
          <a:lstStyle/>
          <a:p>
            <a:pPr algn="ctr">
              <a:lnSpc>
                <a:spcPct val="130000"/>
              </a:lnSpc>
            </a:pPr>
            <a:r>
              <a:rPr lang="sl-SI" sz="1400" b="0" i="0" dirty="0">
                <a:solidFill>
                  <a:srgbClr val="556670"/>
                </a:solidFill>
                <a:latin typeface="Roboto Condensed" panose="02000000000000000000" pitchFamily="2" charset="0"/>
                <a:ea typeface="Roboto Condensed" panose="02000000000000000000" pitchFamily="2" charset="0"/>
              </a:rPr>
              <a:t>Formal </a:t>
            </a:r>
            <a:r>
              <a:rPr lang="sl-SI" sz="1400" b="0" i="0" dirty="0" err="1">
                <a:solidFill>
                  <a:srgbClr val="556670"/>
                </a:solidFill>
                <a:latin typeface="Roboto Condensed" panose="02000000000000000000" pitchFamily="2" charset="0"/>
                <a:ea typeface="Roboto Condensed" panose="02000000000000000000" pitchFamily="2" charset="0"/>
              </a:rPr>
              <a:t>accreditation</a:t>
            </a:r>
            <a:r>
              <a:rPr lang="sl-SI" sz="1400" b="0" i="0" dirty="0">
                <a:solidFill>
                  <a:srgbClr val="556670"/>
                </a:solidFill>
                <a:latin typeface="Roboto Condensed" panose="02000000000000000000" pitchFamily="2" charset="0"/>
                <a:ea typeface="Roboto Condensed" panose="02000000000000000000" pitchFamily="2" charset="0"/>
              </a:rPr>
              <a:t> </a:t>
            </a:r>
            <a:r>
              <a:rPr lang="sl-SI" sz="1400" b="0" i="0" dirty="0" err="1">
                <a:solidFill>
                  <a:srgbClr val="556670"/>
                </a:solidFill>
                <a:latin typeface="Roboto Condensed" panose="02000000000000000000" pitchFamily="2" charset="0"/>
                <a:ea typeface="Roboto Condensed" panose="02000000000000000000" pitchFamily="2" charset="0"/>
              </a:rPr>
              <a:t>paper</a:t>
            </a:r>
            <a:r>
              <a:rPr lang="sl-SI" sz="1400" dirty="0" err="1">
                <a:solidFill>
                  <a:srgbClr val="556670"/>
                </a:solidFill>
                <a:latin typeface="Roboto Condensed" panose="02000000000000000000" pitchFamily="2" charset="0"/>
                <a:ea typeface="Roboto Condensed" panose="02000000000000000000" pitchFamily="2" charset="0"/>
              </a:rPr>
              <a:t>work</a:t>
            </a:r>
            <a:r>
              <a:rPr lang="sl-SI" sz="1400" dirty="0">
                <a:solidFill>
                  <a:srgbClr val="556670"/>
                </a:solidFill>
                <a:latin typeface="Roboto Condensed" panose="02000000000000000000" pitchFamily="2" charset="0"/>
                <a:ea typeface="Roboto Condensed" panose="02000000000000000000" pitchFamily="2" charset="0"/>
              </a:rPr>
              <a:t> </a:t>
            </a:r>
            <a:r>
              <a:rPr lang="sl-SI" sz="1400" dirty="0" err="1">
                <a:solidFill>
                  <a:srgbClr val="556670"/>
                </a:solidFill>
                <a:latin typeface="Roboto Condensed" panose="02000000000000000000" pitchFamily="2" charset="0"/>
                <a:ea typeface="Roboto Condensed" panose="02000000000000000000" pitchFamily="2" charset="0"/>
              </a:rPr>
              <a:t>prepared</a:t>
            </a:r>
            <a:r>
              <a:rPr lang="sl-SI" sz="1400" dirty="0">
                <a:solidFill>
                  <a:srgbClr val="556670"/>
                </a:solidFill>
                <a:latin typeface="Roboto Condensed" panose="02000000000000000000" pitchFamily="2" charset="0"/>
                <a:ea typeface="Roboto Condensed" panose="02000000000000000000" pitchFamily="2" charset="0"/>
              </a:rPr>
              <a:t> </a:t>
            </a:r>
            <a:r>
              <a:rPr lang="sl-SI" sz="1400" dirty="0" err="1">
                <a:solidFill>
                  <a:srgbClr val="556670"/>
                </a:solidFill>
                <a:latin typeface="Roboto Condensed" panose="02000000000000000000" pitchFamily="2" charset="0"/>
                <a:ea typeface="Roboto Condensed" panose="02000000000000000000" pitchFamily="2" charset="0"/>
              </a:rPr>
              <a:t>and</a:t>
            </a:r>
            <a:r>
              <a:rPr lang="sl-SI" sz="1400" dirty="0">
                <a:solidFill>
                  <a:srgbClr val="556670"/>
                </a:solidFill>
                <a:latin typeface="Roboto Condensed" panose="02000000000000000000" pitchFamily="2" charset="0"/>
                <a:ea typeface="Roboto Condensed" panose="02000000000000000000" pitchFamily="2" charset="0"/>
              </a:rPr>
              <a:t> </a:t>
            </a:r>
            <a:r>
              <a:rPr lang="sl-SI" sz="1400" dirty="0" err="1">
                <a:solidFill>
                  <a:srgbClr val="556670"/>
                </a:solidFill>
                <a:latin typeface="Roboto Condensed" panose="02000000000000000000" pitchFamily="2" charset="0"/>
                <a:ea typeface="Roboto Condensed" panose="02000000000000000000" pitchFamily="2" charset="0"/>
              </a:rPr>
              <a:t>filed</a:t>
            </a:r>
            <a:r>
              <a:rPr lang="sl-SI" sz="1400" dirty="0">
                <a:solidFill>
                  <a:srgbClr val="556670"/>
                </a:solidFill>
                <a:latin typeface="Roboto Condensed" panose="02000000000000000000" pitchFamily="2" charset="0"/>
                <a:ea typeface="Roboto Condensed" panose="02000000000000000000" pitchFamily="2" charset="0"/>
              </a:rPr>
              <a:t> </a:t>
            </a:r>
            <a:r>
              <a:rPr lang="sl-SI" sz="1400" dirty="0" err="1">
                <a:solidFill>
                  <a:srgbClr val="556670"/>
                </a:solidFill>
                <a:latin typeface="Roboto Condensed" panose="02000000000000000000" pitchFamily="2" charset="0"/>
                <a:ea typeface="Roboto Condensed" panose="02000000000000000000" pitchFamily="2" charset="0"/>
              </a:rPr>
              <a:t>for</a:t>
            </a:r>
            <a:r>
              <a:rPr lang="sl-SI" sz="1400" dirty="0">
                <a:solidFill>
                  <a:srgbClr val="556670"/>
                </a:solidFill>
                <a:latin typeface="Roboto Condensed" panose="02000000000000000000" pitchFamily="2" charset="0"/>
                <a:ea typeface="Roboto Condensed" panose="02000000000000000000" pitchFamily="2" charset="0"/>
              </a:rPr>
              <a:t> </a:t>
            </a:r>
            <a:r>
              <a:rPr lang="sl-SI" sz="1400" dirty="0" err="1">
                <a:solidFill>
                  <a:srgbClr val="556670"/>
                </a:solidFill>
                <a:latin typeface="Roboto Condensed" panose="02000000000000000000" pitchFamily="2" charset="0"/>
                <a:ea typeface="Roboto Condensed" panose="02000000000000000000" pitchFamily="2" charset="0"/>
              </a:rPr>
              <a:t>courses</a:t>
            </a:r>
            <a:r>
              <a:rPr lang="sl-SI" sz="1400" dirty="0">
                <a:solidFill>
                  <a:srgbClr val="556670"/>
                </a:solidFill>
                <a:latin typeface="Roboto Condensed" panose="02000000000000000000" pitchFamily="2" charset="0"/>
                <a:ea typeface="Roboto Condensed" panose="02000000000000000000" pitchFamily="2" charset="0"/>
              </a:rPr>
              <a:t> </a:t>
            </a:r>
            <a:r>
              <a:rPr lang="sl-SI" sz="1400" dirty="0" err="1">
                <a:solidFill>
                  <a:srgbClr val="556670"/>
                </a:solidFill>
                <a:latin typeface="Roboto Condensed" panose="02000000000000000000" pitchFamily="2" charset="0"/>
                <a:ea typeface="Roboto Condensed" panose="02000000000000000000" pitchFamily="2" charset="0"/>
              </a:rPr>
              <a:t>delivered</a:t>
            </a:r>
            <a:r>
              <a:rPr lang="sl-SI" sz="1400" dirty="0">
                <a:solidFill>
                  <a:srgbClr val="556670"/>
                </a:solidFill>
                <a:latin typeface="Roboto Condensed" panose="02000000000000000000" pitchFamily="2" charset="0"/>
                <a:ea typeface="Roboto Condensed" panose="02000000000000000000" pitchFamily="2" charset="0"/>
              </a:rPr>
              <a:t> in 2026 </a:t>
            </a:r>
            <a:r>
              <a:rPr lang="sl-SI" sz="1400" dirty="0" err="1">
                <a:solidFill>
                  <a:srgbClr val="556670"/>
                </a:solidFill>
                <a:latin typeface="Roboto Condensed" panose="02000000000000000000" pitchFamily="2" charset="0"/>
                <a:ea typeface="Roboto Condensed" panose="02000000000000000000" pitchFamily="2" charset="0"/>
              </a:rPr>
              <a:t>and</a:t>
            </a:r>
            <a:r>
              <a:rPr lang="sl-SI" sz="1400" dirty="0">
                <a:solidFill>
                  <a:srgbClr val="556670"/>
                </a:solidFill>
                <a:latin typeface="Roboto Condensed" panose="02000000000000000000" pitchFamily="2" charset="0"/>
                <a:ea typeface="Roboto Condensed" panose="02000000000000000000" pitchFamily="2" charset="0"/>
              </a:rPr>
              <a:t> 2027 </a:t>
            </a:r>
            <a:endParaRPr sz="1400" b="0" i="0" dirty="0">
              <a:solidFill>
                <a:srgbClr val="556670"/>
              </a:solidFill>
              <a:latin typeface="Roboto Condensed" panose="02000000000000000000" pitchFamily="2" charset="0"/>
              <a:ea typeface="Roboto Condensed" panose="02000000000000000000" pitchFamily="2" charset="0"/>
            </a:endParaRPr>
          </a:p>
        </p:txBody>
      </p:sp>
      <p:sp>
        <p:nvSpPr>
          <p:cNvPr id="29" name="Oval 28"/>
          <p:cNvSpPr/>
          <p:nvPr/>
        </p:nvSpPr>
        <p:spPr>
          <a:xfrm>
            <a:off x="10530687" y="1381954"/>
            <a:ext cx="457200" cy="457200"/>
          </a:xfrm>
          <a:prstGeom prst="ellipse">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0" name="TextBox 29"/>
          <p:cNvSpPr txBox="1"/>
          <p:nvPr/>
        </p:nvSpPr>
        <p:spPr>
          <a:xfrm>
            <a:off x="10530687" y="1462244"/>
            <a:ext cx="457200" cy="296620"/>
          </a:xfrm>
          <a:prstGeom prst="rect">
            <a:avLst/>
          </a:prstGeom>
          <a:noFill/>
        </p:spPr>
        <p:txBody>
          <a:bodyPr wrap="square" lIns="0" tIns="0" rIns="0" bIns="0" anchor="ctr">
            <a:spAutoFit/>
          </a:bodyPr>
          <a:lstStyle/>
          <a:p>
            <a:pPr algn="ctr">
              <a:lnSpc>
                <a:spcPct val="115000"/>
              </a:lnSpc>
            </a:pPr>
            <a:r>
              <a:rPr sz="1800" b="1" i="0">
                <a:solidFill>
                  <a:srgbClr val="FFFFFF"/>
                </a:solidFill>
                <a:latin typeface="Roboto Condensed" panose="02000000000000000000" pitchFamily="2" charset="0"/>
                <a:ea typeface="Roboto Condensed" panose="02000000000000000000" pitchFamily="2" charset="0"/>
              </a:rPr>
              <a:t>5</a:t>
            </a:r>
          </a:p>
        </p:txBody>
      </p:sp>
      <p:sp>
        <p:nvSpPr>
          <p:cNvPr id="31" name="Rounded Rectangle 30"/>
          <p:cNvSpPr/>
          <p:nvPr/>
        </p:nvSpPr>
        <p:spPr>
          <a:xfrm>
            <a:off x="9639147" y="2067754"/>
            <a:ext cx="2240280" cy="2971799"/>
          </a:xfrm>
          <a:prstGeom prst="roundRect">
            <a:avLst>
              <a:gd name="adj" fmla="val 5000"/>
            </a:avLst>
          </a:prstGeom>
          <a:solidFill>
            <a:srgbClr val="FFFFFF"/>
          </a:solidFill>
          <a:ln w="9525">
            <a:solidFill>
              <a:srgbClr val="D8E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2" name="TextBox 31"/>
          <p:cNvSpPr txBox="1"/>
          <p:nvPr/>
        </p:nvSpPr>
        <p:spPr>
          <a:xfrm>
            <a:off x="9822027" y="2204914"/>
            <a:ext cx="1874520" cy="499817"/>
          </a:xfrm>
          <a:prstGeom prst="rect">
            <a:avLst/>
          </a:prstGeom>
          <a:noFill/>
        </p:spPr>
        <p:txBody>
          <a:bodyPr wrap="square" lIns="0" tIns="0" rIns="0" bIns="0" anchor="t">
            <a:spAutoFit/>
          </a:bodyPr>
          <a:lstStyle/>
          <a:p>
            <a:pPr algn="ctr">
              <a:lnSpc>
                <a:spcPct val="120000"/>
              </a:lnSpc>
            </a:pPr>
            <a:r>
              <a:rPr sz="1400" b="1" i="0" dirty="0">
                <a:solidFill>
                  <a:srgbClr val="145B6E"/>
                </a:solidFill>
                <a:latin typeface="Roboto Condensed" panose="02000000000000000000" pitchFamily="2" charset="0"/>
                <a:ea typeface="Roboto Condensed" panose="02000000000000000000" pitchFamily="2" charset="0"/>
              </a:rPr>
              <a:t>M12</a:t>
            </a:r>
          </a:p>
          <a:p>
            <a:pPr algn="ctr">
              <a:lnSpc>
                <a:spcPct val="120000"/>
              </a:lnSpc>
            </a:pPr>
            <a:r>
              <a:rPr sz="1400" b="1" i="0" dirty="0">
                <a:solidFill>
                  <a:srgbClr val="145B6E"/>
                </a:solidFill>
                <a:latin typeface="Roboto Condensed" panose="02000000000000000000" pitchFamily="2" charset="0"/>
                <a:ea typeface="Roboto Condensed" panose="02000000000000000000" pitchFamily="2" charset="0"/>
              </a:rPr>
              <a:t>Aug 2026</a:t>
            </a:r>
          </a:p>
        </p:txBody>
      </p:sp>
      <p:sp>
        <p:nvSpPr>
          <p:cNvPr id="33" name="TextBox 32"/>
          <p:cNvSpPr txBox="1"/>
          <p:nvPr/>
        </p:nvSpPr>
        <p:spPr>
          <a:xfrm>
            <a:off x="9822027" y="2936434"/>
            <a:ext cx="1874520" cy="571182"/>
          </a:xfrm>
          <a:prstGeom prst="rect">
            <a:avLst/>
          </a:prstGeom>
          <a:noFill/>
        </p:spPr>
        <p:txBody>
          <a:bodyPr wrap="square" lIns="0" tIns="0" rIns="0" bIns="0" anchor="t">
            <a:spAutoFit/>
          </a:bodyPr>
          <a:lstStyle/>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Deliverable D6.1</a:t>
            </a:r>
          </a:p>
          <a:p>
            <a:pPr algn="ctr">
              <a:lnSpc>
                <a:spcPct val="120000"/>
              </a:lnSpc>
            </a:pPr>
            <a:r>
              <a:rPr sz="1600" b="1" i="0" dirty="0">
                <a:solidFill>
                  <a:srgbClr val="1C2B33"/>
                </a:solidFill>
                <a:latin typeface="Roboto Condensed" panose="02000000000000000000" pitchFamily="2" charset="0"/>
                <a:ea typeface="Roboto Condensed" panose="02000000000000000000" pitchFamily="2" charset="0"/>
              </a:rPr>
              <a:t>+ first-year catalogue</a:t>
            </a:r>
          </a:p>
        </p:txBody>
      </p:sp>
      <p:sp>
        <p:nvSpPr>
          <p:cNvPr id="34" name="TextBox 33"/>
          <p:cNvSpPr txBox="1"/>
          <p:nvPr/>
        </p:nvSpPr>
        <p:spPr>
          <a:xfrm>
            <a:off x="9822027" y="3987994"/>
            <a:ext cx="1874520" cy="817596"/>
          </a:xfrm>
          <a:prstGeom prst="rect">
            <a:avLst/>
          </a:prstGeom>
          <a:noFill/>
        </p:spPr>
        <p:txBody>
          <a:bodyPr wrap="square" lIns="0" tIns="0" rIns="0" bIns="0" anchor="t">
            <a:spAutoFit/>
          </a:bodyPr>
          <a:lstStyle/>
          <a:p>
            <a:pPr algn="ctr">
              <a:lnSpc>
                <a:spcPct val="130000"/>
              </a:lnSpc>
            </a:pPr>
            <a:r>
              <a:rPr sz="1400" b="0" i="0" dirty="0">
                <a:solidFill>
                  <a:srgbClr val="556670"/>
                </a:solidFill>
                <a:latin typeface="Roboto Condensed" panose="02000000000000000000" pitchFamily="2" charset="0"/>
                <a:ea typeface="Roboto Condensed" panose="02000000000000000000" pitchFamily="2" charset="0"/>
              </a:rPr>
              <a:t>First-year progress report; micro-credentials open for enrolment</a:t>
            </a:r>
          </a:p>
        </p:txBody>
      </p:sp>
      <p:sp>
        <p:nvSpPr>
          <p:cNvPr id="35" name="Rounded Rectangle 34"/>
          <p:cNvSpPr/>
          <p:nvPr/>
        </p:nvSpPr>
        <p:spPr>
          <a:xfrm>
            <a:off x="502920" y="5227287"/>
            <a:ext cx="11201400" cy="1217605"/>
          </a:xfrm>
          <a:prstGeom prst="roundRect">
            <a:avLst>
              <a:gd name="adj" fmla="val 12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6" name="TextBox 35"/>
          <p:cNvSpPr txBox="1"/>
          <p:nvPr/>
        </p:nvSpPr>
        <p:spPr>
          <a:xfrm>
            <a:off x="777240" y="5308118"/>
            <a:ext cx="10652760" cy="233205"/>
          </a:xfrm>
          <a:prstGeom prst="rect">
            <a:avLst/>
          </a:prstGeom>
          <a:noFill/>
        </p:spPr>
        <p:txBody>
          <a:bodyPr wrap="square" lIns="0" tIns="0" rIns="0" bIns="0" anchor="t">
            <a:spAutoFit/>
          </a:bodyPr>
          <a:lstStyle/>
          <a:p>
            <a:pPr algn="l">
              <a:lnSpc>
                <a:spcPct val="115000"/>
              </a:lnSpc>
            </a:pPr>
            <a:r>
              <a:rPr sz="1400" b="1" i="0" dirty="0">
                <a:solidFill>
                  <a:srgbClr val="145B6E"/>
                </a:solidFill>
                <a:latin typeface="Roboto Condensed" panose="02000000000000000000" pitchFamily="2" charset="0"/>
                <a:ea typeface="Roboto Condensed" panose="02000000000000000000" pitchFamily="2" charset="0"/>
              </a:rPr>
              <a:t>Phase transition</a:t>
            </a:r>
          </a:p>
        </p:txBody>
      </p:sp>
      <p:sp>
        <p:nvSpPr>
          <p:cNvPr id="37" name="TextBox 36"/>
          <p:cNvSpPr txBox="1"/>
          <p:nvPr/>
        </p:nvSpPr>
        <p:spPr>
          <a:xfrm>
            <a:off x="777240" y="5609870"/>
            <a:ext cx="10652760" cy="1054776"/>
          </a:xfrm>
          <a:prstGeom prst="rect">
            <a:avLst/>
          </a:prstGeom>
          <a:noFill/>
        </p:spPr>
        <p:txBody>
          <a:bodyPr wrap="square" lIns="0" tIns="0" rIns="0" bIns="0" anchor="t">
            <a:spAutoFit/>
          </a:bodyPr>
          <a:lstStyle/>
          <a:p>
            <a:pPr>
              <a:lnSpc>
                <a:spcPct val="125000"/>
              </a:lnSpc>
            </a:pPr>
            <a:r>
              <a:rPr sz="1400" b="0" i="1" dirty="0">
                <a:solidFill>
                  <a:srgbClr val="1C2B33"/>
                </a:solidFill>
                <a:latin typeface="Roboto Condensed" panose="02000000000000000000" pitchFamily="2" charset="0"/>
                <a:ea typeface="Roboto Condensed" panose="02000000000000000000" pitchFamily="2" charset="0"/>
              </a:rPr>
              <a:t>We are shifting from training-</a:t>
            </a:r>
            <a:r>
              <a:rPr sz="1400" b="0" i="1" dirty="0" err="1">
                <a:solidFill>
                  <a:srgbClr val="1C2B33"/>
                </a:solidFill>
                <a:latin typeface="Roboto Condensed" panose="02000000000000000000" pitchFamily="2" charset="0"/>
                <a:ea typeface="Roboto Condensed" panose="02000000000000000000" pitchFamily="2" charset="0"/>
              </a:rPr>
              <a:t>programme</a:t>
            </a:r>
            <a:r>
              <a:rPr sz="1400" b="0" i="1" dirty="0">
                <a:solidFill>
                  <a:srgbClr val="1C2B33"/>
                </a:solidFill>
                <a:latin typeface="Roboto Condensed" panose="02000000000000000000" pitchFamily="2" charset="0"/>
                <a:ea typeface="Roboto Condensed" panose="02000000000000000000" pitchFamily="2" charset="0"/>
              </a:rPr>
              <a:t> design to training-</a:t>
            </a:r>
            <a:r>
              <a:rPr sz="1400" b="0" i="1" dirty="0" err="1">
                <a:solidFill>
                  <a:srgbClr val="1C2B33"/>
                </a:solidFill>
                <a:latin typeface="Roboto Condensed" panose="02000000000000000000" pitchFamily="2" charset="0"/>
                <a:ea typeface="Roboto Condensed" panose="02000000000000000000" pitchFamily="2" charset="0"/>
              </a:rPr>
              <a:t>programme</a:t>
            </a:r>
            <a:r>
              <a:rPr sz="1400" b="0" i="1" dirty="0">
                <a:solidFill>
                  <a:srgbClr val="1C2B33"/>
                </a:solidFill>
                <a:latin typeface="Roboto Condensed" panose="02000000000000000000" pitchFamily="2" charset="0"/>
                <a:ea typeface="Roboto Condensed" panose="02000000000000000000" pitchFamily="2" charset="0"/>
              </a:rPr>
              <a:t> delivery. Infrastructure, governance and partner network are ready — the next seven months are about volume, feedback, and iteration.</a:t>
            </a:r>
            <a:r>
              <a:rPr lang="sl-SI" sz="1400" b="0" i="1" dirty="0">
                <a:solidFill>
                  <a:srgbClr val="1C2B33"/>
                </a:solidFill>
                <a:latin typeface="Roboto Condensed" panose="02000000000000000000" pitchFamily="2" charset="0"/>
                <a:ea typeface="Roboto Condensed" panose="02000000000000000000" pitchFamily="2" charset="0"/>
              </a:rPr>
              <a:t> </a:t>
            </a:r>
          </a:p>
          <a:p>
            <a:pPr>
              <a:lnSpc>
                <a:spcPct val="125000"/>
              </a:lnSpc>
            </a:pPr>
            <a:r>
              <a:rPr lang="en-US" sz="1400" i="1" dirty="0">
                <a:solidFill>
                  <a:srgbClr val="1C2B33"/>
                </a:solidFill>
                <a:latin typeface="Roboto Condensed" panose="02000000000000000000" pitchFamily="2" charset="0"/>
                <a:ea typeface="Roboto Condensed" panose="02000000000000000000" pitchFamily="2" charset="0"/>
              </a:rPr>
              <a:t>Priority 1: HPC hands-on trainings</a:t>
            </a:r>
            <a:r>
              <a:rPr lang="sl-SI" sz="1400" i="1" dirty="0">
                <a:solidFill>
                  <a:srgbClr val="1C2B33"/>
                </a:solidFill>
                <a:latin typeface="Roboto Condensed" panose="02000000000000000000" pitchFamily="2" charset="0"/>
                <a:ea typeface="Roboto Condensed" panose="02000000000000000000" pitchFamily="2" charset="0"/>
              </a:rPr>
              <a:t>; </a:t>
            </a:r>
            <a:r>
              <a:rPr lang="en-US" sz="1400" i="1" dirty="0">
                <a:solidFill>
                  <a:srgbClr val="1C2B33"/>
                </a:solidFill>
                <a:latin typeface="Roboto Condensed" panose="02000000000000000000" pitchFamily="2" charset="0"/>
                <a:ea typeface="Roboto Condensed" panose="02000000000000000000" pitchFamily="2" charset="0"/>
              </a:rPr>
              <a:t>Priority </a:t>
            </a:r>
            <a:r>
              <a:rPr lang="sl-SI" sz="1400" i="1" dirty="0">
                <a:solidFill>
                  <a:srgbClr val="1C2B33"/>
                </a:solidFill>
                <a:latin typeface="Roboto Condensed" panose="02000000000000000000" pitchFamily="2" charset="0"/>
                <a:ea typeface="Roboto Condensed" panose="02000000000000000000" pitchFamily="2" charset="0"/>
              </a:rPr>
              <a:t>2</a:t>
            </a:r>
            <a:r>
              <a:rPr lang="en-US" sz="1400" i="1" dirty="0">
                <a:solidFill>
                  <a:srgbClr val="1C2B33"/>
                </a:solidFill>
                <a:latin typeface="Roboto Condensed" panose="02000000000000000000" pitchFamily="2" charset="0"/>
                <a:ea typeface="Roboto Condensed" panose="02000000000000000000" pitchFamily="2" charset="0"/>
              </a:rPr>
              <a:t>: SME onboarding</a:t>
            </a:r>
            <a:r>
              <a:rPr lang="sl-SI" sz="1400" i="1" dirty="0">
                <a:solidFill>
                  <a:srgbClr val="1C2B33"/>
                </a:solidFill>
                <a:latin typeface="Roboto Condensed" panose="02000000000000000000" pitchFamily="2" charset="0"/>
                <a:ea typeface="Roboto Condensed" panose="02000000000000000000" pitchFamily="2" charset="0"/>
              </a:rPr>
              <a:t>; </a:t>
            </a:r>
            <a:r>
              <a:rPr lang="sl-SI" sz="1400" i="1" dirty="0" err="1">
                <a:solidFill>
                  <a:srgbClr val="1C2B33"/>
                </a:solidFill>
                <a:latin typeface="Roboto Condensed" panose="02000000000000000000" pitchFamily="2" charset="0"/>
                <a:ea typeface="Roboto Condensed" panose="02000000000000000000" pitchFamily="2" charset="0"/>
              </a:rPr>
              <a:t>Priority</a:t>
            </a:r>
            <a:r>
              <a:rPr lang="sl-SI" sz="1400" i="1" dirty="0">
                <a:solidFill>
                  <a:srgbClr val="1C2B33"/>
                </a:solidFill>
                <a:latin typeface="Roboto Condensed" panose="02000000000000000000" pitchFamily="2" charset="0"/>
                <a:ea typeface="Roboto Condensed" panose="02000000000000000000" pitchFamily="2" charset="0"/>
              </a:rPr>
              <a:t> 3: </a:t>
            </a:r>
            <a:r>
              <a:rPr lang="sl-SI" sz="1400" i="1" dirty="0" err="1">
                <a:solidFill>
                  <a:srgbClr val="1C2B33"/>
                </a:solidFill>
                <a:latin typeface="Roboto Condensed" panose="02000000000000000000" pitchFamily="2" charset="0"/>
                <a:ea typeface="Roboto Condensed" panose="02000000000000000000" pitchFamily="2" charset="0"/>
              </a:rPr>
              <a:t>micro-credential</a:t>
            </a:r>
            <a:r>
              <a:rPr lang="sl-SI" sz="1400" i="1" dirty="0">
                <a:solidFill>
                  <a:srgbClr val="1C2B33"/>
                </a:solidFill>
                <a:latin typeface="Roboto Condensed" panose="02000000000000000000" pitchFamily="2" charset="0"/>
                <a:ea typeface="Roboto Condensed" panose="02000000000000000000" pitchFamily="2" charset="0"/>
              </a:rPr>
              <a:t> </a:t>
            </a:r>
            <a:r>
              <a:rPr lang="sl-SI" sz="1400" i="1" dirty="0" err="1">
                <a:solidFill>
                  <a:srgbClr val="1C2B33"/>
                </a:solidFill>
                <a:latin typeface="Roboto Condensed" panose="02000000000000000000" pitchFamily="2" charset="0"/>
                <a:ea typeface="Roboto Condensed" panose="02000000000000000000" pitchFamily="2" charset="0"/>
              </a:rPr>
              <a:t>courses</a:t>
            </a:r>
            <a:r>
              <a:rPr lang="sl-SI" sz="1400" i="1" dirty="0">
                <a:solidFill>
                  <a:srgbClr val="1C2B33"/>
                </a:solidFill>
                <a:latin typeface="Roboto Condensed" panose="02000000000000000000" pitchFamily="2" charset="0"/>
                <a:ea typeface="Roboto Condensed" panose="02000000000000000000" pitchFamily="2" charset="0"/>
              </a:rPr>
              <a:t>; </a:t>
            </a:r>
            <a:br>
              <a:rPr lang="sl-SI" sz="1400" b="0" i="1" dirty="0">
                <a:solidFill>
                  <a:srgbClr val="1C2B33"/>
                </a:solidFill>
                <a:latin typeface="Roboto Condensed" panose="02000000000000000000" pitchFamily="2" charset="0"/>
                <a:ea typeface="Roboto Condensed" panose="02000000000000000000" pitchFamily="2" charset="0"/>
              </a:rPr>
            </a:br>
            <a:endParaRPr sz="1400" b="0" i="1" dirty="0">
              <a:solidFill>
                <a:srgbClr val="1C2B33"/>
              </a:solidFill>
              <a:latin typeface="Roboto Condensed" panose="02000000000000000000" pitchFamily="2" charset="0"/>
              <a:ea typeface="Roboto Condensed" panose="02000000000000000000" pitchFamily="2" charset="0"/>
            </a:endParaRPr>
          </a:p>
        </p:txBody>
      </p:sp>
      <p:sp>
        <p:nvSpPr>
          <p:cNvPr id="38" name="Date Placeholder 1">
            <a:extLst>
              <a:ext uri="{FF2B5EF4-FFF2-40B4-BE49-F238E27FC236}">
                <a16:creationId xmlns:a16="http://schemas.microsoft.com/office/drawing/2014/main" id="{7F12E952-E93E-4146-82C9-8C908D1385CA}"/>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latin typeface="Roboto Condensed" panose="02000000000000000000" pitchFamily="2" charset="0"/>
                <a:ea typeface="Roboto Condensed" panose="02000000000000000000" pitchFamily="2" charset="0"/>
              </a:rPr>
              <a:t>4/22/2026</a:t>
            </a:fld>
            <a:endParaRPr lang="en-US" dirty="0">
              <a:latin typeface="Roboto Condensed" panose="02000000000000000000" pitchFamily="2" charset="0"/>
              <a:ea typeface="Roboto Condensed" panose="02000000000000000000" pitchFamily="2" charset="0"/>
            </a:endParaRPr>
          </a:p>
        </p:txBody>
      </p:sp>
      <p:sp>
        <p:nvSpPr>
          <p:cNvPr id="39" name="Footer Placeholder 2">
            <a:extLst>
              <a:ext uri="{FF2B5EF4-FFF2-40B4-BE49-F238E27FC236}">
                <a16:creationId xmlns:a16="http://schemas.microsoft.com/office/drawing/2014/main" id="{F880C903-39C9-4671-B237-70886CB19D03}"/>
              </a:ext>
            </a:extLst>
          </p:cNvPr>
          <p:cNvSpPr>
            <a:spLocks noGrp="1"/>
          </p:cNvSpPr>
          <p:nvPr>
            <p:ph type="ftr" sz="quarter" idx="11"/>
          </p:nvPr>
        </p:nvSpPr>
        <p:spPr>
          <a:xfrm>
            <a:off x="4038598" y="6356349"/>
            <a:ext cx="4114800" cy="365124"/>
          </a:xfrm>
        </p:spPr>
        <p:txBody>
          <a:bodyPr/>
          <a:lstStyle/>
          <a:p>
            <a:pPr>
              <a:defRPr/>
            </a:pPr>
            <a:r>
              <a:rPr lang="sl-SI" dirty="0">
                <a:latin typeface="Roboto Condensed" panose="02000000000000000000" pitchFamily="2" charset="0"/>
                <a:ea typeface="Roboto Condensed" panose="02000000000000000000" pitchFamily="2" charset="0"/>
              </a:rPr>
              <a:t>SLAIF WP6 – AI </a:t>
            </a:r>
            <a:r>
              <a:rPr lang="sl-SI" dirty="0" err="1">
                <a:latin typeface="Roboto Condensed" panose="02000000000000000000" pitchFamily="2" charset="0"/>
                <a:ea typeface="Roboto Condensed" panose="02000000000000000000" pitchFamily="2" charset="0"/>
              </a:rPr>
              <a:t>Skills</a:t>
            </a:r>
            <a:r>
              <a:rPr lang="sl-SI" dirty="0">
                <a:latin typeface="Roboto Condensed" panose="02000000000000000000" pitchFamily="2" charset="0"/>
                <a:ea typeface="Roboto Condensed" panose="02000000000000000000" pitchFamily="2" charset="0"/>
              </a:rPr>
              <a:t> &amp; </a:t>
            </a:r>
            <a:r>
              <a:rPr lang="sl-SI" dirty="0" err="1">
                <a:latin typeface="Roboto Condensed" panose="02000000000000000000" pitchFamily="2" charset="0"/>
                <a:ea typeface="Roboto Condensed" panose="02000000000000000000" pitchFamily="2" charset="0"/>
              </a:rPr>
              <a:t>Training</a:t>
            </a:r>
            <a:endParaRPr lang="en-US" dirty="0">
              <a:latin typeface="Roboto Condensed" panose="02000000000000000000" pitchFamily="2" charset="0"/>
              <a:ea typeface="Roboto Condensed" panose="02000000000000000000" pitchFamily="2" charset="0"/>
            </a:endParaRPr>
          </a:p>
        </p:txBody>
      </p:sp>
      <p:sp>
        <p:nvSpPr>
          <p:cNvPr id="40" name="Slide Number Placeholder 3">
            <a:extLst>
              <a:ext uri="{FF2B5EF4-FFF2-40B4-BE49-F238E27FC236}">
                <a16:creationId xmlns:a16="http://schemas.microsoft.com/office/drawing/2014/main" id="{B621F1E4-C298-42A0-BF83-B30C4ACFD6D1}"/>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latin typeface="Roboto Condensed" panose="02000000000000000000" pitchFamily="2" charset="0"/>
                <a:ea typeface="Roboto Condensed" panose="02000000000000000000" pitchFamily="2" charset="0"/>
              </a:rPr>
              <a:t>16</a:t>
            </a:fld>
            <a:endParaRPr lang="en-US" dirty="0">
              <a:latin typeface="Roboto Condensed" panose="02000000000000000000" pitchFamily="2" charset="0"/>
              <a:ea typeface="Roboto Condensed" panose="02000000000000000000" pitchFamily="2"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247120" cy="527324"/>
          </a:xfrm>
          <a:prstGeom prst="rect">
            <a:avLst/>
          </a:prstGeom>
          <a:noFill/>
        </p:spPr>
        <p:txBody>
          <a:bodyPr wrap="square" lIns="0" tIns="0" rIns="0" bIns="0" anchor="t">
            <a:spAutoFit/>
          </a:bodyPr>
          <a:lstStyle/>
          <a:p>
            <a:pPr algn="l">
              <a:lnSpc>
                <a:spcPct val="115000"/>
              </a:lnSpc>
            </a:pPr>
            <a:r>
              <a:rPr sz="3200" b="1" i="0" dirty="0">
                <a:solidFill>
                  <a:srgbClr val="145B6E"/>
                </a:solidFill>
                <a:latin typeface="+mj-lt"/>
              </a:rPr>
              <a:t>KPIs driven by WP6</a:t>
            </a:r>
          </a:p>
        </p:txBody>
      </p:sp>
      <p:sp>
        <p:nvSpPr>
          <p:cNvPr id="3" name="TextBox 2"/>
          <p:cNvSpPr txBox="1"/>
          <p:nvPr/>
        </p:nvSpPr>
        <p:spPr>
          <a:xfrm>
            <a:off x="502920" y="1005840"/>
            <a:ext cx="11247120" cy="263662"/>
          </a:xfrm>
          <a:prstGeom prst="rect">
            <a:avLst/>
          </a:prstGeom>
          <a:noFill/>
        </p:spPr>
        <p:txBody>
          <a:bodyPr wrap="square" lIns="0" tIns="0" rIns="0" bIns="0" anchor="t">
            <a:spAutoFit/>
          </a:bodyPr>
          <a:lstStyle/>
          <a:p>
            <a:pPr algn="l">
              <a:lnSpc>
                <a:spcPct val="115000"/>
              </a:lnSpc>
            </a:pPr>
            <a:r>
              <a:rPr sz="1600" b="0" i="1">
                <a:solidFill>
                  <a:srgbClr val="556670"/>
                </a:solidFill>
              </a:rPr>
              <a:t>Six mandatory and eight non-mandatory KPIs — several already showing early contributions</a:t>
            </a:r>
          </a:p>
        </p:txBody>
      </p:sp>
      <p:sp>
        <p:nvSpPr>
          <p:cNvPr id="4" name="Rectangle 3"/>
          <p:cNvSpPr/>
          <p:nvPr/>
        </p:nvSpPr>
        <p:spPr>
          <a:xfrm>
            <a:off x="502920" y="1719072"/>
            <a:ext cx="11201400" cy="411480"/>
          </a:xfrm>
          <a:prstGeom prst="rect">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640080" y="1792981"/>
            <a:ext cx="822960" cy="263662"/>
          </a:xfrm>
          <a:prstGeom prst="rect">
            <a:avLst/>
          </a:prstGeom>
          <a:noFill/>
        </p:spPr>
        <p:txBody>
          <a:bodyPr wrap="square" lIns="0" tIns="0" rIns="0" bIns="0" anchor="ctr">
            <a:spAutoFit/>
          </a:bodyPr>
          <a:lstStyle/>
          <a:p>
            <a:pPr algn="l">
              <a:lnSpc>
                <a:spcPct val="115000"/>
              </a:lnSpc>
            </a:pPr>
            <a:r>
              <a:rPr sz="1600" b="1" i="0">
                <a:solidFill>
                  <a:srgbClr val="FFFFFF"/>
                </a:solidFill>
              </a:rPr>
              <a:t>KPI</a:t>
            </a:r>
          </a:p>
        </p:txBody>
      </p:sp>
      <p:sp>
        <p:nvSpPr>
          <p:cNvPr id="6" name="TextBox 5"/>
          <p:cNvSpPr txBox="1"/>
          <p:nvPr/>
        </p:nvSpPr>
        <p:spPr>
          <a:xfrm>
            <a:off x="1554480" y="1792981"/>
            <a:ext cx="3200400" cy="263662"/>
          </a:xfrm>
          <a:prstGeom prst="rect">
            <a:avLst/>
          </a:prstGeom>
          <a:noFill/>
        </p:spPr>
        <p:txBody>
          <a:bodyPr wrap="square" lIns="0" tIns="0" rIns="0" bIns="0" anchor="ctr">
            <a:spAutoFit/>
          </a:bodyPr>
          <a:lstStyle/>
          <a:p>
            <a:pPr algn="l">
              <a:lnSpc>
                <a:spcPct val="115000"/>
              </a:lnSpc>
            </a:pPr>
            <a:r>
              <a:rPr sz="1600" b="1" i="0">
                <a:solidFill>
                  <a:srgbClr val="FFFFFF"/>
                </a:solidFill>
              </a:rPr>
              <a:t>Indicator</a:t>
            </a:r>
          </a:p>
        </p:txBody>
      </p:sp>
      <p:sp>
        <p:nvSpPr>
          <p:cNvPr id="7" name="TextBox 6"/>
          <p:cNvSpPr txBox="1"/>
          <p:nvPr/>
        </p:nvSpPr>
        <p:spPr>
          <a:xfrm>
            <a:off x="5291495" y="1763019"/>
            <a:ext cx="4656221" cy="263662"/>
          </a:xfrm>
          <a:prstGeom prst="rect">
            <a:avLst/>
          </a:prstGeom>
          <a:noFill/>
        </p:spPr>
        <p:txBody>
          <a:bodyPr wrap="square" lIns="0" tIns="0" rIns="0" bIns="0" anchor="ctr">
            <a:spAutoFit/>
          </a:bodyPr>
          <a:lstStyle/>
          <a:p>
            <a:pPr algn="l">
              <a:lnSpc>
                <a:spcPct val="115000"/>
              </a:lnSpc>
            </a:pPr>
            <a:r>
              <a:rPr sz="1600" b="1" i="0" dirty="0">
                <a:solidFill>
                  <a:srgbClr val="FFFFFF"/>
                </a:solidFill>
              </a:rPr>
              <a:t>How WP6 drives it</a:t>
            </a:r>
          </a:p>
        </p:txBody>
      </p:sp>
      <p:sp>
        <p:nvSpPr>
          <p:cNvPr id="8" name="TextBox 7"/>
          <p:cNvSpPr txBox="1"/>
          <p:nvPr/>
        </p:nvSpPr>
        <p:spPr>
          <a:xfrm>
            <a:off x="10149840" y="1792981"/>
            <a:ext cx="1554480" cy="263662"/>
          </a:xfrm>
          <a:prstGeom prst="rect">
            <a:avLst/>
          </a:prstGeom>
          <a:noFill/>
        </p:spPr>
        <p:txBody>
          <a:bodyPr wrap="square" lIns="0" tIns="0" rIns="0" bIns="0" anchor="ctr">
            <a:spAutoFit/>
          </a:bodyPr>
          <a:lstStyle/>
          <a:p>
            <a:pPr algn="l">
              <a:lnSpc>
                <a:spcPct val="115000"/>
              </a:lnSpc>
            </a:pPr>
            <a:r>
              <a:rPr sz="1600" b="1" i="0">
                <a:solidFill>
                  <a:srgbClr val="FFFFFF"/>
                </a:solidFill>
              </a:rPr>
              <a:t>M1–M7 status</a:t>
            </a:r>
          </a:p>
        </p:txBody>
      </p:sp>
      <p:sp>
        <p:nvSpPr>
          <p:cNvPr id="9" name="Rectangle 8"/>
          <p:cNvSpPr/>
          <p:nvPr/>
        </p:nvSpPr>
        <p:spPr>
          <a:xfrm>
            <a:off x="502920" y="2130552"/>
            <a:ext cx="11201400" cy="356616"/>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640080" y="2177029"/>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5</a:t>
            </a:r>
          </a:p>
        </p:txBody>
      </p:sp>
      <p:sp>
        <p:nvSpPr>
          <p:cNvPr id="11" name="TextBox 10"/>
          <p:cNvSpPr txBox="1"/>
          <p:nvPr/>
        </p:nvSpPr>
        <p:spPr>
          <a:xfrm>
            <a:off x="1554480" y="2193508"/>
            <a:ext cx="3200400" cy="230704"/>
          </a:xfrm>
          <a:prstGeom prst="rect">
            <a:avLst/>
          </a:prstGeom>
          <a:noFill/>
        </p:spPr>
        <p:txBody>
          <a:bodyPr wrap="square" lIns="0" tIns="0" rIns="0" bIns="0" anchor="ctr">
            <a:spAutoFit/>
          </a:bodyPr>
          <a:lstStyle/>
          <a:p>
            <a:pPr algn="l">
              <a:lnSpc>
                <a:spcPct val="115000"/>
              </a:lnSpc>
            </a:pPr>
            <a:r>
              <a:rPr sz="1400" b="1" i="0" dirty="0">
                <a:solidFill>
                  <a:srgbClr val="1C2B33"/>
                </a:solidFill>
              </a:rPr>
              <a:t>AI training sessions provided</a:t>
            </a:r>
          </a:p>
        </p:txBody>
      </p:sp>
      <p:sp>
        <p:nvSpPr>
          <p:cNvPr id="12" name="TextBox 11"/>
          <p:cNvSpPr txBox="1"/>
          <p:nvPr/>
        </p:nvSpPr>
        <p:spPr>
          <a:xfrm>
            <a:off x="5291495" y="2189388"/>
            <a:ext cx="4656221" cy="197746"/>
          </a:xfrm>
          <a:prstGeom prst="rect">
            <a:avLst/>
          </a:prstGeom>
          <a:noFill/>
        </p:spPr>
        <p:txBody>
          <a:bodyPr wrap="square" lIns="0" tIns="0" rIns="0" bIns="0" anchor="ctr">
            <a:spAutoFit/>
          </a:bodyPr>
          <a:lstStyle/>
          <a:p>
            <a:pPr algn="l">
              <a:lnSpc>
                <a:spcPct val="115000"/>
              </a:lnSpc>
            </a:pPr>
            <a:r>
              <a:rPr sz="1200" b="0" i="0" dirty="0">
                <a:solidFill>
                  <a:srgbClr val="556670"/>
                </a:solidFill>
              </a:rPr>
              <a:t>Driven by all 4 tasks; MOOC &amp; train-the-trainer multiply reach</a:t>
            </a:r>
          </a:p>
        </p:txBody>
      </p:sp>
      <p:sp>
        <p:nvSpPr>
          <p:cNvPr id="13" name="TextBox 12"/>
          <p:cNvSpPr txBox="1"/>
          <p:nvPr/>
        </p:nvSpPr>
        <p:spPr>
          <a:xfrm>
            <a:off x="10149840" y="2120891"/>
            <a:ext cx="1554480" cy="375937"/>
          </a:xfrm>
          <a:prstGeom prst="rect">
            <a:avLst/>
          </a:prstGeom>
          <a:noFill/>
        </p:spPr>
        <p:txBody>
          <a:bodyPr wrap="square" lIns="0" tIns="0" rIns="0" bIns="0" anchor="ctr">
            <a:spAutoFit/>
          </a:bodyPr>
          <a:lstStyle/>
          <a:p>
            <a:pPr algn="l">
              <a:lnSpc>
                <a:spcPct val="115000"/>
              </a:lnSpc>
            </a:pPr>
            <a:r>
              <a:rPr lang="sl-SI" sz="1100" b="1" i="1" dirty="0">
                <a:solidFill>
                  <a:srgbClr val="6F921E"/>
                </a:solidFill>
              </a:rPr>
              <a:t>First </a:t>
            </a:r>
            <a:r>
              <a:rPr lang="sl-SI" sz="1100" b="1" i="1" dirty="0" err="1">
                <a:solidFill>
                  <a:srgbClr val="6F921E"/>
                </a:solidFill>
              </a:rPr>
              <a:t>trainings</a:t>
            </a:r>
            <a:r>
              <a:rPr lang="sl-SI" sz="1100" b="1" i="1" dirty="0">
                <a:solidFill>
                  <a:srgbClr val="6F921E"/>
                </a:solidFill>
              </a:rPr>
              <a:t> </a:t>
            </a:r>
            <a:r>
              <a:rPr lang="sl-SI" sz="1100" b="1" i="1" dirty="0" err="1">
                <a:solidFill>
                  <a:srgbClr val="6F921E"/>
                </a:solidFill>
              </a:rPr>
              <a:t>already</a:t>
            </a:r>
            <a:r>
              <a:rPr lang="sl-SI" sz="1100" b="1" i="1" dirty="0">
                <a:solidFill>
                  <a:srgbClr val="6F921E"/>
                </a:solidFill>
              </a:rPr>
              <a:t> </a:t>
            </a:r>
            <a:r>
              <a:rPr lang="sl-SI" sz="1100" b="1" i="1" dirty="0" err="1">
                <a:solidFill>
                  <a:srgbClr val="6F921E"/>
                </a:solidFill>
              </a:rPr>
              <a:t>started</a:t>
            </a:r>
            <a:endParaRPr sz="1100" b="1" i="1" dirty="0">
              <a:solidFill>
                <a:srgbClr val="6F921E"/>
              </a:solidFill>
            </a:endParaRPr>
          </a:p>
        </p:txBody>
      </p:sp>
      <p:sp>
        <p:nvSpPr>
          <p:cNvPr id="14" name="TextBox 13"/>
          <p:cNvSpPr txBox="1"/>
          <p:nvPr/>
        </p:nvSpPr>
        <p:spPr>
          <a:xfrm>
            <a:off x="640080" y="2533645"/>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10</a:t>
            </a:r>
          </a:p>
        </p:txBody>
      </p:sp>
      <p:sp>
        <p:nvSpPr>
          <p:cNvPr id="15" name="TextBox 14"/>
          <p:cNvSpPr txBox="1"/>
          <p:nvPr/>
        </p:nvSpPr>
        <p:spPr>
          <a:xfrm>
            <a:off x="1554480" y="2550124"/>
            <a:ext cx="3200400" cy="230704"/>
          </a:xfrm>
          <a:prstGeom prst="rect">
            <a:avLst/>
          </a:prstGeom>
          <a:noFill/>
        </p:spPr>
        <p:txBody>
          <a:bodyPr wrap="square" lIns="0" tIns="0" rIns="0" bIns="0" anchor="ctr">
            <a:spAutoFit/>
          </a:bodyPr>
          <a:lstStyle/>
          <a:p>
            <a:pPr algn="l">
              <a:lnSpc>
                <a:spcPct val="115000"/>
              </a:lnSpc>
            </a:pPr>
            <a:r>
              <a:rPr sz="1400" b="1" i="0" dirty="0">
                <a:solidFill>
                  <a:srgbClr val="1C2B33"/>
                </a:solidFill>
              </a:rPr>
              <a:t>AI-dedicated researchers in the AI Factory</a:t>
            </a:r>
          </a:p>
        </p:txBody>
      </p:sp>
      <p:sp>
        <p:nvSpPr>
          <p:cNvPr id="16" name="TextBox 15"/>
          <p:cNvSpPr txBox="1"/>
          <p:nvPr/>
        </p:nvSpPr>
        <p:spPr>
          <a:xfrm>
            <a:off x="5291495" y="2546004"/>
            <a:ext cx="4656221" cy="197746"/>
          </a:xfrm>
          <a:prstGeom prst="rect">
            <a:avLst/>
          </a:prstGeom>
          <a:noFill/>
        </p:spPr>
        <p:txBody>
          <a:bodyPr wrap="square" lIns="0" tIns="0" rIns="0" bIns="0" anchor="ctr">
            <a:spAutoFit/>
          </a:bodyPr>
          <a:lstStyle/>
          <a:p>
            <a:pPr algn="l">
              <a:lnSpc>
                <a:spcPct val="115000"/>
              </a:lnSpc>
            </a:pPr>
            <a:r>
              <a:rPr sz="1200" b="0" i="0">
                <a:solidFill>
                  <a:srgbClr val="556670"/>
                </a:solidFill>
              </a:rPr>
              <a:t>T6.1 talent pipeline · T6.3 industry practitioners · T6.4 onboarded users</a:t>
            </a:r>
          </a:p>
        </p:txBody>
      </p:sp>
      <p:sp>
        <p:nvSpPr>
          <p:cNvPr id="17" name="TextBox 16"/>
          <p:cNvSpPr txBox="1"/>
          <p:nvPr/>
        </p:nvSpPr>
        <p:spPr>
          <a:xfrm>
            <a:off x="10149840" y="2477507"/>
            <a:ext cx="1554480" cy="375937"/>
          </a:xfrm>
          <a:prstGeom prst="rect">
            <a:avLst/>
          </a:prstGeom>
          <a:noFill/>
        </p:spPr>
        <p:txBody>
          <a:bodyPr wrap="square" lIns="0" tIns="0" rIns="0" bIns="0" anchor="ctr">
            <a:spAutoFit/>
          </a:bodyPr>
          <a:lstStyle/>
          <a:p>
            <a:pPr algn="l">
              <a:lnSpc>
                <a:spcPct val="115000"/>
              </a:lnSpc>
            </a:pPr>
            <a:r>
              <a:rPr sz="1100" b="1" i="1">
                <a:solidFill>
                  <a:srgbClr val="6F921E"/>
                </a:solidFill>
              </a:rPr>
              <a:t>WP6 is the only WP growing it</a:t>
            </a:r>
          </a:p>
        </p:txBody>
      </p:sp>
      <p:sp>
        <p:nvSpPr>
          <p:cNvPr id="18" name="Rectangle 17"/>
          <p:cNvSpPr/>
          <p:nvPr/>
        </p:nvSpPr>
        <p:spPr>
          <a:xfrm>
            <a:off x="502920" y="2843784"/>
            <a:ext cx="11201400" cy="356616"/>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640080" y="2890261"/>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11</a:t>
            </a:r>
          </a:p>
        </p:txBody>
      </p:sp>
      <p:sp>
        <p:nvSpPr>
          <p:cNvPr id="20" name="TextBox 19"/>
          <p:cNvSpPr txBox="1"/>
          <p:nvPr/>
        </p:nvSpPr>
        <p:spPr>
          <a:xfrm>
            <a:off x="1554479" y="2906740"/>
            <a:ext cx="3465095" cy="230704"/>
          </a:xfrm>
          <a:prstGeom prst="rect">
            <a:avLst/>
          </a:prstGeom>
          <a:noFill/>
        </p:spPr>
        <p:txBody>
          <a:bodyPr wrap="square" lIns="0" tIns="0" rIns="0" bIns="0" anchor="ctr">
            <a:spAutoFit/>
          </a:bodyPr>
          <a:lstStyle/>
          <a:p>
            <a:pPr algn="l">
              <a:lnSpc>
                <a:spcPct val="115000"/>
              </a:lnSpc>
            </a:pPr>
            <a:r>
              <a:rPr sz="1400" b="1" i="0" dirty="0">
                <a:solidFill>
                  <a:srgbClr val="1C2B33"/>
                </a:solidFill>
              </a:rPr>
              <a:t>Students participating in AI Factory activities</a:t>
            </a:r>
          </a:p>
        </p:txBody>
      </p:sp>
      <p:sp>
        <p:nvSpPr>
          <p:cNvPr id="21" name="TextBox 20"/>
          <p:cNvSpPr txBox="1"/>
          <p:nvPr/>
        </p:nvSpPr>
        <p:spPr>
          <a:xfrm>
            <a:off x="5291495" y="2902620"/>
            <a:ext cx="4656221" cy="197746"/>
          </a:xfrm>
          <a:prstGeom prst="rect">
            <a:avLst/>
          </a:prstGeom>
          <a:noFill/>
        </p:spPr>
        <p:txBody>
          <a:bodyPr wrap="square" lIns="0" tIns="0" rIns="0" bIns="0" anchor="ctr">
            <a:spAutoFit/>
          </a:bodyPr>
          <a:lstStyle/>
          <a:p>
            <a:pPr algn="l">
              <a:lnSpc>
                <a:spcPct val="115000"/>
              </a:lnSpc>
            </a:pPr>
            <a:r>
              <a:rPr sz="1200" b="0" i="0" dirty="0">
                <a:solidFill>
                  <a:srgbClr val="556670"/>
                </a:solidFill>
              </a:rPr>
              <a:t>Already &gt;400: 299 at HPC Open Doors + 100 at </a:t>
            </a:r>
            <a:r>
              <a:rPr sz="1200" b="0" i="0" dirty="0" err="1">
                <a:solidFill>
                  <a:srgbClr val="556670"/>
                </a:solidFill>
              </a:rPr>
              <a:t>HackathON</a:t>
            </a:r>
            <a:r>
              <a:rPr sz="1200" b="0" i="0" dirty="0">
                <a:solidFill>
                  <a:srgbClr val="556670"/>
                </a:solidFill>
              </a:rPr>
              <a:t> + 5 PhD course</a:t>
            </a:r>
          </a:p>
        </p:txBody>
      </p:sp>
      <p:sp>
        <p:nvSpPr>
          <p:cNvPr id="22" name="TextBox 21"/>
          <p:cNvSpPr txBox="1"/>
          <p:nvPr/>
        </p:nvSpPr>
        <p:spPr>
          <a:xfrm>
            <a:off x="10149840" y="2931458"/>
            <a:ext cx="1554480" cy="181268"/>
          </a:xfrm>
          <a:prstGeom prst="rect">
            <a:avLst/>
          </a:prstGeom>
          <a:noFill/>
        </p:spPr>
        <p:txBody>
          <a:bodyPr wrap="square" lIns="0" tIns="0" rIns="0" bIns="0" anchor="ctr">
            <a:spAutoFit/>
          </a:bodyPr>
          <a:lstStyle/>
          <a:p>
            <a:pPr algn="l">
              <a:lnSpc>
                <a:spcPct val="115000"/>
              </a:lnSpc>
            </a:pPr>
            <a:r>
              <a:rPr sz="1100" b="1" i="1" dirty="0">
                <a:solidFill>
                  <a:srgbClr val="6F921E"/>
                </a:solidFill>
              </a:rPr>
              <a:t>Early traction</a:t>
            </a:r>
          </a:p>
        </p:txBody>
      </p:sp>
      <p:sp>
        <p:nvSpPr>
          <p:cNvPr id="23" name="TextBox 22"/>
          <p:cNvSpPr txBox="1"/>
          <p:nvPr/>
        </p:nvSpPr>
        <p:spPr>
          <a:xfrm>
            <a:off x="640080" y="3246877"/>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14</a:t>
            </a:r>
          </a:p>
        </p:txBody>
      </p:sp>
      <p:sp>
        <p:nvSpPr>
          <p:cNvPr id="24" name="TextBox 23"/>
          <p:cNvSpPr txBox="1"/>
          <p:nvPr/>
        </p:nvSpPr>
        <p:spPr>
          <a:xfrm>
            <a:off x="1554480" y="3263356"/>
            <a:ext cx="3200400" cy="230704"/>
          </a:xfrm>
          <a:prstGeom prst="rect">
            <a:avLst/>
          </a:prstGeom>
          <a:noFill/>
        </p:spPr>
        <p:txBody>
          <a:bodyPr wrap="square" lIns="0" tIns="0" rIns="0" bIns="0" anchor="ctr">
            <a:spAutoFit/>
          </a:bodyPr>
          <a:lstStyle/>
          <a:p>
            <a:pPr algn="l">
              <a:lnSpc>
                <a:spcPct val="115000"/>
              </a:lnSpc>
            </a:pPr>
            <a:r>
              <a:rPr sz="1400" b="1" i="0">
                <a:solidFill>
                  <a:srgbClr val="1C2B33"/>
                </a:solidFill>
              </a:rPr>
              <a:t>Micro-certifications introduced</a:t>
            </a:r>
          </a:p>
        </p:txBody>
      </p:sp>
      <p:sp>
        <p:nvSpPr>
          <p:cNvPr id="25" name="TextBox 24"/>
          <p:cNvSpPr txBox="1"/>
          <p:nvPr/>
        </p:nvSpPr>
        <p:spPr>
          <a:xfrm>
            <a:off x="5291495" y="3259236"/>
            <a:ext cx="4656221" cy="197746"/>
          </a:xfrm>
          <a:prstGeom prst="rect">
            <a:avLst/>
          </a:prstGeom>
          <a:noFill/>
        </p:spPr>
        <p:txBody>
          <a:bodyPr wrap="square" lIns="0" tIns="0" rIns="0" bIns="0" anchor="ctr">
            <a:spAutoFit/>
          </a:bodyPr>
          <a:lstStyle/>
          <a:p>
            <a:pPr algn="l">
              <a:lnSpc>
                <a:spcPct val="115000"/>
              </a:lnSpc>
            </a:pPr>
            <a:r>
              <a:rPr sz="1200" b="0" i="0">
                <a:solidFill>
                  <a:srgbClr val="556670"/>
                </a:solidFill>
              </a:rPr>
              <a:t>Portfolio across UNG, FIS, UL, UM, UP — all EQF-aligned</a:t>
            </a:r>
          </a:p>
        </p:txBody>
      </p:sp>
      <p:sp>
        <p:nvSpPr>
          <p:cNvPr id="26" name="TextBox 25"/>
          <p:cNvSpPr txBox="1"/>
          <p:nvPr/>
        </p:nvSpPr>
        <p:spPr>
          <a:xfrm>
            <a:off x="10149840" y="3190740"/>
            <a:ext cx="1554480" cy="375937"/>
          </a:xfrm>
          <a:prstGeom prst="rect">
            <a:avLst/>
          </a:prstGeom>
          <a:noFill/>
        </p:spPr>
        <p:txBody>
          <a:bodyPr wrap="square" lIns="0" tIns="0" rIns="0" bIns="0" anchor="ctr">
            <a:spAutoFit/>
          </a:bodyPr>
          <a:lstStyle/>
          <a:p>
            <a:pPr algn="l">
              <a:lnSpc>
                <a:spcPct val="115000"/>
              </a:lnSpc>
            </a:pPr>
            <a:r>
              <a:rPr sz="1100" b="1" i="1">
                <a:solidFill>
                  <a:srgbClr val="6F921E"/>
                </a:solidFill>
              </a:rPr>
              <a:t>First accreditation (UNG) done</a:t>
            </a:r>
          </a:p>
        </p:txBody>
      </p:sp>
      <p:sp>
        <p:nvSpPr>
          <p:cNvPr id="27" name="Rectangle 26"/>
          <p:cNvSpPr/>
          <p:nvPr/>
        </p:nvSpPr>
        <p:spPr>
          <a:xfrm>
            <a:off x="502920" y="3557016"/>
            <a:ext cx="11201400" cy="356616"/>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640080" y="3603493"/>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15</a:t>
            </a:r>
          </a:p>
        </p:txBody>
      </p:sp>
      <p:sp>
        <p:nvSpPr>
          <p:cNvPr id="29" name="TextBox 28"/>
          <p:cNvSpPr txBox="1"/>
          <p:nvPr/>
        </p:nvSpPr>
        <p:spPr>
          <a:xfrm>
            <a:off x="1554480" y="3619972"/>
            <a:ext cx="3200400" cy="230704"/>
          </a:xfrm>
          <a:prstGeom prst="rect">
            <a:avLst/>
          </a:prstGeom>
          <a:noFill/>
        </p:spPr>
        <p:txBody>
          <a:bodyPr wrap="square" lIns="0" tIns="0" rIns="0" bIns="0" anchor="ctr">
            <a:spAutoFit/>
          </a:bodyPr>
          <a:lstStyle/>
          <a:p>
            <a:pPr algn="l">
              <a:lnSpc>
                <a:spcPct val="115000"/>
              </a:lnSpc>
            </a:pPr>
            <a:r>
              <a:rPr sz="1400" b="1" i="0">
                <a:solidFill>
                  <a:srgbClr val="1C2B33"/>
                </a:solidFill>
              </a:rPr>
              <a:t>New university courses on AI Factory topics</a:t>
            </a:r>
          </a:p>
        </p:txBody>
      </p:sp>
      <p:sp>
        <p:nvSpPr>
          <p:cNvPr id="30" name="TextBox 29"/>
          <p:cNvSpPr txBox="1"/>
          <p:nvPr/>
        </p:nvSpPr>
        <p:spPr>
          <a:xfrm>
            <a:off x="5291495" y="3615852"/>
            <a:ext cx="4656221" cy="197746"/>
          </a:xfrm>
          <a:prstGeom prst="rect">
            <a:avLst/>
          </a:prstGeom>
          <a:noFill/>
        </p:spPr>
        <p:txBody>
          <a:bodyPr wrap="square" lIns="0" tIns="0" rIns="0" bIns="0" anchor="ctr">
            <a:spAutoFit/>
          </a:bodyPr>
          <a:lstStyle/>
          <a:p>
            <a:pPr algn="l">
              <a:lnSpc>
                <a:spcPct val="115000"/>
              </a:lnSpc>
            </a:pPr>
            <a:r>
              <a:rPr sz="1200" b="0" i="0">
                <a:solidFill>
                  <a:srgbClr val="556670"/>
                </a:solidFill>
              </a:rPr>
              <a:t>Driven by T6.1 and T6.2; UM gap analysis identifies priorities</a:t>
            </a:r>
          </a:p>
        </p:txBody>
      </p:sp>
      <p:sp>
        <p:nvSpPr>
          <p:cNvPr id="31" name="TextBox 30"/>
          <p:cNvSpPr txBox="1"/>
          <p:nvPr/>
        </p:nvSpPr>
        <p:spPr>
          <a:xfrm>
            <a:off x="10149840" y="3644690"/>
            <a:ext cx="1554480" cy="181268"/>
          </a:xfrm>
          <a:prstGeom prst="rect">
            <a:avLst/>
          </a:prstGeom>
          <a:noFill/>
        </p:spPr>
        <p:txBody>
          <a:bodyPr wrap="square" lIns="0" tIns="0" rIns="0" bIns="0" anchor="ctr">
            <a:spAutoFit/>
          </a:bodyPr>
          <a:lstStyle/>
          <a:p>
            <a:pPr algn="l">
              <a:lnSpc>
                <a:spcPct val="115000"/>
              </a:lnSpc>
            </a:pPr>
            <a:r>
              <a:rPr sz="1100" b="1" i="1">
                <a:solidFill>
                  <a:srgbClr val="556670"/>
                </a:solidFill>
              </a:rPr>
              <a:t>In design</a:t>
            </a:r>
          </a:p>
        </p:txBody>
      </p:sp>
      <p:sp>
        <p:nvSpPr>
          <p:cNvPr id="32" name="TextBox 31"/>
          <p:cNvSpPr txBox="1"/>
          <p:nvPr/>
        </p:nvSpPr>
        <p:spPr>
          <a:xfrm>
            <a:off x="640080" y="3960109"/>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16</a:t>
            </a:r>
          </a:p>
        </p:txBody>
      </p:sp>
      <p:sp>
        <p:nvSpPr>
          <p:cNvPr id="33" name="TextBox 32"/>
          <p:cNvSpPr txBox="1"/>
          <p:nvPr/>
        </p:nvSpPr>
        <p:spPr>
          <a:xfrm>
            <a:off x="1554480" y="3976588"/>
            <a:ext cx="3200400" cy="230704"/>
          </a:xfrm>
          <a:prstGeom prst="rect">
            <a:avLst/>
          </a:prstGeom>
          <a:noFill/>
        </p:spPr>
        <p:txBody>
          <a:bodyPr wrap="square" lIns="0" tIns="0" rIns="0" bIns="0" anchor="ctr">
            <a:spAutoFit/>
          </a:bodyPr>
          <a:lstStyle/>
          <a:p>
            <a:pPr algn="l">
              <a:lnSpc>
                <a:spcPct val="115000"/>
              </a:lnSpc>
            </a:pPr>
            <a:r>
              <a:rPr sz="1400" b="1" i="0">
                <a:solidFill>
                  <a:srgbClr val="1C2B33"/>
                </a:solidFill>
              </a:rPr>
              <a:t>Registered HPC and AI certified specialists</a:t>
            </a:r>
          </a:p>
        </p:txBody>
      </p:sp>
      <p:sp>
        <p:nvSpPr>
          <p:cNvPr id="34" name="TextBox 33"/>
          <p:cNvSpPr txBox="1"/>
          <p:nvPr/>
        </p:nvSpPr>
        <p:spPr>
          <a:xfrm>
            <a:off x="5291495" y="3972468"/>
            <a:ext cx="4656221" cy="197746"/>
          </a:xfrm>
          <a:prstGeom prst="rect">
            <a:avLst/>
          </a:prstGeom>
          <a:noFill/>
        </p:spPr>
        <p:txBody>
          <a:bodyPr wrap="square" lIns="0" tIns="0" rIns="0" bIns="0" anchor="ctr">
            <a:spAutoFit/>
          </a:bodyPr>
          <a:lstStyle/>
          <a:p>
            <a:pPr algn="l">
              <a:lnSpc>
                <a:spcPct val="115000"/>
              </a:lnSpc>
            </a:pPr>
            <a:r>
              <a:rPr sz="1200" b="0" i="0">
                <a:solidFill>
                  <a:srgbClr val="556670"/>
                </a:solidFill>
              </a:rPr>
              <a:t>Grows as learners complete micro-certifications and pass assessments</a:t>
            </a:r>
          </a:p>
        </p:txBody>
      </p:sp>
      <p:sp>
        <p:nvSpPr>
          <p:cNvPr id="35" name="TextBox 34"/>
          <p:cNvSpPr txBox="1"/>
          <p:nvPr/>
        </p:nvSpPr>
        <p:spPr>
          <a:xfrm>
            <a:off x="10149840" y="4001306"/>
            <a:ext cx="1554480" cy="181268"/>
          </a:xfrm>
          <a:prstGeom prst="rect">
            <a:avLst/>
          </a:prstGeom>
          <a:noFill/>
        </p:spPr>
        <p:txBody>
          <a:bodyPr wrap="square" lIns="0" tIns="0" rIns="0" bIns="0" anchor="ctr">
            <a:spAutoFit/>
          </a:bodyPr>
          <a:lstStyle/>
          <a:p>
            <a:pPr algn="l">
              <a:lnSpc>
                <a:spcPct val="115000"/>
              </a:lnSpc>
            </a:pPr>
            <a:r>
              <a:rPr sz="1100" b="1" i="1">
                <a:solidFill>
                  <a:srgbClr val="556670"/>
                </a:solidFill>
              </a:rPr>
              <a:t>Starts M12</a:t>
            </a:r>
          </a:p>
        </p:txBody>
      </p:sp>
      <p:sp>
        <p:nvSpPr>
          <p:cNvPr id="36" name="Rectangle 35"/>
          <p:cNvSpPr/>
          <p:nvPr/>
        </p:nvSpPr>
        <p:spPr>
          <a:xfrm>
            <a:off x="502920" y="4270248"/>
            <a:ext cx="11201400" cy="356616"/>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640080" y="4316725"/>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17</a:t>
            </a:r>
          </a:p>
        </p:txBody>
      </p:sp>
      <p:sp>
        <p:nvSpPr>
          <p:cNvPr id="38" name="TextBox 37"/>
          <p:cNvSpPr txBox="1"/>
          <p:nvPr/>
        </p:nvSpPr>
        <p:spPr>
          <a:xfrm>
            <a:off x="1554480" y="4333204"/>
            <a:ext cx="3200400" cy="230704"/>
          </a:xfrm>
          <a:prstGeom prst="rect">
            <a:avLst/>
          </a:prstGeom>
          <a:noFill/>
        </p:spPr>
        <p:txBody>
          <a:bodyPr wrap="square" lIns="0" tIns="0" rIns="0" bIns="0" anchor="ctr">
            <a:spAutoFit/>
          </a:bodyPr>
          <a:lstStyle/>
          <a:p>
            <a:pPr algn="l">
              <a:lnSpc>
                <a:spcPct val="115000"/>
              </a:lnSpc>
            </a:pPr>
            <a:r>
              <a:rPr sz="1400" b="1" i="0">
                <a:solidFill>
                  <a:srgbClr val="1C2B33"/>
                </a:solidFill>
              </a:rPr>
              <a:t>HPC and AI hackathons organised</a:t>
            </a:r>
          </a:p>
        </p:txBody>
      </p:sp>
      <p:sp>
        <p:nvSpPr>
          <p:cNvPr id="39" name="TextBox 38"/>
          <p:cNvSpPr txBox="1"/>
          <p:nvPr/>
        </p:nvSpPr>
        <p:spPr>
          <a:xfrm>
            <a:off x="5291495" y="4329084"/>
            <a:ext cx="4656221" cy="197746"/>
          </a:xfrm>
          <a:prstGeom prst="rect">
            <a:avLst/>
          </a:prstGeom>
          <a:noFill/>
        </p:spPr>
        <p:txBody>
          <a:bodyPr wrap="square" lIns="0" tIns="0" rIns="0" bIns="0" anchor="ctr">
            <a:spAutoFit/>
          </a:bodyPr>
          <a:lstStyle/>
          <a:p>
            <a:pPr algn="l">
              <a:lnSpc>
                <a:spcPct val="115000"/>
              </a:lnSpc>
            </a:pPr>
            <a:r>
              <a:rPr sz="1200" b="0" i="0">
                <a:solidFill>
                  <a:srgbClr val="556670"/>
                </a:solidFill>
              </a:rPr>
              <a:t>HackathON delivered; annual cadence planned</a:t>
            </a:r>
          </a:p>
        </p:txBody>
      </p:sp>
      <p:sp>
        <p:nvSpPr>
          <p:cNvPr id="40" name="TextBox 39"/>
          <p:cNvSpPr txBox="1"/>
          <p:nvPr/>
        </p:nvSpPr>
        <p:spPr>
          <a:xfrm>
            <a:off x="10149840" y="4357922"/>
            <a:ext cx="1554480" cy="181268"/>
          </a:xfrm>
          <a:prstGeom prst="rect">
            <a:avLst/>
          </a:prstGeom>
          <a:noFill/>
        </p:spPr>
        <p:txBody>
          <a:bodyPr wrap="square" lIns="0" tIns="0" rIns="0" bIns="0" anchor="ctr">
            <a:spAutoFit/>
          </a:bodyPr>
          <a:lstStyle/>
          <a:p>
            <a:pPr algn="l">
              <a:lnSpc>
                <a:spcPct val="115000"/>
              </a:lnSpc>
            </a:pPr>
            <a:r>
              <a:rPr sz="1100" b="1" i="1">
                <a:solidFill>
                  <a:srgbClr val="6F921E"/>
                </a:solidFill>
              </a:rPr>
              <a:t>1 delivered</a:t>
            </a:r>
          </a:p>
        </p:txBody>
      </p:sp>
      <p:sp>
        <p:nvSpPr>
          <p:cNvPr id="41" name="TextBox 40"/>
          <p:cNvSpPr txBox="1"/>
          <p:nvPr/>
        </p:nvSpPr>
        <p:spPr>
          <a:xfrm>
            <a:off x="640080" y="4673341"/>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18</a:t>
            </a:r>
          </a:p>
        </p:txBody>
      </p:sp>
      <p:sp>
        <p:nvSpPr>
          <p:cNvPr id="42" name="TextBox 41"/>
          <p:cNvSpPr txBox="1"/>
          <p:nvPr/>
        </p:nvSpPr>
        <p:spPr>
          <a:xfrm>
            <a:off x="1554480" y="4689820"/>
            <a:ext cx="3200400" cy="230704"/>
          </a:xfrm>
          <a:prstGeom prst="rect">
            <a:avLst/>
          </a:prstGeom>
          <a:noFill/>
        </p:spPr>
        <p:txBody>
          <a:bodyPr wrap="square" lIns="0" tIns="0" rIns="0" bIns="0" anchor="ctr">
            <a:spAutoFit/>
          </a:bodyPr>
          <a:lstStyle/>
          <a:p>
            <a:pPr algn="l">
              <a:lnSpc>
                <a:spcPct val="115000"/>
              </a:lnSpc>
            </a:pPr>
            <a:r>
              <a:rPr sz="1400" b="1" i="0">
                <a:solidFill>
                  <a:srgbClr val="1C2B33"/>
                </a:solidFill>
              </a:rPr>
              <a:t>AI Factory training centres established</a:t>
            </a:r>
          </a:p>
        </p:txBody>
      </p:sp>
      <p:sp>
        <p:nvSpPr>
          <p:cNvPr id="43" name="TextBox 42"/>
          <p:cNvSpPr txBox="1"/>
          <p:nvPr/>
        </p:nvSpPr>
        <p:spPr>
          <a:xfrm>
            <a:off x="5291495" y="4685700"/>
            <a:ext cx="4656221" cy="197746"/>
          </a:xfrm>
          <a:prstGeom prst="rect">
            <a:avLst/>
          </a:prstGeom>
          <a:noFill/>
        </p:spPr>
        <p:txBody>
          <a:bodyPr wrap="square" lIns="0" tIns="0" rIns="0" bIns="0" anchor="ctr">
            <a:spAutoFit/>
          </a:bodyPr>
          <a:lstStyle/>
          <a:p>
            <a:pPr algn="l">
              <a:lnSpc>
                <a:spcPct val="115000"/>
              </a:lnSpc>
            </a:pPr>
            <a:r>
              <a:rPr sz="1200" b="0" i="0">
                <a:solidFill>
                  <a:srgbClr val="556670"/>
                </a:solidFill>
              </a:rPr>
              <a:t>Novo mesto · Ljubljana (2) operational; Maribor &amp; Koper in setup</a:t>
            </a:r>
          </a:p>
        </p:txBody>
      </p:sp>
      <p:sp>
        <p:nvSpPr>
          <p:cNvPr id="44" name="TextBox 43"/>
          <p:cNvSpPr txBox="1"/>
          <p:nvPr/>
        </p:nvSpPr>
        <p:spPr>
          <a:xfrm>
            <a:off x="10149840" y="4714538"/>
            <a:ext cx="1554480" cy="181268"/>
          </a:xfrm>
          <a:prstGeom prst="rect">
            <a:avLst/>
          </a:prstGeom>
          <a:noFill/>
        </p:spPr>
        <p:txBody>
          <a:bodyPr wrap="square" lIns="0" tIns="0" rIns="0" bIns="0" anchor="ctr">
            <a:spAutoFit/>
          </a:bodyPr>
          <a:lstStyle/>
          <a:p>
            <a:pPr algn="l">
              <a:lnSpc>
                <a:spcPct val="115000"/>
              </a:lnSpc>
            </a:pPr>
            <a:r>
              <a:rPr sz="1100" b="1" i="1">
                <a:solidFill>
                  <a:srgbClr val="6F921E"/>
                </a:solidFill>
              </a:rPr>
              <a:t>3 of 3 progressing</a:t>
            </a:r>
          </a:p>
        </p:txBody>
      </p:sp>
      <p:sp>
        <p:nvSpPr>
          <p:cNvPr id="45" name="Rectangle 44"/>
          <p:cNvSpPr/>
          <p:nvPr/>
        </p:nvSpPr>
        <p:spPr>
          <a:xfrm>
            <a:off x="502920" y="4983480"/>
            <a:ext cx="11201400" cy="356616"/>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640080" y="5029957"/>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19</a:t>
            </a:r>
          </a:p>
        </p:txBody>
      </p:sp>
      <p:sp>
        <p:nvSpPr>
          <p:cNvPr id="47" name="TextBox 46"/>
          <p:cNvSpPr txBox="1"/>
          <p:nvPr/>
        </p:nvSpPr>
        <p:spPr>
          <a:xfrm>
            <a:off x="1554480" y="5046436"/>
            <a:ext cx="3200400" cy="230704"/>
          </a:xfrm>
          <a:prstGeom prst="rect">
            <a:avLst/>
          </a:prstGeom>
          <a:noFill/>
        </p:spPr>
        <p:txBody>
          <a:bodyPr wrap="square" lIns="0" tIns="0" rIns="0" bIns="0" anchor="ctr">
            <a:spAutoFit/>
          </a:bodyPr>
          <a:lstStyle/>
          <a:p>
            <a:pPr algn="l">
              <a:lnSpc>
                <a:spcPct val="115000"/>
              </a:lnSpc>
            </a:pPr>
            <a:r>
              <a:rPr sz="1400" b="1" i="0">
                <a:solidFill>
                  <a:srgbClr val="1C2B33"/>
                </a:solidFill>
              </a:rPr>
              <a:t>Cities toured with outreach &amp; workshops</a:t>
            </a:r>
          </a:p>
        </p:txBody>
      </p:sp>
      <p:sp>
        <p:nvSpPr>
          <p:cNvPr id="48" name="TextBox 47"/>
          <p:cNvSpPr txBox="1"/>
          <p:nvPr/>
        </p:nvSpPr>
        <p:spPr>
          <a:xfrm>
            <a:off x="5291495" y="5042316"/>
            <a:ext cx="4656221" cy="197746"/>
          </a:xfrm>
          <a:prstGeom prst="rect">
            <a:avLst/>
          </a:prstGeom>
          <a:noFill/>
        </p:spPr>
        <p:txBody>
          <a:bodyPr wrap="square" lIns="0" tIns="0" rIns="0" bIns="0" anchor="ctr">
            <a:spAutoFit/>
          </a:bodyPr>
          <a:lstStyle/>
          <a:p>
            <a:pPr algn="l">
              <a:lnSpc>
                <a:spcPct val="115000"/>
              </a:lnSpc>
            </a:pPr>
            <a:r>
              <a:rPr sz="1200" b="0" i="0">
                <a:solidFill>
                  <a:srgbClr val="556670"/>
                </a:solidFill>
              </a:rPr>
              <a:t>Ljubljana · Novo mesto · Maribor + further regional reach via GZS network</a:t>
            </a:r>
          </a:p>
        </p:txBody>
      </p:sp>
      <p:sp>
        <p:nvSpPr>
          <p:cNvPr id="49" name="TextBox 48"/>
          <p:cNvSpPr txBox="1"/>
          <p:nvPr/>
        </p:nvSpPr>
        <p:spPr>
          <a:xfrm>
            <a:off x="10149840" y="4973819"/>
            <a:ext cx="1554480" cy="375937"/>
          </a:xfrm>
          <a:prstGeom prst="rect">
            <a:avLst/>
          </a:prstGeom>
          <a:noFill/>
        </p:spPr>
        <p:txBody>
          <a:bodyPr wrap="square" lIns="0" tIns="0" rIns="0" bIns="0" anchor="ctr">
            <a:spAutoFit/>
          </a:bodyPr>
          <a:lstStyle/>
          <a:p>
            <a:pPr algn="l">
              <a:lnSpc>
                <a:spcPct val="115000"/>
              </a:lnSpc>
            </a:pPr>
            <a:r>
              <a:rPr sz="1100" b="1" i="1">
                <a:solidFill>
                  <a:srgbClr val="6F921E"/>
                </a:solidFill>
              </a:rPr>
              <a:t>On track for 15 by project end</a:t>
            </a:r>
          </a:p>
        </p:txBody>
      </p:sp>
      <p:sp>
        <p:nvSpPr>
          <p:cNvPr id="50" name="TextBox 49"/>
          <p:cNvSpPr txBox="1"/>
          <p:nvPr/>
        </p:nvSpPr>
        <p:spPr>
          <a:xfrm>
            <a:off x="640080" y="5386573"/>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20</a:t>
            </a:r>
          </a:p>
        </p:txBody>
      </p:sp>
      <p:sp>
        <p:nvSpPr>
          <p:cNvPr id="51" name="TextBox 50"/>
          <p:cNvSpPr txBox="1"/>
          <p:nvPr/>
        </p:nvSpPr>
        <p:spPr>
          <a:xfrm>
            <a:off x="1554480" y="5403052"/>
            <a:ext cx="3200400" cy="230704"/>
          </a:xfrm>
          <a:prstGeom prst="rect">
            <a:avLst/>
          </a:prstGeom>
          <a:noFill/>
        </p:spPr>
        <p:txBody>
          <a:bodyPr wrap="square" lIns="0" tIns="0" rIns="0" bIns="0" anchor="ctr">
            <a:spAutoFit/>
          </a:bodyPr>
          <a:lstStyle/>
          <a:p>
            <a:pPr algn="l">
              <a:lnSpc>
                <a:spcPct val="115000"/>
              </a:lnSpc>
            </a:pPr>
            <a:r>
              <a:rPr sz="1400" b="1" i="0">
                <a:solidFill>
                  <a:srgbClr val="1C2B33"/>
                </a:solidFill>
              </a:rPr>
              <a:t>Application-area use case workshops</a:t>
            </a:r>
          </a:p>
        </p:txBody>
      </p:sp>
      <p:sp>
        <p:nvSpPr>
          <p:cNvPr id="52" name="TextBox 51"/>
          <p:cNvSpPr txBox="1"/>
          <p:nvPr/>
        </p:nvSpPr>
        <p:spPr>
          <a:xfrm>
            <a:off x="5291495" y="5398932"/>
            <a:ext cx="4656221" cy="197746"/>
          </a:xfrm>
          <a:prstGeom prst="rect">
            <a:avLst/>
          </a:prstGeom>
          <a:noFill/>
        </p:spPr>
        <p:txBody>
          <a:bodyPr wrap="square" lIns="0" tIns="0" rIns="0" bIns="0" anchor="ctr">
            <a:spAutoFit/>
          </a:bodyPr>
          <a:lstStyle/>
          <a:p>
            <a:pPr algn="l">
              <a:lnSpc>
                <a:spcPct val="115000"/>
              </a:lnSpc>
            </a:pPr>
            <a:r>
              <a:rPr sz="1200" b="0" i="0">
                <a:solidFill>
                  <a:srgbClr val="556670"/>
                </a:solidFill>
              </a:rPr>
              <a:t>Aligned to WP5 verticals: green transition, health, digital society, science</a:t>
            </a:r>
          </a:p>
        </p:txBody>
      </p:sp>
      <p:sp>
        <p:nvSpPr>
          <p:cNvPr id="53" name="TextBox 52"/>
          <p:cNvSpPr txBox="1"/>
          <p:nvPr/>
        </p:nvSpPr>
        <p:spPr>
          <a:xfrm>
            <a:off x="10149840" y="5427770"/>
            <a:ext cx="1554480" cy="181268"/>
          </a:xfrm>
          <a:prstGeom prst="rect">
            <a:avLst/>
          </a:prstGeom>
          <a:noFill/>
        </p:spPr>
        <p:txBody>
          <a:bodyPr wrap="square" lIns="0" tIns="0" rIns="0" bIns="0" anchor="ctr">
            <a:spAutoFit/>
          </a:bodyPr>
          <a:lstStyle/>
          <a:p>
            <a:pPr algn="l">
              <a:lnSpc>
                <a:spcPct val="115000"/>
              </a:lnSpc>
            </a:pPr>
            <a:r>
              <a:rPr sz="1100" b="1" i="1">
                <a:solidFill>
                  <a:srgbClr val="556670"/>
                </a:solidFill>
              </a:rPr>
              <a:t>Starting M8</a:t>
            </a:r>
          </a:p>
        </p:txBody>
      </p:sp>
      <p:sp>
        <p:nvSpPr>
          <p:cNvPr id="54" name="Rectangle 53"/>
          <p:cNvSpPr/>
          <p:nvPr/>
        </p:nvSpPr>
        <p:spPr>
          <a:xfrm>
            <a:off x="502920" y="5696712"/>
            <a:ext cx="11201400" cy="356616"/>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5" name="TextBox 54"/>
          <p:cNvSpPr txBox="1"/>
          <p:nvPr/>
        </p:nvSpPr>
        <p:spPr>
          <a:xfrm>
            <a:off x="640080" y="5743189"/>
            <a:ext cx="822960" cy="263662"/>
          </a:xfrm>
          <a:prstGeom prst="rect">
            <a:avLst/>
          </a:prstGeom>
          <a:noFill/>
        </p:spPr>
        <p:txBody>
          <a:bodyPr wrap="square" lIns="0" tIns="0" rIns="0" bIns="0" anchor="ctr">
            <a:spAutoFit/>
          </a:bodyPr>
          <a:lstStyle/>
          <a:p>
            <a:pPr algn="ctr">
              <a:lnSpc>
                <a:spcPct val="115000"/>
              </a:lnSpc>
            </a:pPr>
            <a:r>
              <a:rPr sz="1600" b="1" i="0">
                <a:solidFill>
                  <a:srgbClr val="145B6E"/>
                </a:solidFill>
              </a:rPr>
              <a:t>21</a:t>
            </a:r>
          </a:p>
        </p:txBody>
      </p:sp>
      <p:sp>
        <p:nvSpPr>
          <p:cNvPr id="56" name="TextBox 55"/>
          <p:cNvSpPr txBox="1"/>
          <p:nvPr/>
        </p:nvSpPr>
        <p:spPr>
          <a:xfrm>
            <a:off x="1554480" y="5759668"/>
            <a:ext cx="3614286" cy="230704"/>
          </a:xfrm>
          <a:prstGeom prst="rect">
            <a:avLst/>
          </a:prstGeom>
          <a:noFill/>
        </p:spPr>
        <p:txBody>
          <a:bodyPr wrap="square" lIns="0" tIns="0" rIns="0" bIns="0" anchor="ctr">
            <a:spAutoFit/>
          </a:bodyPr>
          <a:lstStyle/>
          <a:p>
            <a:pPr algn="l">
              <a:lnSpc>
                <a:spcPct val="115000"/>
              </a:lnSpc>
            </a:pPr>
            <a:r>
              <a:rPr sz="1400" b="1" i="0" dirty="0">
                <a:solidFill>
                  <a:srgbClr val="1C2B33"/>
                </a:solidFill>
              </a:rPr>
              <a:t>AI Factory workshops at HPC events in Slovenia</a:t>
            </a:r>
          </a:p>
        </p:txBody>
      </p:sp>
      <p:sp>
        <p:nvSpPr>
          <p:cNvPr id="57" name="TextBox 56"/>
          <p:cNvSpPr txBox="1"/>
          <p:nvPr/>
        </p:nvSpPr>
        <p:spPr>
          <a:xfrm>
            <a:off x="5291495" y="5755548"/>
            <a:ext cx="4656221" cy="197746"/>
          </a:xfrm>
          <a:prstGeom prst="rect">
            <a:avLst/>
          </a:prstGeom>
          <a:noFill/>
        </p:spPr>
        <p:txBody>
          <a:bodyPr wrap="square" lIns="0" tIns="0" rIns="0" bIns="0" anchor="ctr">
            <a:spAutoFit/>
          </a:bodyPr>
          <a:lstStyle/>
          <a:p>
            <a:pPr algn="l">
              <a:lnSpc>
                <a:spcPct val="115000"/>
              </a:lnSpc>
            </a:pPr>
            <a:r>
              <a:rPr sz="1200" b="0" i="0">
                <a:solidFill>
                  <a:srgbClr val="556670"/>
                </a:solidFill>
              </a:rPr>
              <a:t>SLING Days 2025 · ASHPC26 · embedded in national HPC calendar</a:t>
            </a:r>
          </a:p>
        </p:txBody>
      </p:sp>
      <p:sp>
        <p:nvSpPr>
          <p:cNvPr id="58" name="TextBox 57"/>
          <p:cNvSpPr txBox="1"/>
          <p:nvPr/>
        </p:nvSpPr>
        <p:spPr>
          <a:xfrm>
            <a:off x="10149840" y="5784386"/>
            <a:ext cx="1554480" cy="181268"/>
          </a:xfrm>
          <a:prstGeom prst="rect">
            <a:avLst/>
          </a:prstGeom>
          <a:noFill/>
        </p:spPr>
        <p:txBody>
          <a:bodyPr wrap="square" lIns="0" tIns="0" rIns="0" bIns="0" anchor="ctr">
            <a:spAutoFit/>
          </a:bodyPr>
          <a:lstStyle/>
          <a:p>
            <a:pPr algn="l">
              <a:lnSpc>
                <a:spcPct val="115000"/>
              </a:lnSpc>
            </a:pPr>
            <a:r>
              <a:rPr sz="1100" b="1" i="1">
                <a:solidFill>
                  <a:srgbClr val="6F921E"/>
                </a:solidFill>
              </a:rPr>
              <a:t>Active</a:t>
            </a:r>
          </a:p>
        </p:txBody>
      </p:sp>
      <p:sp>
        <p:nvSpPr>
          <p:cNvPr id="59" name="Date Placeholder 1">
            <a:extLst>
              <a:ext uri="{FF2B5EF4-FFF2-40B4-BE49-F238E27FC236}">
                <a16:creationId xmlns:a16="http://schemas.microsoft.com/office/drawing/2014/main" id="{BD9BE19A-82B6-4C93-BCA8-C3DA68C2CE19}"/>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t>4/22/2026</a:t>
            </a:fld>
            <a:endParaRPr lang="en-US" dirty="0"/>
          </a:p>
        </p:txBody>
      </p:sp>
      <p:sp>
        <p:nvSpPr>
          <p:cNvPr id="60" name="Footer Placeholder 2">
            <a:extLst>
              <a:ext uri="{FF2B5EF4-FFF2-40B4-BE49-F238E27FC236}">
                <a16:creationId xmlns:a16="http://schemas.microsoft.com/office/drawing/2014/main" id="{74DEE59A-2C2F-4255-BC92-18AA062BCCC8}"/>
              </a:ext>
            </a:extLst>
          </p:cNvPr>
          <p:cNvSpPr>
            <a:spLocks noGrp="1"/>
          </p:cNvSpPr>
          <p:nvPr>
            <p:ph type="ftr" sz="quarter" idx="11"/>
          </p:nvPr>
        </p:nvSpPr>
        <p:spPr>
          <a:xfrm>
            <a:off x="4038598" y="6356349"/>
            <a:ext cx="4114800" cy="365124"/>
          </a:xfrm>
        </p:spPr>
        <p:txBody>
          <a:bodyPr/>
          <a:lstStyle/>
          <a:p>
            <a:pPr>
              <a:defRPr/>
            </a:pPr>
            <a:r>
              <a:rPr lang="sl-SI" dirty="0"/>
              <a:t>SLAIF WP6 – AI </a:t>
            </a:r>
            <a:r>
              <a:rPr lang="sl-SI" dirty="0" err="1"/>
              <a:t>Skills</a:t>
            </a:r>
            <a:r>
              <a:rPr lang="sl-SI" dirty="0"/>
              <a:t> &amp; </a:t>
            </a:r>
            <a:r>
              <a:rPr lang="sl-SI" dirty="0" err="1"/>
              <a:t>Training</a:t>
            </a:r>
            <a:endParaRPr lang="en-US" dirty="0"/>
          </a:p>
        </p:txBody>
      </p:sp>
      <p:sp>
        <p:nvSpPr>
          <p:cNvPr id="61" name="Slide Number Placeholder 3">
            <a:extLst>
              <a:ext uri="{FF2B5EF4-FFF2-40B4-BE49-F238E27FC236}">
                <a16:creationId xmlns:a16="http://schemas.microsoft.com/office/drawing/2014/main" id="{A189EEF7-DD91-407C-83A8-335E70E419A4}"/>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t>17</a:t>
            </a:fld>
            <a:endParaRPr lang="en-US"/>
          </a:p>
        </p:txBody>
      </p:sp>
      <p:sp>
        <p:nvSpPr>
          <p:cNvPr id="62" name="Rectangle: Rounded Corners 61">
            <a:extLst>
              <a:ext uri="{FF2B5EF4-FFF2-40B4-BE49-F238E27FC236}">
                <a16:creationId xmlns:a16="http://schemas.microsoft.com/office/drawing/2014/main" id="{3C3E3EA1-2EBF-4DED-A067-608631A5335E}"/>
              </a:ext>
            </a:extLst>
          </p:cNvPr>
          <p:cNvSpPr/>
          <p:nvPr/>
        </p:nvSpPr>
        <p:spPr>
          <a:xfrm>
            <a:off x="473529" y="2843784"/>
            <a:ext cx="11276511" cy="369119"/>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I" sz="2000"/>
          </a:p>
        </p:txBody>
      </p:sp>
      <p:sp>
        <p:nvSpPr>
          <p:cNvPr id="63" name="Rectangle: Rounded Corners 62">
            <a:extLst>
              <a:ext uri="{FF2B5EF4-FFF2-40B4-BE49-F238E27FC236}">
                <a16:creationId xmlns:a16="http://schemas.microsoft.com/office/drawing/2014/main" id="{CA62108C-7FC7-4009-8BF4-06BD80024055}"/>
              </a:ext>
            </a:extLst>
          </p:cNvPr>
          <p:cNvSpPr/>
          <p:nvPr/>
        </p:nvSpPr>
        <p:spPr>
          <a:xfrm>
            <a:off x="466731" y="4612700"/>
            <a:ext cx="11276511" cy="369119"/>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I"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02920" y="1391196"/>
            <a:ext cx="11201400" cy="3657600"/>
          </a:xfrm>
          <a:prstGeom prst="roundRect">
            <a:avLst>
              <a:gd name="adj" fmla="val 6000"/>
            </a:avLst>
          </a:prstGeom>
          <a:solidFill>
            <a:srgbClr val="1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Roboto Condensed" panose="02000000000000000000" pitchFamily="2" charset="0"/>
              <a:ea typeface="Roboto Condensed" panose="02000000000000000000" pitchFamily="2" charset="0"/>
            </a:endParaRPr>
          </a:p>
        </p:txBody>
      </p:sp>
      <p:sp>
        <p:nvSpPr>
          <p:cNvPr id="3" name="TextBox 2"/>
          <p:cNvSpPr txBox="1"/>
          <p:nvPr/>
        </p:nvSpPr>
        <p:spPr>
          <a:xfrm>
            <a:off x="777240" y="1711236"/>
            <a:ext cx="10652760" cy="263662"/>
          </a:xfrm>
          <a:prstGeom prst="rect">
            <a:avLst/>
          </a:prstGeom>
          <a:noFill/>
        </p:spPr>
        <p:txBody>
          <a:bodyPr wrap="square" lIns="0" tIns="0" rIns="0" bIns="0" anchor="t">
            <a:spAutoFit/>
          </a:bodyPr>
          <a:lstStyle/>
          <a:p>
            <a:pPr algn="l">
              <a:lnSpc>
                <a:spcPct val="115000"/>
              </a:lnSpc>
            </a:pPr>
            <a:r>
              <a:rPr sz="1600" b="1" i="1">
                <a:solidFill>
                  <a:srgbClr val="8FBC2F"/>
                </a:solidFill>
                <a:latin typeface="Roboto Condensed" panose="02000000000000000000" pitchFamily="2" charset="0"/>
                <a:ea typeface="Roboto Condensed" panose="02000000000000000000" pitchFamily="2" charset="0"/>
              </a:rPr>
              <a:t>Our message to the reviewers</a:t>
            </a:r>
          </a:p>
        </p:txBody>
      </p:sp>
      <p:sp>
        <p:nvSpPr>
          <p:cNvPr id="4" name="TextBox 3"/>
          <p:cNvSpPr txBox="1"/>
          <p:nvPr/>
        </p:nvSpPr>
        <p:spPr>
          <a:xfrm>
            <a:off x="777240" y="2259876"/>
            <a:ext cx="10652760" cy="545790"/>
          </a:xfrm>
          <a:prstGeom prst="rect">
            <a:avLst/>
          </a:prstGeom>
          <a:noFill/>
        </p:spPr>
        <p:txBody>
          <a:bodyPr wrap="square" lIns="0" tIns="0" rIns="0" bIns="0" anchor="t">
            <a:spAutoFit/>
          </a:bodyPr>
          <a:lstStyle/>
          <a:p>
            <a:pPr algn="l">
              <a:lnSpc>
                <a:spcPct val="120000"/>
              </a:lnSpc>
            </a:pPr>
            <a:r>
              <a:rPr sz="3200" b="1" i="0" dirty="0">
                <a:solidFill>
                  <a:srgbClr val="FFFFFF"/>
                </a:solidFill>
                <a:latin typeface="Roboto Condensed" panose="02000000000000000000" pitchFamily="2" charset="0"/>
                <a:ea typeface="Roboto Condensed" panose="02000000000000000000" pitchFamily="2" charset="0"/>
              </a:rPr>
              <a:t>WP6 has moved from a plan on paper to a running operation.</a:t>
            </a:r>
          </a:p>
        </p:txBody>
      </p:sp>
      <p:sp>
        <p:nvSpPr>
          <p:cNvPr id="5" name="TextBox 4"/>
          <p:cNvSpPr txBox="1"/>
          <p:nvPr/>
        </p:nvSpPr>
        <p:spPr>
          <a:xfrm>
            <a:off x="777240" y="3540036"/>
            <a:ext cx="10652760" cy="700448"/>
          </a:xfrm>
          <a:prstGeom prst="rect">
            <a:avLst/>
          </a:prstGeom>
          <a:noFill/>
        </p:spPr>
        <p:txBody>
          <a:bodyPr wrap="square" lIns="0" tIns="0" rIns="0" bIns="0" anchor="t">
            <a:spAutoFit/>
          </a:bodyPr>
          <a:lstStyle/>
          <a:p>
            <a:pPr algn="l">
              <a:lnSpc>
                <a:spcPct val="150000"/>
              </a:lnSpc>
            </a:pPr>
            <a:r>
              <a:rPr sz="1600" b="0" i="1" dirty="0">
                <a:solidFill>
                  <a:srgbClr val="FFFFFF"/>
                </a:solidFill>
                <a:latin typeface="Roboto Condensed" panose="02000000000000000000" pitchFamily="2" charset="0"/>
                <a:ea typeface="Roboto Condensed" panose="02000000000000000000" pitchFamily="2" charset="0"/>
              </a:rPr>
              <a:t>88 training activities catalogued · 2 platforms live · first micro-credential accredited · </a:t>
            </a:r>
          </a:p>
          <a:p>
            <a:pPr algn="l">
              <a:lnSpc>
                <a:spcPct val="150000"/>
              </a:lnSpc>
            </a:pPr>
            <a:r>
              <a:rPr sz="1600" b="0" i="1" dirty="0">
                <a:solidFill>
                  <a:srgbClr val="FFFFFF"/>
                </a:solidFill>
                <a:latin typeface="Roboto Condensed" panose="02000000000000000000" pitchFamily="2" charset="0"/>
                <a:ea typeface="Roboto Condensed" panose="02000000000000000000" pitchFamily="2" charset="0"/>
              </a:rPr>
              <a:t>3 regional hubs operating or in setup · 400+ learners already touched · weekly cadence since October 2025</a:t>
            </a:r>
          </a:p>
        </p:txBody>
      </p:sp>
      <p:sp>
        <p:nvSpPr>
          <p:cNvPr id="8" name="Date Placeholder 1">
            <a:extLst>
              <a:ext uri="{FF2B5EF4-FFF2-40B4-BE49-F238E27FC236}">
                <a16:creationId xmlns:a16="http://schemas.microsoft.com/office/drawing/2014/main" id="{035FF5C8-A34D-48CB-A46B-A5A9311697E8}"/>
              </a:ext>
            </a:extLst>
          </p:cNvPr>
          <p:cNvSpPr>
            <a:spLocks noGrp="1"/>
          </p:cNvSpPr>
          <p:nvPr>
            <p:ph type="dt" sz="half" idx="10"/>
          </p:nvPr>
        </p:nvSpPr>
        <p:spPr>
          <a:xfrm>
            <a:off x="838198" y="6356349"/>
            <a:ext cx="2743200" cy="365124"/>
          </a:xfrm>
        </p:spPr>
        <p:txBody>
          <a:bodyPr/>
          <a:lstStyle/>
          <a:p>
            <a:pPr>
              <a:defRPr/>
            </a:pPr>
            <a:fld id="{B7761311-E397-A883-1E63-9C2AB11E5243}" type="datetime1">
              <a:rPr lang="en-US" smtClean="0">
                <a:latin typeface="Roboto Condensed" panose="02000000000000000000" pitchFamily="2" charset="0"/>
                <a:ea typeface="Roboto Condensed" panose="02000000000000000000" pitchFamily="2" charset="0"/>
              </a:rPr>
              <a:t>4/22/2026</a:t>
            </a:fld>
            <a:endParaRPr lang="en-US" dirty="0">
              <a:latin typeface="Roboto Condensed" panose="02000000000000000000" pitchFamily="2" charset="0"/>
              <a:ea typeface="Roboto Condensed" panose="02000000000000000000" pitchFamily="2" charset="0"/>
            </a:endParaRPr>
          </a:p>
        </p:txBody>
      </p:sp>
      <p:sp>
        <p:nvSpPr>
          <p:cNvPr id="9" name="Footer Placeholder 2">
            <a:extLst>
              <a:ext uri="{FF2B5EF4-FFF2-40B4-BE49-F238E27FC236}">
                <a16:creationId xmlns:a16="http://schemas.microsoft.com/office/drawing/2014/main" id="{1402D201-2D46-4B75-B418-81130895392C}"/>
              </a:ext>
            </a:extLst>
          </p:cNvPr>
          <p:cNvSpPr>
            <a:spLocks noGrp="1"/>
          </p:cNvSpPr>
          <p:nvPr>
            <p:ph type="ftr" sz="quarter" idx="11"/>
          </p:nvPr>
        </p:nvSpPr>
        <p:spPr>
          <a:xfrm>
            <a:off x="4038598" y="6356349"/>
            <a:ext cx="4114800" cy="365124"/>
          </a:xfrm>
        </p:spPr>
        <p:txBody>
          <a:bodyPr/>
          <a:lstStyle/>
          <a:p>
            <a:pPr>
              <a:defRPr/>
            </a:pPr>
            <a:r>
              <a:rPr lang="sl-SI" dirty="0">
                <a:latin typeface="Roboto Condensed" panose="02000000000000000000" pitchFamily="2" charset="0"/>
                <a:ea typeface="Roboto Condensed" panose="02000000000000000000" pitchFamily="2" charset="0"/>
              </a:rPr>
              <a:t>SLAIF WP6 – AI </a:t>
            </a:r>
            <a:r>
              <a:rPr lang="sl-SI" dirty="0" err="1">
                <a:latin typeface="Roboto Condensed" panose="02000000000000000000" pitchFamily="2" charset="0"/>
                <a:ea typeface="Roboto Condensed" panose="02000000000000000000" pitchFamily="2" charset="0"/>
              </a:rPr>
              <a:t>Skills</a:t>
            </a:r>
            <a:r>
              <a:rPr lang="sl-SI" dirty="0">
                <a:latin typeface="Roboto Condensed" panose="02000000000000000000" pitchFamily="2" charset="0"/>
                <a:ea typeface="Roboto Condensed" panose="02000000000000000000" pitchFamily="2" charset="0"/>
              </a:rPr>
              <a:t> &amp; </a:t>
            </a:r>
            <a:r>
              <a:rPr lang="sl-SI" dirty="0" err="1">
                <a:latin typeface="Roboto Condensed" panose="02000000000000000000" pitchFamily="2" charset="0"/>
                <a:ea typeface="Roboto Condensed" panose="02000000000000000000" pitchFamily="2" charset="0"/>
              </a:rPr>
              <a:t>Training</a:t>
            </a:r>
            <a:endParaRPr lang="en-US" dirty="0">
              <a:latin typeface="Roboto Condensed" panose="02000000000000000000" pitchFamily="2" charset="0"/>
              <a:ea typeface="Roboto Condensed" panose="02000000000000000000" pitchFamily="2" charset="0"/>
            </a:endParaRPr>
          </a:p>
        </p:txBody>
      </p:sp>
      <p:sp>
        <p:nvSpPr>
          <p:cNvPr id="10" name="Slide Number Placeholder 3">
            <a:extLst>
              <a:ext uri="{FF2B5EF4-FFF2-40B4-BE49-F238E27FC236}">
                <a16:creationId xmlns:a16="http://schemas.microsoft.com/office/drawing/2014/main" id="{EF1CCE37-9AA5-4C96-A14A-C63ECCE324EA}"/>
              </a:ext>
            </a:extLst>
          </p:cNvPr>
          <p:cNvSpPr>
            <a:spLocks noGrp="1"/>
          </p:cNvSpPr>
          <p:nvPr>
            <p:ph type="sldNum" sz="quarter" idx="12"/>
          </p:nvPr>
        </p:nvSpPr>
        <p:spPr>
          <a:xfrm>
            <a:off x="8610599" y="6356349"/>
            <a:ext cx="2743200" cy="365124"/>
          </a:xfrm>
        </p:spPr>
        <p:txBody>
          <a:bodyPr/>
          <a:lstStyle/>
          <a:p>
            <a:pPr>
              <a:defRPr/>
            </a:pPr>
            <a:fld id="{0CE68F04-8C45-4A80-901C-428EAFDC5CAA}" type="slidenum">
              <a:rPr lang="en-US" smtClean="0">
                <a:latin typeface="Roboto Condensed" panose="02000000000000000000" pitchFamily="2" charset="0"/>
                <a:ea typeface="Roboto Condensed" panose="02000000000000000000" pitchFamily="2" charset="0"/>
              </a:rPr>
              <a:t>18</a:t>
            </a:fld>
            <a:endParaRPr lang="en-US">
              <a:latin typeface="Roboto Condensed" panose="02000000000000000000" pitchFamily="2" charset="0"/>
              <a:ea typeface="Roboto Condensed" panose="02000000000000000000" pitchFamily="2"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D34FF4-0175-4993-BB43-FDE3D98439D2}"/>
              </a:ext>
            </a:extLst>
          </p:cNvPr>
          <p:cNvSpPr>
            <a:spLocks noGrp="1"/>
          </p:cNvSpPr>
          <p:nvPr>
            <p:ph type="sldNum" sz="quarter" idx="12"/>
          </p:nvPr>
        </p:nvSpPr>
        <p:spPr/>
        <p:txBody>
          <a:bodyPr/>
          <a:lstStyle/>
          <a:p>
            <a:pPr>
              <a:defRPr/>
            </a:pPr>
            <a:fld id="{0CE68F04-8C45-4A80-901C-428EAFDC5CAA}" type="slidenum">
              <a:rPr lang="en-US" smtClean="0"/>
              <a:t>19</a:t>
            </a:fld>
            <a:endParaRPr lang="en-US"/>
          </a:p>
        </p:txBody>
      </p:sp>
      <p:grpSp>
        <p:nvGrpSpPr>
          <p:cNvPr id="5" name="Group 4">
            <a:extLst>
              <a:ext uri="{FF2B5EF4-FFF2-40B4-BE49-F238E27FC236}">
                <a16:creationId xmlns:a16="http://schemas.microsoft.com/office/drawing/2014/main" id="{C05FB921-91F6-4160-97E2-EDED2B987F0B}"/>
              </a:ext>
            </a:extLst>
          </p:cNvPr>
          <p:cNvGrpSpPr/>
          <p:nvPr/>
        </p:nvGrpSpPr>
        <p:grpSpPr>
          <a:xfrm>
            <a:off x="0" y="0"/>
            <a:ext cx="12192000" cy="6739793"/>
            <a:chOff x="0" y="0"/>
            <a:chExt cx="12192000" cy="6739793"/>
          </a:xfrm>
        </p:grpSpPr>
        <p:pic>
          <p:nvPicPr>
            <p:cNvPr id="6" name="Picture 2">
              <a:extLst>
                <a:ext uri="{FF2B5EF4-FFF2-40B4-BE49-F238E27FC236}">
                  <a16:creationId xmlns:a16="http://schemas.microsoft.com/office/drawing/2014/main" id="{8418E341-7AA4-4D77-AB59-8CC562947BDA}"/>
                </a:ext>
              </a:extLst>
            </p:cNvPr>
            <p:cNvPicPr>
              <a:picLocks noChangeAspect="1"/>
            </p:cNvPicPr>
            <p:nvPr/>
          </p:nvPicPr>
          <p:blipFill rotWithShape="1">
            <a:blip r:embed="rId2"/>
            <a:srcRect b="31814"/>
            <a:stretch>
              <a:fillRect/>
            </a:stretch>
          </p:blipFill>
          <p:spPr bwMode="auto">
            <a:xfrm>
              <a:off x="0" y="0"/>
              <a:ext cx="12192000" cy="4676172"/>
            </a:xfrm>
            <a:prstGeom prst="rect">
              <a:avLst/>
            </a:prstGeom>
          </p:spPr>
        </p:pic>
        <p:sp>
          <p:nvSpPr>
            <p:cNvPr id="7" name="TextBox 5">
              <a:extLst>
                <a:ext uri="{FF2B5EF4-FFF2-40B4-BE49-F238E27FC236}">
                  <a16:creationId xmlns:a16="http://schemas.microsoft.com/office/drawing/2014/main" id="{6B2DD2B4-40D1-4760-AB88-28715A5EA4A8}"/>
                </a:ext>
              </a:extLst>
            </p:cNvPr>
            <p:cNvSpPr txBox="1"/>
            <p:nvPr/>
          </p:nvSpPr>
          <p:spPr bwMode="auto">
            <a:xfrm>
              <a:off x="492457" y="1241229"/>
              <a:ext cx="6497654" cy="584775"/>
            </a:xfrm>
            <a:prstGeom prst="rect">
              <a:avLst/>
            </a:prstGeom>
            <a:noFill/>
          </p:spPr>
          <p:txBody>
            <a:bodyPr wrap="square" rtlCol="0">
              <a:spAutoFit/>
            </a:bodyPr>
            <a:lstStyle/>
            <a:p>
              <a:pPr>
                <a:defRPr/>
              </a:pPr>
              <a:r>
                <a:rPr lang="en-US" sz="3200" b="1" i="1" dirty="0">
                  <a:latin typeface="Roboto Black"/>
                </a:rPr>
                <a:t>Thank you for your attention!</a:t>
              </a:r>
              <a:endParaRPr lang="en-US" sz="1500" b="1" i="1" dirty="0">
                <a:latin typeface="Roboto Black"/>
              </a:endParaRPr>
            </a:p>
          </p:txBody>
        </p:sp>
        <p:sp>
          <p:nvSpPr>
            <p:cNvPr id="9" name=" 8">
              <a:extLst>
                <a:ext uri="{FF2B5EF4-FFF2-40B4-BE49-F238E27FC236}">
                  <a16:creationId xmlns:a16="http://schemas.microsoft.com/office/drawing/2014/main" id="{6FA15564-3A51-407A-9B48-F12E4CD8E3E1}"/>
                </a:ext>
              </a:extLst>
            </p:cNvPr>
            <p:cNvSpPr/>
            <p:nvPr/>
          </p:nvSpPr>
          <p:spPr bwMode="auto">
            <a:xfrm>
              <a:off x="538526" y="6465114"/>
              <a:ext cx="3555851" cy="27467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200" b="0" i="0" u="none">
                  <a:solidFill>
                    <a:schemeClr val="bg1"/>
                  </a:solidFill>
                  <a:latin typeface="Arial"/>
                  <a:ea typeface="Arial"/>
                  <a:cs typeface="Arial"/>
                </a:rPr>
                <a:t>© 2026 by SLAIF, licensed under CC BY-SA 4.0</a:t>
              </a:r>
              <a:endParaRPr sz="2000">
                <a:solidFill>
                  <a:schemeClr val="bg1"/>
                </a:solidFill>
              </a:endParaRPr>
            </a:p>
          </p:txBody>
        </p:sp>
        <p:pic>
          <p:nvPicPr>
            <p:cNvPr id="10" name="Graphic 9">
              <a:extLst>
                <a:ext uri="{FF2B5EF4-FFF2-40B4-BE49-F238E27FC236}">
                  <a16:creationId xmlns:a16="http://schemas.microsoft.com/office/drawing/2014/main" id="{A2882652-3490-4149-8476-FB84189EF4D3}"/>
                </a:ext>
              </a:extLst>
            </p:cNvPr>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3952398" y="6513352"/>
              <a:ext cx="154146" cy="154146"/>
            </a:xfrm>
            <a:prstGeom prst="rect">
              <a:avLst/>
            </a:prstGeom>
          </p:spPr>
        </p:pic>
        <p:pic>
          <p:nvPicPr>
            <p:cNvPr id="11" name="Graphic 10">
              <a:extLst>
                <a:ext uri="{FF2B5EF4-FFF2-40B4-BE49-F238E27FC236}">
                  <a16:creationId xmlns:a16="http://schemas.microsoft.com/office/drawing/2014/main" id="{C56581E3-6606-453D-A86D-73865BE7640F}"/>
                </a:ext>
              </a:extLst>
            </p:cNvPr>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4124822" y="6513352"/>
              <a:ext cx="154146" cy="154146"/>
            </a:xfrm>
            <a:prstGeom prst="rect">
              <a:avLst/>
            </a:prstGeom>
          </p:spPr>
        </p:pic>
        <p:pic>
          <p:nvPicPr>
            <p:cNvPr id="12" name="Graphic 11">
              <a:extLst>
                <a:ext uri="{FF2B5EF4-FFF2-40B4-BE49-F238E27FC236}">
                  <a16:creationId xmlns:a16="http://schemas.microsoft.com/office/drawing/2014/main" id="{BF38B140-DAA3-4733-A207-29678EEA317C}"/>
                </a:ext>
              </a:extLst>
            </p:cNvPr>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4301648" y="6513352"/>
              <a:ext cx="154146" cy="154146"/>
            </a:xfrm>
            <a:prstGeom prst="rect">
              <a:avLst/>
            </a:prstGeom>
          </p:spPr>
        </p:pic>
        <p:grpSp>
          <p:nvGrpSpPr>
            <p:cNvPr id="13" name="Group 12">
              <a:extLst>
                <a:ext uri="{FF2B5EF4-FFF2-40B4-BE49-F238E27FC236}">
                  <a16:creationId xmlns:a16="http://schemas.microsoft.com/office/drawing/2014/main" id="{4BE35831-E857-417B-A81A-F1789B8B98A3}"/>
                </a:ext>
              </a:extLst>
            </p:cNvPr>
            <p:cNvGrpSpPr/>
            <p:nvPr/>
          </p:nvGrpSpPr>
          <p:grpSpPr>
            <a:xfrm>
              <a:off x="467138" y="5129371"/>
              <a:ext cx="11396614" cy="954107"/>
              <a:chOff x="463314" y="4990473"/>
              <a:chExt cx="11396614" cy="954107"/>
            </a:xfrm>
          </p:grpSpPr>
          <p:sp>
            <p:nvSpPr>
              <p:cNvPr id="15" name="TextBox 14">
                <a:extLst>
                  <a:ext uri="{FF2B5EF4-FFF2-40B4-BE49-F238E27FC236}">
                    <a16:creationId xmlns:a16="http://schemas.microsoft.com/office/drawing/2014/main" id="{C25C8CFE-0D03-4772-ACF2-5A2678B6808A}"/>
                  </a:ext>
                </a:extLst>
              </p:cNvPr>
              <p:cNvSpPr txBox="1"/>
              <p:nvPr/>
            </p:nvSpPr>
            <p:spPr>
              <a:xfrm>
                <a:off x="6152946" y="4990473"/>
                <a:ext cx="5706982" cy="954107"/>
              </a:xfrm>
              <a:prstGeom prst="rect">
                <a:avLst/>
              </a:prstGeom>
              <a:noFill/>
            </p:spPr>
            <p:txBody>
              <a:bodyPr wrap="square" rtlCol="0">
                <a:spAutoFit/>
              </a:bodyPr>
              <a:lstStyle/>
              <a:p>
                <a:r>
                  <a:rPr lang="en-GB" sz="800" noProof="1">
                    <a:latin typeface="Roboto Medium" panose="02000000000000000000" pitchFamily="2" charset="0"/>
                    <a:ea typeface="Roboto Medium" panose="02000000000000000000" pitchFamily="2" charset="0"/>
                  </a:rPr>
                  <a:t>SLAIF: Slovenska tovarna umetne inteligence je prejela financiranje Skupnega podjetja za evropsko visokozmogljivo računalništvo v okviru sporazuma o nepovratnih sredstvih št. 101254461. Projekt financirata Ministrstvo za visoko šolstvo, znanost in inovacije Republike Slovenije ter program Horizon Europe Evropske unije. </a:t>
                </a:r>
                <a:br>
                  <a:rPr lang="en-GB" sz="800" noProof="1">
                    <a:latin typeface="Roboto Medium" panose="02000000000000000000" pitchFamily="2" charset="0"/>
                    <a:ea typeface="Roboto Medium" panose="02000000000000000000" pitchFamily="2" charset="0"/>
                  </a:rPr>
                </a:br>
                <a:br>
                  <a:rPr lang="en-GB" sz="800" noProof="1">
                    <a:latin typeface="Roboto Medium" panose="02000000000000000000" pitchFamily="2" charset="0"/>
                    <a:ea typeface="Roboto Medium" panose="02000000000000000000" pitchFamily="2" charset="0"/>
                  </a:rPr>
                </a:br>
                <a:r>
                  <a:rPr lang="en-GB" sz="800" noProof="1">
                    <a:latin typeface="Roboto Medium" panose="02000000000000000000" pitchFamily="2" charset="0"/>
                    <a:ea typeface="Roboto Medium" panose="02000000000000000000" pitchFamily="2" charset="0"/>
                  </a:rPr>
                  <a:t>SLAIF: Slovenian AI Factory has received funding by the European High Performance Computing Joint Undertaking under the grant agreement no. 101254461. The project is funded by the Ministry of Higher Education, Science and Innovation of Republic of Slovenia and by Horizon Europe Programme of the European Union. </a:t>
                </a:r>
              </a:p>
            </p:txBody>
          </p:sp>
          <p:pic>
            <p:nvPicPr>
              <p:cNvPr id="16" name="Image3">
                <a:extLst>
                  <a:ext uri="{FF2B5EF4-FFF2-40B4-BE49-F238E27FC236}">
                    <a16:creationId xmlns:a16="http://schemas.microsoft.com/office/drawing/2014/main" id="{604721C7-7C69-4800-B0C0-3D9187D8C75D}"/>
                  </a:ext>
                </a:extLst>
              </p:cNvPr>
              <p:cNvPicPr>
                <a:picLocks noChangeAspect="1"/>
              </p:cNvPicPr>
              <p:nvPr/>
            </p:nvPicPr>
            <p:blipFill>
              <a:blip r:embed="rId9"/>
              <a:stretch/>
            </p:blipFill>
            <p:spPr bwMode="auto">
              <a:xfrm>
                <a:off x="463314" y="5277346"/>
                <a:ext cx="1711866" cy="359250"/>
              </a:xfrm>
              <a:prstGeom prst="rect">
                <a:avLst/>
              </a:prstGeom>
            </p:spPr>
          </p:pic>
          <p:pic>
            <p:nvPicPr>
              <p:cNvPr id="17" name="Image5">
                <a:extLst>
                  <a:ext uri="{FF2B5EF4-FFF2-40B4-BE49-F238E27FC236}">
                    <a16:creationId xmlns:a16="http://schemas.microsoft.com/office/drawing/2014/main" id="{40AB2B29-4B33-48A8-9495-4E37CFFB4E9D}"/>
                  </a:ext>
                </a:extLst>
              </p:cNvPr>
              <p:cNvPicPr>
                <a:picLocks noChangeAspect="1"/>
              </p:cNvPicPr>
              <p:nvPr/>
            </p:nvPicPr>
            <p:blipFill>
              <a:blip r:embed="rId10"/>
              <a:stretch/>
            </p:blipFill>
            <p:spPr bwMode="auto">
              <a:xfrm>
                <a:off x="2267988" y="5234410"/>
                <a:ext cx="1495326" cy="407027"/>
              </a:xfrm>
              <a:prstGeom prst="rect">
                <a:avLst/>
              </a:prstGeom>
            </p:spPr>
          </p:pic>
          <p:pic>
            <p:nvPicPr>
              <p:cNvPr id="18" name="Image6">
                <a:extLst>
                  <a:ext uri="{FF2B5EF4-FFF2-40B4-BE49-F238E27FC236}">
                    <a16:creationId xmlns:a16="http://schemas.microsoft.com/office/drawing/2014/main" id="{09FB87C8-E70A-4A79-9EBA-667A883677F4}"/>
                  </a:ext>
                </a:extLst>
              </p:cNvPr>
              <p:cNvPicPr>
                <a:picLocks noChangeAspect="1"/>
              </p:cNvPicPr>
              <p:nvPr/>
            </p:nvPicPr>
            <p:blipFill>
              <a:blip r:embed="rId11"/>
              <a:stretch/>
            </p:blipFill>
            <p:spPr bwMode="auto">
              <a:xfrm>
                <a:off x="3981567" y="5278055"/>
                <a:ext cx="1975569" cy="353047"/>
              </a:xfrm>
              <a:prstGeom prst="rect">
                <a:avLst/>
              </a:prstGeom>
            </p:spPr>
          </p:pic>
        </p:grpSp>
        <p:cxnSp>
          <p:nvCxnSpPr>
            <p:cNvPr id="14" name="Straight Connector 13">
              <a:extLst>
                <a:ext uri="{FF2B5EF4-FFF2-40B4-BE49-F238E27FC236}">
                  <a16:creationId xmlns:a16="http://schemas.microsoft.com/office/drawing/2014/main" id="{AABDFD0D-C988-4A8C-8F37-28CEE606C72D}"/>
                </a:ext>
              </a:extLst>
            </p:cNvPr>
            <p:cNvCxnSpPr/>
            <p:nvPr/>
          </p:nvCxnSpPr>
          <p:spPr>
            <a:xfrm>
              <a:off x="6103714" y="5069713"/>
              <a:ext cx="0" cy="1097280"/>
            </a:xfrm>
            <a:prstGeom prst="line">
              <a:avLst/>
            </a:prstGeom>
            <a:ln w="25400">
              <a:solidFill>
                <a:schemeClr val="tx1">
                  <a:lumMod val="60000"/>
                  <a:lumOff val="40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419968994"/>
      </p:ext>
    </p:extLst>
  </p:cSld>
  <p:clrMapOvr>
    <a:masterClrMapping/>
  </p:clrMapOvr>
</p:sld>
</file>

<file path=ppt/theme/theme1.xml><?xml version="1.0" encoding="utf-8"?>
<a:theme xmlns:a="http://schemas.openxmlformats.org/drawingml/2006/main" name="Office Theme">
  <a:themeElements>
    <a:clrScheme name="SLAIF colours">
      <a:dk1>
        <a:srgbClr val="919395"/>
      </a:dk1>
      <a:lt1>
        <a:sysClr val="window" lastClr="FFFFFF"/>
      </a:lt1>
      <a:dk2>
        <a:srgbClr val="2591B2"/>
      </a:dk2>
      <a:lt2>
        <a:srgbClr val="E7E6E6"/>
      </a:lt2>
      <a:accent1>
        <a:srgbClr val="87A73E"/>
      </a:accent1>
      <a:accent2>
        <a:srgbClr val="9DBCD0"/>
      </a:accent2>
      <a:accent3>
        <a:srgbClr val="A5A5A5"/>
      </a:accent3>
      <a:accent4>
        <a:srgbClr val="A8C538"/>
      </a:accent4>
      <a:accent5>
        <a:srgbClr val="9DBCD0"/>
      </a:accent5>
      <a:accent6>
        <a:srgbClr val="87A73E"/>
      </a:accent6>
      <a:hlink>
        <a:srgbClr val="9DBCD0"/>
      </a:hlink>
      <a:folHlink>
        <a:srgbClr val="C490AA"/>
      </a:folHlink>
    </a:clrScheme>
    <a:fontScheme name="SLAIF fonti">
      <a:majorFont>
        <a:latin typeface="Roboto Black"/>
        <a:ea typeface="Arial"/>
        <a:cs typeface="Arial"/>
      </a:majorFont>
      <a:minorFont>
        <a:latin typeface="Roboto Condensed"/>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Office Theme">
  <a:themeElements>
    <a:clrScheme name="SLAIF colours">
      <a:dk1>
        <a:srgbClr val="919395"/>
      </a:dk1>
      <a:lt1>
        <a:sysClr val="window" lastClr="FFFFFF"/>
      </a:lt1>
      <a:dk2>
        <a:srgbClr val="2591B2"/>
      </a:dk2>
      <a:lt2>
        <a:srgbClr val="E7E6E6"/>
      </a:lt2>
      <a:accent1>
        <a:srgbClr val="87A73E"/>
      </a:accent1>
      <a:accent2>
        <a:srgbClr val="9DBCD0"/>
      </a:accent2>
      <a:accent3>
        <a:srgbClr val="A5A5A5"/>
      </a:accent3>
      <a:accent4>
        <a:srgbClr val="A8C538"/>
      </a:accent4>
      <a:accent5>
        <a:srgbClr val="9DBCD0"/>
      </a:accent5>
      <a:accent6>
        <a:srgbClr val="87A73E"/>
      </a:accent6>
      <a:hlink>
        <a:srgbClr val="9DBCD0"/>
      </a:hlink>
      <a:folHlink>
        <a:srgbClr val="C490AA"/>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510</TotalTime>
  <Words>2711</Words>
  <Application>Microsoft Office PowerPoint</Application>
  <PresentationFormat>Widescreen</PresentationFormat>
  <Paragraphs>393</Paragraphs>
  <Slides>19</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Calibri</vt:lpstr>
      <vt:lpstr>Calibri Light</vt:lpstr>
      <vt:lpstr>Roboto</vt:lpstr>
      <vt:lpstr>Roboto Black</vt:lpstr>
      <vt:lpstr>Roboto Condensed</vt:lpstr>
      <vt:lpstr>Roboto Medium</vt:lpstr>
      <vt:lpstr>Office Theme</vt:lpstr>
      <vt:lpstr>1_Office Theme</vt:lpstr>
      <vt:lpstr>WP6 — AI Skills &amp; Training</vt:lpstr>
      <vt:lpstr>Why WP6 matters for SLAIF</vt:lpstr>
      <vt:lpstr>PowerPoint Presentation</vt:lpstr>
      <vt:lpstr>PowerPoint Presentation</vt:lpstr>
      <vt:lpstr>Part II What we delivered in Months 1–7 Foundations, a training catalogue, a working infrastructure, and first industry contacts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 III Where we go next Roadmap to M12 and KPI trajectory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Lenka</dc:creator>
  <cp:lastModifiedBy>Sašo Džeroski</cp:lastModifiedBy>
  <cp:revision>94</cp:revision>
  <dcterms:created xsi:type="dcterms:W3CDTF">2026-02-04T11:11:52Z</dcterms:created>
  <dcterms:modified xsi:type="dcterms:W3CDTF">2026-04-22T08:00:06Z</dcterms:modified>
</cp:coreProperties>
</file>